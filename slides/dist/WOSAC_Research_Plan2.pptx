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9A2A"/>
    <a:srgbClr val="7F7BF5"/>
    <a:srgbClr val="5007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5473" autoAdjust="0"/>
  </p:normalViewPr>
  <p:slideViewPr>
    <p:cSldViewPr snapToGrid="0" snapToObjects="1">
      <p:cViewPr varScale="1">
        <p:scale>
          <a:sx n="100" d="100"/>
          <a:sy n="100" d="100"/>
        </p:scale>
        <p:origin x="352"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9877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 want to discuss the Waymo Open Sim Agents Challenge. My goal is not to chase a leaderboard ranking, but to use WOSAC as a standardised benchmark for studying simulation, behaviour modelling and multi-agent interaction in autonomous driving, and to find a focused sim-agent design problem worth optimising.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chose this task because it systematically trains the core capabilities of autonomous driving — prediction, simulation, multi-agent interaction, behaviour modelling, planning evaluation. The aim is not a high leaderboard rank, but to identify a clear modelling problem in this benchmark and improve it in a focused way.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dirty="0">
                <a:solidFill>
                  <a:srgbClr val="1A1A1A"/>
                </a:solidFill>
                <a:latin typeface="Calibri" pitchFamily="34" charset="0"/>
                <a:ea typeface="Calibri" pitchFamily="34" charset="-122"/>
                <a:cs typeface="Calibri" pitchFamily="34" charset="-120"/>
              </a:rPr>
              <a:t>Reproducible pipeline: </a:t>
            </a:r>
            <a:r>
              <a:rPr lang="zh-CN" altLang="en-US" sz="1200" kern="1200" dirty="0">
                <a:solidFill>
                  <a:schemeClr val="tx1"/>
                </a:solidFill>
                <a:effectLst/>
                <a:latin typeface="+mn-lt"/>
                <a:ea typeface="+mn-ea"/>
                <a:cs typeface="+mn-cs"/>
              </a:rPr>
              <a:t>可复现的流程</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Autonomous-driving systems are hard to evaluate by real-world driving alone — the cost is high, the risk is high, and many edge cases rarely appear. Simulation is therefore essential, but only if the surrounding vehicles, pedestrians and cyclists behave realistically. If they do not, the evaluation of planning and behaviour models is unreliable.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plain terms, this task is to train a traffic-world simulator. Given roughly 1 second of real-road history — positions, speeds, pedestrians, cyclists, the road map, traffic lights — the model must generate how the next 8 seconds of the entire scene evolve. Crucially, it does not generate a single future, but 32 possible futures, because the real world is not deterministic. The animation on the right is exactly what a rollout looks like: each box is one simulated agent updating its position and heading every step.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point I want to align on with you: I am not framing this project as 'compete in a challenge'. It already provides data, simulator, submission format and evaluation. So I want to use it as a research platform: pick one specific weakness — closed-loop stability, interaction realism, map adherence — and design a better sim agent around that single point.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benefit of this benchmark is that it is bounded. Data comes from the Waymo Open Motion Dataset; simulation and evaluation can be done in Waymax; the submission is a set of trajectory rollouts, not model code. So it is effectively a standardised experimental environment. The 2025 challenge also requires a specific factorisation: given the previous joint state, the ADV's next state and the world's next state must be conditionally independent — the ego cannot 'peek' at the world's next-step output within the same step. The figure on the right is Waymo's visualisation of that constraint.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ADV</a:t>
            </a:r>
            <a:r>
              <a:rPr lang="zh-CN" altLang="en-US" sz="1200" kern="1200" dirty="0">
                <a:solidFill>
                  <a:schemeClr val="tx1"/>
                </a:solidFill>
                <a:effectLst/>
                <a:latin typeface="+mn-lt"/>
                <a:ea typeface="+mn-ea"/>
                <a:cs typeface="+mn-cs"/>
              </a:rPr>
              <a:t>（自动驾驶车辆）图就是说自动驾驶车辆和真实世界不断互相影响交互</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standard trajectory prediction. The model produces 32 futures, those form a simulated behaviour distribution, and the score asks how well that distribution matches the real-driving distribution. So these metrics also work as diagnostics: they tell me which aspect of the rollout is unrealistic. The 2025 version updated several metrics — capsule-shape collisions, a new traffic-light violation metric, a TTC filter and smoother kinematic estimation — so older bas</a:t>
            </a:r>
          </a:p>
          <a:p>
            <a:r>
              <a:rPr lang="en-US" dirty="0" err="1"/>
              <a:t>eline</a:t>
            </a:r>
            <a:r>
              <a:rPr lang="en-US" dirty="0"/>
              <a:t> numbers are not directly comparable.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rgbClr val="500778"/>
                </a:solidFill>
                <a:latin typeface="Calibri" pitchFamily="34" charset="0"/>
                <a:ea typeface="Calibri" pitchFamily="34" charset="-122"/>
                <a:cs typeface="Calibri" pitchFamily="34" charset="-120"/>
              </a:rPr>
              <a:t>Motion realism (kinematic) </a:t>
            </a:r>
            <a:r>
              <a:rPr lang="zh-CN" altLang="en-US" sz="1200" kern="1200" dirty="0">
                <a:solidFill>
                  <a:schemeClr val="tx1"/>
                </a:solidFill>
                <a:effectLst/>
                <a:latin typeface="+mn-lt"/>
                <a:ea typeface="+mn-ea"/>
                <a:cs typeface="+mn-cs"/>
              </a:rPr>
              <a:t>运动真实性（运动学）</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rgbClr val="1A1A1A"/>
                </a:solidFill>
                <a:latin typeface="Calibri" pitchFamily="34" charset="0"/>
                <a:ea typeface="Calibri" pitchFamily="34" charset="-122"/>
                <a:cs typeface="Calibri" pitchFamily="34" charset="-120"/>
              </a:rPr>
              <a:t>collision (capsule shape) </a:t>
            </a:r>
            <a:r>
              <a:rPr lang="zh-CN" altLang="en-US" sz="1200" kern="1200" dirty="0">
                <a:solidFill>
                  <a:schemeClr val="tx1"/>
                </a:solidFill>
                <a:effectLst/>
                <a:latin typeface="+mn-lt"/>
                <a:ea typeface="+mn-ea"/>
                <a:cs typeface="+mn-cs"/>
              </a:rPr>
              <a:t>碰撞情况（使用胶囊体形状）</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rgbClr val="500778"/>
                </a:solidFill>
                <a:latin typeface="Calibri" pitchFamily="34" charset="0"/>
                <a:ea typeface="Calibri" pitchFamily="34" charset="-122"/>
                <a:cs typeface="Calibri" pitchFamily="34" charset="-120"/>
              </a:rPr>
              <a:t>Map adherence</a:t>
            </a:r>
            <a:r>
              <a:rPr lang="zh-CN" altLang="en-US" sz="1200" kern="1200" dirty="0">
                <a:solidFill>
                  <a:schemeClr val="tx1"/>
                </a:solidFill>
                <a:effectLst/>
                <a:latin typeface="+mn-lt"/>
                <a:ea typeface="+mn-ea"/>
                <a:cs typeface="+mn-cs"/>
              </a:rPr>
              <a:t> 地图遵循性 </a:t>
            </a:r>
          </a:p>
          <a:p>
            <a:pPr marL="0" indent="0">
              <a:buNone/>
            </a:pPr>
            <a:r>
              <a:rPr lang="en-US" altLang="zh-CN" b="1" i="1" dirty="0">
                <a:solidFill>
                  <a:srgbClr val="500778"/>
                </a:solidFill>
                <a:latin typeface="Calibri" pitchFamily="34" charset="0"/>
                <a:ea typeface="Calibri" pitchFamily="34" charset="-122"/>
                <a:cs typeface="Calibri" pitchFamily="34" charset="-120"/>
              </a:rPr>
              <a:t>per-feature negative log-likelihood        →       weighted-mean meta-metric           →           higher = more realistic</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kern="1200" dirty="0">
                <a:solidFill>
                  <a:schemeClr val="tx1"/>
                </a:solidFill>
                <a:effectLst/>
                <a:latin typeface="+mn-lt"/>
                <a:ea typeface="+mn-ea"/>
                <a:cs typeface="+mn-cs"/>
              </a:rPr>
              <a:t>每个特征的负对数似然</a:t>
            </a:r>
            <a:r>
              <a:rPr lang="zh-CN" altLang="en-US" sz="1200" kern="1200" dirty="0">
                <a:solidFill>
                  <a:schemeClr val="tx1"/>
                </a:solidFill>
                <a:effectLst/>
                <a:latin typeface="+mn-lt"/>
                <a:ea typeface="+mn-ea"/>
                <a:cs typeface="+mn-cs"/>
              </a:rPr>
              <a:t>→ </a:t>
            </a:r>
            <a:r>
              <a:rPr lang="zh-CN" altLang="en-US" sz="1200" b="1" kern="1200" dirty="0">
                <a:solidFill>
                  <a:schemeClr val="tx1"/>
                </a:solidFill>
                <a:effectLst/>
                <a:latin typeface="+mn-lt"/>
                <a:ea typeface="+mn-ea"/>
                <a:cs typeface="+mn-cs"/>
              </a:rPr>
              <a:t>加权平均后的综合指标（</a:t>
            </a:r>
            <a:r>
              <a:rPr lang="en-US" altLang="zh-CN" sz="1200" b="1" kern="1200" dirty="0">
                <a:solidFill>
                  <a:schemeClr val="tx1"/>
                </a:solidFill>
                <a:effectLst/>
                <a:latin typeface="+mn-lt"/>
                <a:ea typeface="+mn-ea"/>
                <a:cs typeface="+mn-cs"/>
              </a:rPr>
              <a:t>meta-metric</a:t>
            </a:r>
            <a:r>
              <a:rPr lang="zh-CN" altLang="en-US" sz="1200" b="1"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 </a:t>
            </a:r>
            <a:r>
              <a:rPr lang="zh-CN" altLang="en-US" sz="1200" b="1" kern="1200" dirty="0">
                <a:solidFill>
                  <a:schemeClr val="tx1"/>
                </a:solidFill>
                <a:effectLst/>
                <a:latin typeface="+mn-lt"/>
                <a:ea typeface="+mn-ea"/>
                <a:cs typeface="+mn-cs"/>
              </a:rPr>
              <a:t>分数越高，表示越真实</a:t>
            </a:r>
            <a:endParaRPr lang="zh-CN" altLang="en-US" sz="1200" kern="1200" dirty="0">
              <a:solidFill>
                <a:schemeClr val="tx1"/>
              </a:solidFill>
              <a:effectLst/>
              <a:latin typeface="+mn-lt"/>
              <a:ea typeface="+mn-ea"/>
              <a:cs typeface="+mn-cs"/>
            </a:endParaRPr>
          </a:p>
          <a:p>
            <a:pPr marL="0" indent="0">
              <a:buNone/>
            </a:pPr>
            <a:endParaRPr lang="en-US" altLang="zh-CN" b="1" i="1" dirty="0">
              <a:solidFill>
                <a:srgbClr val="500778"/>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not want to start with one big complex model. The more reasonable path is to run the benchmark, diagnose where baselines fail, then pick the most worthwhile direction — closed-loop stability, interaction realism, map adherence or multimodal generation — so the project's contribution is sharp.</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候选优化点</a:t>
            </a:r>
            <a:endParaRPr lang="en-US" altLang="zh-CN" sz="1200" i="1" dirty="0">
              <a:solidFill>
                <a:srgbClr val="6B6B6B"/>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i="1" dirty="0">
                <a:solidFill>
                  <a:srgbClr val="6B6B6B"/>
                </a:solidFill>
                <a:latin typeface="Calibri" pitchFamily="34" charset="0"/>
                <a:ea typeface="Calibri" pitchFamily="34" charset="-122"/>
                <a:cs typeface="Calibri" pitchFamily="34" charset="-120"/>
              </a:rPr>
              <a:t>Four directions where baseline sim agents typically fail — the project should pick one.</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基线仿真智能体通常会失败的四个方向</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项目应该从中选择一个重点突破。</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rgbClr val="500778"/>
                </a:solidFill>
                <a:latin typeface="Calibri" pitchFamily="34" charset="0"/>
                <a:ea typeface="Calibri" pitchFamily="34" charset="-122"/>
                <a:cs typeface="Calibri" pitchFamily="34" charset="-120"/>
              </a:rPr>
              <a:t>Closed-loop stability</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闭环稳定性</a:t>
            </a:r>
            <a:endParaRPr lang="en-US" altLang="zh-CN" sz="1200"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Multimodal generation</a:t>
            </a:r>
          </a:p>
          <a:p>
            <a:r>
              <a:rPr lang="zh-CN" altLang="en-US" sz="1200" b="1" kern="1200" dirty="0">
                <a:solidFill>
                  <a:schemeClr val="tx1"/>
                </a:solidFill>
                <a:effectLst/>
                <a:latin typeface="+mn-lt"/>
                <a:ea typeface="+mn-ea"/>
                <a:cs typeface="+mn-cs"/>
              </a:rPr>
              <a:t>多模态生成</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lean towards starting on closed-loop stability and interaction realism, because the essence of a sim agent is not whether the next step is accurate, but whether 80-step rollouts stay stable, plausible, non-colliding, on-road, and socially realistic between agents.</a:t>
            </a:r>
          </a:p>
          <a:p>
            <a:r>
              <a:rPr lang="en-US" altLang="zh-CN" b="1" dirty="0"/>
              <a:t>Adversarial Agents </a:t>
            </a:r>
          </a:p>
          <a:p>
            <a:r>
              <a:rPr lang="zh-CN" altLang="en-US" b="1" dirty="0"/>
              <a:t>多智能体博弈</a:t>
            </a:r>
            <a:endParaRPr lang="en-US" altLang="zh-CN" sz="1200" b="1" dirty="0"/>
          </a:p>
          <a:p>
            <a:r>
              <a:rPr lang="en-US" altLang="zh-CN" sz="1200" b="1" dirty="0"/>
              <a:t>Latent Variable Modeling</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潜在变量建模</a:t>
            </a:r>
            <a:endParaRPr lang="en-US" altLang="zh-CN" sz="1200" b="1" kern="1200" dirty="0">
              <a:solidFill>
                <a:schemeClr val="tx1"/>
              </a:solidFill>
              <a:effectLst/>
              <a:latin typeface="+mn-lt"/>
              <a:ea typeface="+mn-ea"/>
              <a:cs typeface="+mn-cs"/>
            </a:endParaRPr>
          </a:p>
          <a:p>
            <a:r>
              <a:rPr lang="en-US" altLang="zh-CN" b="1" dirty="0"/>
              <a:t>Hidden Markov Models (</a:t>
            </a:r>
            <a:r>
              <a:rPr lang="zh-CN" altLang="en-US" b="1" dirty="0"/>
              <a:t>隐马尔可夫模型</a:t>
            </a:r>
            <a:r>
              <a:rPr lang="en-US" altLang="zh-CN" b="1" dirty="0"/>
              <a:t>)" </a:t>
            </a:r>
            <a:r>
              <a:rPr lang="zh-CN" altLang="en-US" b="1" dirty="0"/>
              <a:t>和 </a:t>
            </a:r>
            <a:r>
              <a:rPr lang="en-US" altLang="zh-CN" b="1" dirty="0"/>
              <a:t>"Probabilistic Modelling (</a:t>
            </a:r>
            <a:r>
              <a:rPr lang="zh-CN" altLang="en-US" b="1" dirty="0"/>
              <a:t>概率建模</a:t>
            </a:r>
            <a:r>
              <a:rPr lang="en-US" altLang="zh-CN" b="1" dirty="0"/>
              <a:t>)“</a:t>
            </a:r>
          </a:p>
          <a:p>
            <a:r>
              <a:rPr lang="en-US" altLang="zh-CN" sz="1200" b="1" kern="1200" dirty="0">
                <a:solidFill>
                  <a:schemeClr val="tx1"/>
                </a:solidFill>
                <a:effectLst/>
                <a:latin typeface="+mn-lt"/>
                <a:ea typeface="+mn-ea"/>
                <a:cs typeface="+mn-cs"/>
              </a:rPr>
              <a:t>Loss terms: collision · off-road · smoothness</a:t>
            </a:r>
          </a:p>
          <a:p>
            <a:r>
              <a:rPr lang="zh-CN" altLang="en-US" sz="1200" b="1" kern="1200" dirty="0">
                <a:solidFill>
                  <a:schemeClr val="tx1"/>
                </a:solidFill>
                <a:effectLst/>
                <a:latin typeface="+mn-lt"/>
                <a:ea typeface="+mn-ea"/>
                <a:cs typeface="+mn-cs"/>
              </a:rPr>
              <a:t>损失函数中加入：碰撞 </a:t>
            </a:r>
            <a:r>
              <a:rPr lang="en-US" altLang="zh-CN" sz="1200" b="1" kern="1200" dirty="0">
                <a:solidFill>
                  <a:schemeClr val="tx1"/>
                </a:solidFill>
                <a:effectLst/>
                <a:latin typeface="+mn-lt"/>
                <a:ea typeface="+mn-ea"/>
                <a:cs typeface="+mn-cs"/>
              </a:rPr>
              <a:t>/ </a:t>
            </a:r>
            <a:r>
              <a:rPr lang="zh-CN" altLang="en-US" sz="1200" b="1" kern="1200" dirty="0">
                <a:solidFill>
                  <a:schemeClr val="tx1"/>
                </a:solidFill>
                <a:effectLst/>
                <a:latin typeface="+mn-lt"/>
                <a:ea typeface="+mn-ea"/>
                <a:cs typeface="+mn-cs"/>
              </a:rPr>
              <a:t>离路 </a:t>
            </a:r>
            <a:r>
              <a:rPr lang="en-US" altLang="zh-CN" sz="1200" b="1" kern="1200" dirty="0">
                <a:solidFill>
                  <a:schemeClr val="tx1"/>
                </a:solidFill>
                <a:effectLst/>
                <a:latin typeface="+mn-lt"/>
                <a:ea typeface="+mn-ea"/>
                <a:cs typeface="+mn-cs"/>
              </a:rPr>
              <a:t>/ </a:t>
            </a:r>
            <a:r>
              <a:rPr lang="zh-CN" altLang="en-US" sz="1200" b="1" kern="1200" dirty="0">
                <a:solidFill>
                  <a:schemeClr val="tx1"/>
                </a:solidFill>
                <a:effectLst/>
                <a:latin typeface="+mn-lt"/>
                <a:ea typeface="+mn-ea"/>
                <a:cs typeface="+mn-cs"/>
              </a:rPr>
              <a:t>平滑性</a:t>
            </a:r>
            <a:endParaRPr lang="zh-CN" altLang="en-US"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a:t>
            </a:r>
            <a:r>
              <a:rPr lang="en-US" altLang="zh-CN" sz="1200" b="1" kern="1200" dirty="0">
                <a:solidFill>
                  <a:schemeClr val="tx1"/>
                </a:solidFill>
                <a:effectLst/>
                <a:latin typeface="+mn-lt"/>
                <a:ea typeface="+mn-ea"/>
                <a:cs typeface="+mn-cs"/>
              </a:rPr>
              <a:t>123</a:t>
            </a:r>
            <a:r>
              <a:rPr lang="zh-CN" altLang="en-US" sz="1200" b="1" kern="1200" dirty="0">
                <a:solidFill>
                  <a:schemeClr val="tx1"/>
                </a:solidFill>
                <a:effectLst/>
                <a:latin typeface="+mn-lt"/>
                <a:ea typeface="+mn-ea"/>
                <a:cs typeface="+mn-cs"/>
              </a:rPr>
              <a:t>都是工作实习要求的能力</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not want to jump straight to a complex model. A safer route is to understand the data and metrics, reproduce the Waymax pipeline, then use simple baselines to expose where the failures are — off-road? collisions? unstable rollouts? Once those are clear, pick one specific direction for the model design.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1A has two steps. Step 1 is to understand the data and the task format. WOMD v1.2.0 scenarios are 9.1 seconds at 10 Hz — about 1.1 s history plus 8 s future, which is 80 simulation steps. Each scenario has up to 128 agents with one ADV. The goal here is not to train, just to read and visualise one scenario. Step 2 is to run the official Waymax tutorial end-to-end with a baseline agent like constant-velocity, and produce a legal SimAgentsChallengeSubmission. Score does not matter yet — pipeline correctness does.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I currently am. Step 1 is done — I can read a Waymo scenario, parse it, and extract the 44-dim feature vector for any agent. Step 2 is running end-to-end on the first validation shard: 286 scenarios, 32 rollouts of 80 steps each, all packaged into a legal submission proto. The constant-velocity baseline scores about 0.29 on the meta-metric, which matches the 0.287 published in the WOSAC paper for the same baseline. So both the simulation pipeline and the metric implementation are verified. The image on the right is one scenario's 32 simulated futures overlaid on the road. Phase 1B (Steps 3 and 4) is the next meeting — that's where I bring in three baselines and the first learned model.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1B has two steps. Step 3 is to run three simple baselines: log replay (copies the real future, valid only on training/validation), constant velocity, and a simple interaction rule that keeps lane and brakes on lead vehicles. The point is not to win — it is to read the WOSAC metric: which failure modes does each baseline trigger? Step 4 is the first learned model: take a trajectory-prediction model, give it past 1 s agent states, vector map features, agent type, relative positions and traffic-light state, and predict next-step Δx, Δy, Δheading. Train autoregressively; at rollout time loop 80 steps, predicting ADV and world states separately to honour the WOSAC conditional-independence </a:t>
            </a:r>
            <a:r>
              <a:rPr lang="en-US" dirty="0" err="1"/>
              <a:t>factorisation</a:t>
            </a:r>
            <a:r>
              <a:rPr lang="en-US" dirty="0"/>
              <a:t>.</a:t>
            </a:r>
          </a:p>
          <a:p>
            <a:r>
              <a:rPr lang="zh-CN" altLang="en-US" sz="1200" b="1" kern="1200" dirty="0">
                <a:solidFill>
                  <a:schemeClr val="tx1"/>
                </a:solidFill>
                <a:effectLst/>
                <a:latin typeface="+mn-lt"/>
                <a:ea typeface="+mn-ea"/>
                <a:cs typeface="+mn-cs"/>
              </a:rPr>
              <a:t>第一步</a:t>
            </a:r>
          </a:p>
          <a:p>
            <a:r>
              <a:rPr lang="zh-CN" altLang="en-US" sz="1200" kern="1200" dirty="0">
                <a:solidFill>
                  <a:schemeClr val="tx1"/>
                </a:solidFill>
                <a:effectLst/>
                <a:latin typeface="+mn-lt"/>
                <a:ea typeface="+mn-ea"/>
                <a:cs typeface="+mn-cs"/>
              </a:rPr>
              <a:t>先做简单 </a:t>
            </a:r>
            <a:r>
              <a:rPr lang="en-US" altLang="zh-CN" sz="1200" kern="1200" dirty="0">
                <a:solidFill>
                  <a:schemeClr val="tx1"/>
                </a:solidFill>
                <a:effectLst/>
                <a:latin typeface="+mn-lt"/>
                <a:ea typeface="+mn-ea"/>
                <a:cs typeface="+mn-cs"/>
              </a:rPr>
              <a:t>baseline</a:t>
            </a:r>
            <a:r>
              <a:rPr lang="zh-CN" altLang="en-US" sz="1200" kern="1200" dirty="0">
                <a:solidFill>
                  <a:schemeClr val="tx1"/>
                </a:solidFill>
                <a:effectLst/>
                <a:latin typeface="+mn-lt"/>
                <a:ea typeface="+mn-ea"/>
                <a:cs typeface="+mn-cs"/>
              </a:rPr>
              <a:t>，不是为了拿高分，</a:t>
            </a:r>
            <a:br>
              <a:rPr lang="zh-CN" altLang="en-US" sz="1200" kern="1200" dirty="0">
                <a:solidFill>
                  <a:schemeClr val="tx1"/>
                </a:solidFill>
                <a:effectLst/>
                <a:latin typeface="+mn-lt"/>
                <a:ea typeface="+mn-ea"/>
                <a:cs typeface="+mn-cs"/>
              </a:rPr>
            </a:br>
            <a:r>
              <a:rPr lang="zh-CN" altLang="en-US" sz="1200" kern="1200" dirty="0">
                <a:solidFill>
                  <a:schemeClr val="tx1"/>
                </a:solidFill>
                <a:effectLst/>
                <a:latin typeface="+mn-lt"/>
                <a:ea typeface="+mn-ea"/>
                <a:cs typeface="+mn-cs"/>
              </a:rPr>
              <a:t>而是为了：</a:t>
            </a:r>
          </a:p>
          <a:p>
            <a:r>
              <a:rPr lang="zh-CN" altLang="en-US" sz="1200" kern="1200" dirty="0">
                <a:solidFill>
                  <a:schemeClr val="tx1"/>
                </a:solidFill>
                <a:effectLst/>
                <a:latin typeface="+mn-lt"/>
                <a:ea typeface="+mn-ea"/>
                <a:cs typeface="+mn-cs"/>
              </a:rPr>
              <a:t>验证流程</a:t>
            </a:r>
          </a:p>
          <a:p>
            <a:r>
              <a:rPr lang="zh-CN" altLang="en-US" sz="1200" kern="1200" dirty="0">
                <a:solidFill>
                  <a:schemeClr val="tx1"/>
                </a:solidFill>
                <a:effectLst/>
                <a:latin typeface="+mn-lt"/>
                <a:ea typeface="+mn-ea"/>
                <a:cs typeface="+mn-cs"/>
              </a:rPr>
              <a:t>读懂指标</a:t>
            </a:r>
          </a:p>
          <a:p>
            <a:r>
              <a:rPr lang="zh-CN" altLang="en-US" sz="1200" kern="1200" dirty="0">
                <a:solidFill>
                  <a:schemeClr val="tx1"/>
                </a:solidFill>
                <a:effectLst/>
                <a:latin typeface="+mn-lt"/>
                <a:ea typeface="+mn-ea"/>
                <a:cs typeface="+mn-cs"/>
              </a:rPr>
              <a:t>分析失败模式</a:t>
            </a:r>
          </a:p>
          <a:p>
            <a:r>
              <a:rPr lang="zh-CN" altLang="en-US" sz="1200" b="1" kern="1200" dirty="0">
                <a:solidFill>
                  <a:schemeClr val="tx1"/>
                </a:solidFill>
                <a:effectLst/>
                <a:latin typeface="+mn-lt"/>
                <a:ea typeface="+mn-ea"/>
                <a:cs typeface="+mn-cs"/>
              </a:rPr>
              <a:t>第二步</a:t>
            </a:r>
          </a:p>
          <a:p>
            <a:r>
              <a:rPr lang="zh-CN" altLang="en-US" sz="1200" kern="1200" dirty="0">
                <a:solidFill>
                  <a:schemeClr val="tx1"/>
                </a:solidFill>
                <a:effectLst/>
                <a:latin typeface="+mn-lt"/>
                <a:ea typeface="+mn-ea"/>
                <a:cs typeface="+mn-cs"/>
              </a:rPr>
              <a:t>再训练一个最基础的 </a:t>
            </a:r>
            <a:r>
              <a:rPr lang="en-US" altLang="zh-CN" sz="1200" kern="1200" dirty="0">
                <a:solidFill>
                  <a:schemeClr val="tx1"/>
                </a:solidFill>
                <a:effectLst/>
                <a:latin typeface="+mn-lt"/>
                <a:ea typeface="+mn-ea"/>
                <a:cs typeface="+mn-cs"/>
              </a:rPr>
              <a:t>learned model</a:t>
            </a:r>
            <a:r>
              <a:rPr lang="zh-CN" altLang="en-US" sz="1200" kern="1200" dirty="0">
                <a:solidFill>
                  <a:schemeClr val="tx1"/>
                </a:solidFill>
                <a:effectLst/>
                <a:latin typeface="+mn-lt"/>
                <a:ea typeface="+mn-ea"/>
                <a:cs typeface="+mn-cs"/>
              </a:rPr>
              <a:t>，</a:t>
            </a:r>
            <a:br>
              <a:rPr lang="zh-CN" altLang="en-US" sz="1200" kern="1200" dirty="0">
                <a:solidFill>
                  <a:schemeClr val="tx1"/>
                </a:solidFill>
                <a:effectLst/>
                <a:latin typeface="+mn-lt"/>
                <a:ea typeface="+mn-ea"/>
                <a:cs typeface="+mn-cs"/>
              </a:rPr>
            </a:br>
            <a:r>
              <a:rPr lang="zh-CN" altLang="en-US" sz="1200" kern="1200" dirty="0">
                <a:solidFill>
                  <a:schemeClr val="tx1"/>
                </a:solidFill>
                <a:effectLst/>
                <a:latin typeface="+mn-lt"/>
                <a:ea typeface="+mn-ea"/>
                <a:cs typeface="+mn-cs"/>
              </a:rPr>
              <a:t>把闭环 </a:t>
            </a:r>
            <a:r>
              <a:rPr lang="en-US" altLang="zh-CN" sz="1200" kern="1200" dirty="0">
                <a:solidFill>
                  <a:schemeClr val="tx1"/>
                </a:solidFill>
                <a:effectLst/>
                <a:latin typeface="+mn-lt"/>
                <a:ea typeface="+mn-ea"/>
                <a:cs typeface="+mn-cs"/>
              </a:rPr>
              <a:t>rollout </a:t>
            </a:r>
            <a:r>
              <a:rPr lang="zh-CN" altLang="en-US" sz="1200" kern="1200" dirty="0">
                <a:solidFill>
                  <a:schemeClr val="tx1"/>
                </a:solidFill>
                <a:effectLst/>
                <a:latin typeface="+mn-lt"/>
                <a:ea typeface="+mn-ea"/>
                <a:cs typeface="+mn-cs"/>
              </a:rPr>
              <a:t>跑起来。</a:t>
            </a:r>
          </a:p>
          <a:p>
            <a:r>
              <a:rPr lang="zh-CN" altLang="en-US" sz="1200" b="1" kern="1200" dirty="0">
                <a:solidFill>
                  <a:schemeClr val="tx1"/>
                </a:solidFill>
                <a:effectLst/>
                <a:latin typeface="+mn-lt"/>
                <a:ea typeface="+mn-ea"/>
                <a:cs typeface="+mn-cs"/>
              </a:rPr>
              <a:t>最终目标</a:t>
            </a:r>
          </a:p>
          <a:p>
            <a:r>
              <a:rPr lang="zh-CN" altLang="en-US" sz="1200" kern="1200" dirty="0">
                <a:solidFill>
                  <a:schemeClr val="tx1"/>
                </a:solidFill>
                <a:effectLst/>
                <a:latin typeface="+mn-lt"/>
                <a:ea typeface="+mn-ea"/>
                <a:cs typeface="+mn-cs"/>
              </a:rPr>
              <a:t>到第一阶段结束时，</a:t>
            </a:r>
            <a:br>
              <a:rPr lang="zh-CN" altLang="en-US" sz="1200" kern="1200" dirty="0">
                <a:solidFill>
                  <a:schemeClr val="tx1"/>
                </a:solidFill>
                <a:effectLst/>
                <a:latin typeface="+mn-lt"/>
                <a:ea typeface="+mn-ea"/>
                <a:cs typeface="+mn-cs"/>
              </a:rPr>
            </a:br>
            <a:r>
              <a:rPr lang="zh-CN" altLang="en-US" sz="1200" kern="1200" dirty="0">
                <a:solidFill>
                  <a:schemeClr val="tx1"/>
                </a:solidFill>
                <a:effectLst/>
                <a:latin typeface="+mn-lt"/>
                <a:ea typeface="+mn-ea"/>
                <a:cs typeface="+mn-cs"/>
              </a:rPr>
              <a:t>你应该已经知道：</a:t>
            </a:r>
          </a:p>
          <a:p>
            <a:r>
              <a:rPr lang="en-US" altLang="zh-CN" sz="1200" kern="1200" dirty="0">
                <a:solidFill>
                  <a:schemeClr val="tx1"/>
                </a:solidFill>
                <a:effectLst/>
                <a:latin typeface="+mn-lt"/>
                <a:ea typeface="+mn-ea"/>
                <a:cs typeface="+mn-cs"/>
              </a:rPr>
              <a:t>pipeline </a:t>
            </a:r>
            <a:r>
              <a:rPr lang="zh-CN" altLang="en-US" sz="1200" kern="1200" dirty="0">
                <a:solidFill>
                  <a:schemeClr val="tx1"/>
                </a:solidFill>
                <a:effectLst/>
                <a:latin typeface="+mn-lt"/>
                <a:ea typeface="+mn-ea"/>
                <a:cs typeface="+mn-cs"/>
              </a:rPr>
              <a:t>能跑</a:t>
            </a:r>
          </a:p>
          <a:p>
            <a:r>
              <a:rPr lang="en-US" altLang="zh-CN" sz="1200" kern="1200" dirty="0">
                <a:solidFill>
                  <a:schemeClr val="tx1"/>
                </a:solidFill>
                <a:effectLst/>
                <a:latin typeface="+mn-lt"/>
                <a:ea typeface="+mn-ea"/>
                <a:cs typeface="+mn-cs"/>
              </a:rPr>
              <a:t>baseline </a:t>
            </a:r>
            <a:r>
              <a:rPr lang="zh-CN" altLang="en-US" sz="1200" kern="1200" dirty="0">
                <a:solidFill>
                  <a:schemeClr val="tx1"/>
                </a:solidFill>
                <a:effectLst/>
                <a:latin typeface="+mn-lt"/>
                <a:ea typeface="+mn-ea"/>
                <a:cs typeface="+mn-cs"/>
              </a:rPr>
              <a:t>表现如何</a:t>
            </a:r>
          </a:p>
          <a:p>
            <a:r>
              <a:rPr lang="en-US" altLang="zh-CN" sz="1200" kern="1200" dirty="0">
                <a:solidFill>
                  <a:schemeClr val="tx1"/>
                </a:solidFill>
                <a:effectLst/>
                <a:latin typeface="+mn-lt"/>
                <a:ea typeface="+mn-ea"/>
                <a:cs typeface="+mn-cs"/>
              </a:rPr>
              <a:t>learned model </a:t>
            </a:r>
            <a:r>
              <a:rPr lang="zh-CN" altLang="en-US" sz="1200" kern="1200" dirty="0">
                <a:solidFill>
                  <a:schemeClr val="tx1"/>
                </a:solidFill>
                <a:effectLst/>
                <a:latin typeface="+mn-lt"/>
                <a:ea typeface="+mn-ea"/>
                <a:cs typeface="+mn-cs"/>
              </a:rPr>
              <a:t>大概是什么水平</a:t>
            </a:r>
          </a:p>
          <a:p>
            <a:r>
              <a:rPr lang="zh-CN" altLang="en-US" sz="1200" kern="1200" dirty="0">
                <a:solidFill>
                  <a:schemeClr val="tx1"/>
                </a:solidFill>
                <a:effectLst/>
                <a:latin typeface="+mn-lt"/>
                <a:ea typeface="+mn-ea"/>
                <a:cs typeface="+mn-cs"/>
              </a:rPr>
              <a:t>主要问题出在哪</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2's central insight is that a sim agent is not a one-car predictor — it has to make every agent in the scene jointly plausible. If each agent is decoded independently, two cars will collide, no one will yield, and red lights get ignored. That is why the model recipe puts an agent–agent attention or GNN module between the encoders and the decoder, and why constraint-aware post-processing matters. The WOSAC paper itself states that sim agents must be realistic and interactive — log replay or simple rules are not enough.</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从单智能体预测走向联合多智能体仿真</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真正困难的地方，不是预测某一辆车，而是让所有智能体在联合演化时都表现得合理可信。</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should not be a single aggregate score. The harder question is: what specifically did this design improve? Fewer collisions? Less off-road? More stable 80-step rollouts? More plausible diversity across the 32 rollouts? That kind of analysis is what makes this a research project rather than a contest.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前三个问题肯定要问 然后你自己再想想有么有什么问题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materials I will read and reproduce. The presentation has folded their content into the earlier slides rather than dedicating a slide per paper.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0344"/>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365760"/>
          </a:xfrm>
          <a:prstGeom prst="rect">
            <a:avLst/>
          </a:prstGeom>
          <a:noFill/>
          <a:ln/>
        </p:spPr>
        <p:txBody>
          <a:bodyPr wrap="square" lIns="0" tIns="0" rIns="0" bIns="0" rtlCol="0" anchor="ctr"/>
          <a:lstStyle/>
          <a:p>
            <a:pPr marL="0" indent="0">
              <a:buNone/>
            </a:pPr>
            <a:r>
              <a:rPr lang="en-US" sz="1200" b="1" kern="0" spc="600" dirty="0">
                <a:solidFill>
                  <a:srgbClr val="FFFFFF"/>
                </a:solidFill>
                <a:latin typeface="Calibri" pitchFamily="34" charset="0"/>
                <a:ea typeface="Calibri" pitchFamily="34" charset="-122"/>
                <a:cs typeface="Calibri" pitchFamily="34" charset="-120"/>
              </a:rPr>
              <a:t>UCL  ·  THE BARTLETT</a:t>
            </a:r>
            <a:endParaRPr lang="en-US" sz="1200" dirty="0"/>
          </a:p>
        </p:txBody>
      </p:sp>
      <p:sp>
        <p:nvSpPr>
          <p:cNvPr id="4" name="Shape 1"/>
          <p:cNvSpPr/>
          <p:nvPr/>
        </p:nvSpPr>
        <p:spPr>
          <a:xfrm>
            <a:off x="640080" y="2331720"/>
            <a:ext cx="548640" cy="45720"/>
          </a:xfrm>
          <a:prstGeom prst="rect">
            <a:avLst/>
          </a:prstGeom>
          <a:solidFill>
            <a:srgbClr val="500778"/>
          </a:solidFill>
          <a:ln/>
        </p:spPr>
        <p:txBody>
          <a:bodyPr/>
          <a:lstStyle/>
          <a:p>
            <a:endParaRPr lang="zh-CN" altLang="en-US"/>
          </a:p>
        </p:txBody>
      </p:sp>
      <p:sp>
        <p:nvSpPr>
          <p:cNvPr id="5" name="Text 2"/>
          <p:cNvSpPr/>
          <p:nvPr/>
        </p:nvSpPr>
        <p:spPr>
          <a:xfrm>
            <a:off x="640080" y="1920240"/>
            <a:ext cx="7315200" cy="365760"/>
          </a:xfrm>
          <a:prstGeom prst="rect">
            <a:avLst/>
          </a:prstGeom>
          <a:noFill/>
          <a:ln/>
        </p:spPr>
        <p:txBody>
          <a:bodyPr wrap="square" lIns="0" tIns="0" rIns="0" bIns="0" rtlCol="0" anchor="ctr"/>
          <a:lstStyle/>
          <a:p>
            <a:pPr marL="0" indent="0">
              <a:buNone/>
            </a:pPr>
            <a:r>
              <a:rPr lang="en-US" sz="1200" b="1" kern="0" spc="400" dirty="0">
                <a:solidFill>
                  <a:srgbClr val="C8B8D6"/>
                </a:solidFill>
                <a:latin typeface="Calibri" pitchFamily="34" charset="0"/>
                <a:ea typeface="Calibri" pitchFamily="34" charset="-122"/>
                <a:cs typeface="Calibri" pitchFamily="34" charset="-120"/>
              </a:rPr>
              <a:t>RESEARCH PLAN  ·  2026</a:t>
            </a:r>
            <a:endParaRPr lang="en-US" sz="1200" dirty="0"/>
          </a:p>
        </p:txBody>
      </p:sp>
      <p:sp>
        <p:nvSpPr>
          <p:cNvPr id="6" name="Text 3"/>
          <p:cNvSpPr/>
          <p:nvPr/>
        </p:nvSpPr>
        <p:spPr>
          <a:xfrm>
            <a:off x="640080" y="2468880"/>
            <a:ext cx="10515600" cy="1737360"/>
          </a:xfrm>
          <a:prstGeom prst="rect">
            <a:avLst/>
          </a:prstGeom>
          <a:noFill/>
          <a:ln/>
        </p:spPr>
        <p:txBody>
          <a:bodyPr wrap="square" lIns="0" tIns="0" rIns="0" bIns="0" rtlCol="0" anchor="t"/>
          <a:lstStyle/>
          <a:p>
            <a:pPr marL="0" indent="0" algn="l">
              <a:buNone/>
            </a:pPr>
            <a:r>
              <a:rPr lang="en-GB" sz="4000" b="1" dirty="0">
                <a:solidFill>
                  <a:srgbClr val="FFFFFF"/>
                </a:solidFill>
                <a:latin typeface="Calibri" pitchFamily="34" charset="0"/>
                <a:ea typeface="Calibri" pitchFamily="34" charset="-122"/>
                <a:cs typeface="Calibri" pitchFamily="34" charset="-120"/>
              </a:rPr>
              <a:t>Comparative Evaluation of Multi-Agent Trajectory Prediction Methods for Autonomous Driving</a:t>
            </a:r>
          </a:p>
        </p:txBody>
      </p:sp>
      <p:sp>
        <p:nvSpPr>
          <p:cNvPr id="7" name="Text 4"/>
          <p:cNvSpPr/>
          <p:nvPr/>
        </p:nvSpPr>
        <p:spPr>
          <a:xfrm>
            <a:off x="640080" y="4536819"/>
            <a:ext cx="10515600" cy="548640"/>
          </a:xfrm>
          <a:prstGeom prst="rect">
            <a:avLst/>
          </a:prstGeom>
          <a:noFill/>
          <a:ln/>
        </p:spPr>
        <p:txBody>
          <a:bodyPr wrap="square" lIns="0" tIns="0" rIns="0" bIns="0" rtlCol="0" anchor="ctr"/>
          <a:lstStyle/>
          <a:p>
            <a:pPr marL="0" indent="0" algn="l">
              <a:buNone/>
            </a:pPr>
            <a:r>
              <a:rPr lang="en-US" dirty="0">
                <a:solidFill>
                  <a:srgbClr val="FFFFFF"/>
                </a:solidFill>
                <a:latin typeface="Calibri" pitchFamily="34" charset="0"/>
                <a:ea typeface="Calibri" pitchFamily="34" charset="-122"/>
                <a:cs typeface="Calibri" pitchFamily="34" charset="-120"/>
              </a:rPr>
              <a:t>Shadiya </a:t>
            </a:r>
            <a:r>
              <a:rPr lang="en-US" dirty="0" err="1">
                <a:solidFill>
                  <a:srgbClr val="FFFFFF"/>
                </a:solidFill>
                <a:latin typeface="Calibri" pitchFamily="34" charset="0"/>
                <a:ea typeface="Calibri" pitchFamily="34" charset="-122"/>
                <a:cs typeface="Calibri" pitchFamily="34" charset="-120"/>
              </a:rPr>
              <a:t>Alifu</a:t>
            </a:r>
            <a:endParaRPr lang="en-US" dirty="0">
              <a:solidFill>
                <a:srgbClr val="FFFFFF"/>
              </a:solidFill>
              <a:latin typeface="Calibri" pitchFamily="34" charset="0"/>
              <a:ea typeface="Calibri" pitchFamily="34" charset="-122"/>
              <a:cs typeface="Calibri" pitchFamily="34" charset="-120"/>
            </a:endParaRPr>
          </a:p>
          <a:p>
            <a:r>
              <a:rPr lang="en-GB" sz="1400" i="1" dirty="0">
                <a:solidFill>
                  <a:srgbClr val="C8B8D6"/>
                </a:solidFill>
                <a:latin typeface="Calibri" pitchFamily="34" charset="0"/>
                <a:ea typeface="Calibri" pitchFamily="34" charset="-122"/>
                <a:cs typeface="Calibri" pitchFamily="34" charset="-120"/>
              </a:rPr>
              <a:t>The Bartlett Centre for Advanced Spatial Analysis</a:t>
            </a:r>
            <a:endParaRPr lang="en-US" sz="1400" i="1" dirty="0">
              <a:solidFill>
                <a:srgbClr val="C8B8D6"/>
              </a:solidFill>
              <a:latin typeface="Calibri" pitchFamily="34" charset="0"/>
              <a:ea typeface="Calibri" pitchFamily="34" charset="-122"/>
              <a:cs typeface="Calibri" pitchFamily="34" charset="-120"/>
            </a:endParaRPr>
          </a:p>
        </p:txBody>
      </p:sp>
      <p:sp>
        <p:nvSpPr>
          <p:cNvPr id="8" name="Text 5"/>
          <p:cNvSpPr/>
          <p:nvPr/>
        </p:nvSpPr>
        <p:spPr>
          <a:xfrm>
            <a:off x="640080" y="3685730"/>
            <a:ext cx="10515600" cy="457200"/>
          </a:xfrm>
          <a:prstGeom prst="rect">
            <a:avLst/>
          </a:prstGeom>
          <a:noFill/>
          <a:ln/>
        </p:spPr>
        <p:txBody>
          <a:bodyPr wrap="square" lIns="0" tIns="0" rIns="0" bIns="0" rtlCol="0" anchor="ctr"/>
          <a:lstStyle/>
          <a:p>
            <a:pPr marL="0" indent="0">
              <a:buNone/>
            </a:pPr>
            <a:r>
              <a:rPr lang="en-GB" sz="1400" dirty="0">
                <a:solidFill>
                  <a:srgbClr val="C8B8D6"/>
                </a:solidFill>
                <a:latin typeface="Calibri" pitchFamily="34" charset="0"/>
                <a:ea typeface="Calibri" pitchFamily="34" charset="-122"/>
                <a:cs typeface="Calibri" pitchFamily="34" charset="-120"/>
              </a:rPr>
              <a:t>Using the Waymo Open Motion Dataset</a:t>
            </a:r>
            <a:endParaRPr lang="en-US" sz="1400" dirty="0"/>
          </a:p>
        </p:txBody>
      </p:sp>
      <p:sp>
        <p:nvSpPr>
          <p:cNvPr id="9" name="Shape 6"/>
          <p:cNvSpPr/>
          <p:nvPr/>
        </p:nvSpPr>
        <p:spPr>
          <a:xfrm>
            <a:off x="647224" y="5486400"/>
            <a:ext cx="1371600" cy="36576"/>
          </a:xfrm>
          <a:prstGeom prst="rect">
            <a:avLst/>
          </a:prstGeom>
          <a:solidFill>
            <a:srgbClr val="500778"/>
          </a:solidFill>
          <a:ln/>
        </p:spPr>
        <p:txBody>
          <a:bodyPr/>
          <a:lstStyle/>
          <a:p>
            <a:endParaRPr lang="zh-CN" altLang="en-US"/>
          </a:p>
        </p:txBody>
      </p:sp>
      <p:sp>
        <p:nvSpPr>
          <p:cNvPr id="10" name="Text 7"/>
          <p:cNvSpPr/>
          <p:nvPr/>
        </p:nvSpPr>
        <p:spPr>
          <a:xfrm>
            <a:off x="647224" y="5623560"/>
            <a:ext cx="2917508" cy="320040"/>
          </a:xfrm>
          <a:prstGeom prst="rect">
            <a:avLst/>
          </a:prstGeom>
          <a:noFill/>
          <a:ln/>
        </p:spPr>
        <p:txBody>
          <a:bodyPr wrap="square" lIns="0" tIns="0" rIns="0" bIns="0" rtlCol="0" anchor="ctr"/>
          <a:lstStyle/>
          <a:p>
            <a:pPr marL="0" indent="0">
              <a:buNone/>
            </a:pPr>
            <a:r>
              <a:rPr lang="en-US" sz="1100" dirty="0">
                <a:solidFill>
                  <a:srgbClr val="B89BCB"/>
                </a:solidFill>
                <a:latin typeface="Calibri" pitchFamily="34" charset="0"/>
                <a:ea typeface="Calibri" pitchFamily="34" charset="-122"/>
                <a:cs typeface="Calibri" pitchFamily="34" charset="-120"/>
              </a:rPr>
              <a:t>Supervisor meeting  ·  2</a:t>
            </a:r>
            <a:r>
              <a:rPr lang="en-US" altLang="zh-CN" sz="1100" dirty="0">
                <a:solidFill>
                  <a:srgbClr val="B89BCB"/>
                </a:solidFill>
                <a:latin typeface="Calibri" pitchFamily="34" charset="0"/>
                <a:ea typeface="Calibri" pitchFamily="34" charset="-122"/>
                <a:cs typeface="Calibri" pitchFamily="34" charset="-120"/>
              </a:rPr>
              <a:t>9</a:t>
            </a:r>
            <a:r>
              <a:rPr lang="en-US" sz="1100" dirty="0">
                <a:solidFill>
                  <a:srgbClr val="B89BCB"/>
                </a:solidFill>
                <a:latin typeface="Calibri" pitchFamily="34" charset="0"/>
                <a:ea typeface="Calibri" pitchFamily="34" charset="-122"/>
                <a:cs typeface="Calibri" pitchFamily="34" charset="-120"/>
              </a:rPr>
              <a:t> April 2026</a:t>
            </a:r>
            <a:endParaRPr lang="en-US" sz="1100" dirty="0"/>
          </a:p>
        </p:txBody>
      </p:sp>
      <p:pic>
        <p:nvPicPr>
          <p:cNvPr id="18" name="图片 17">
            <a:extLst>
              <a:ext uri="{FF2B5EF4-FFF2-40B4-BE49-F238E27FC236}">
                <a16:creationId xmlns:a16="http://schemas.microsoft.com/office/drawing/2014/main" id="{F6F51A97-A686-A673-B95E-B89BFF08C589}"/>
              </a:ext>
            </a:extLst>
          </p:cNvPr>
          <p:cNvPicPr>
            <a:picLocks noChangeAspect="1"/>
          </p:cNvPicPr>
          <p:nvPr/>
        </p:nvPicPr>
        <p:blipFill>
          <a:blip r:embed="rId3"/>
          <a:stretch>
            <a:fillRect/>
          </a:stretch>
        </p:blipFill>
        <p:spPr>
          <a:xfrm>
            <a:off x="10086975" y="379928"/>
            <a:ext cx="1854994" cy="52030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00778"/>
          </a:solidFill>
          <a:ln/>
        </p:spPr>
        <p:txBody>
          <a:bodyPr/>
          <a:lstStyle/>
          <a:p>
            <a:endParaRPr lang="zh-CN" altLang="en-US"/>
          </a:p>
        </p:txBody>
      </p:sp>
      <p:sp>
        <p:nvSpPr>
          <p:cNvPr id="3" name="Text 1"/>
          <p:cNvSpPr/>
          <p:nvPr/>
        </p:nvSpPr>
        <p:spPr>
          <a:xfrm>
            <a:off x="548640" y="411480"/>
            <a:ext cx="11094415" cy="685800"/>
          </a:xfrm>
          <a:prstGeom prst="rect">
            <a:avLst/>
          </a:prstGeom>
          <a:noFill/>
          <a:ln/>
        </p:spPr>
        <p:txBody>
          <a:bodyPr wrap="square" lIns="0" tIns="0" rIns="0" bIns="0" rtlCol="0" anchor="ctr"/>
          <a:lstStyle/>
          <a:p>
            <a:pPr marL="0" indent="0" algn="l">
              <a:buNone/>
            </a:pPr>
            <a:r>
              <a:rPr lang="en-US" sz="3000" b="1" dirty="0">
                <a:solidFill>
                  <a:srgbClr val="500778"/>
                </a:solidFill>
                <a:latin typeface="Calibri" pitchFamily="34" charset="0"/>
                <a:ea typeface="Calibri" pitchFamily="34" charset="-122"/>
                <a:cs typeface="Calibri" pitchFamily="34" charset="-120"/>
              </a:rPr>
              <a:t>Motivation: building research foundations for autonomous driving</a:t>
            </a:r>
            <a:endParaRPr lang="en-US" sz="3000" dirty="0"/>
          </a:p>
        </p:txBody>
      </p:sp>
      <p:sp>
        <p:nvSpPr>
          <p:cNvPr id="5" name="Text 3"/>
          <p:cNvSpPr/>
          <p:nvPr/>
        </p:nvSpPr>
        <p:spPr>
          <a:xfrm>
            <a:off x="11094415" y="6492240"/>
            <a:ext cx="548640" cy="274320"/>
          </a:xfrm>
          <a:prstGeom prst="rect">
            <a:avLst/>
          </a:prstGeom>
          <a:noFill/>
          <a:ln/>
        </p:spPr>
        <p:txBody>
          <a:bodyPr wrap="square" lIns="0" tIns="0" rIns="0" bIns="0" rtlCol="0" anchor="ctr"/>
          <a:lstStyle/>
          <a:p>
            <a:pPr marL="0" indent="0" algn="r">
              <a:buNone/>
            </a:pPr>
            <a:r>
              <a:rPr lang="en-US" sz="1000" b="1" dirty="0">
                <a:solidFill>
                  <a:srgbClr val="500778"/>
                </a:solidFill>
                <a:latin typeface="Calibri" pitchFamily="34" charset="0"/>
                <a:ea typeface="Calibri" pitchFamily="34" charset="-122"/>
                <a:cs typeface="Calibri" pitchFamily="34" charset="-120"/>
              </a:rPr>
              <a:t>01</a:t>
            </a:r>
            <a:endParaRPr lang="en-US" sz="1000" dirty="0"/>
          </a:p>
        </p:txBody>
      </p:sp>
      <p:sp>
        <p:nvSpPr>
          <p:cNvPr id="6" name="Text 4"/>
          <p:cNvSpPr/>
          <p:nvPr/>
        </p:nvSpPr>
        <p:spPr>
          <a:xfrm>
            <a:off x="548640" y="1280160"/>
            <a:ext cx="10972800" cy="365760"/>
          </a:xfrm>
          <a:prstGeom prst="rect">
            <a:avLst/>
          </a:prstGeom>
          <a:noFill/>
          <a:ln/>
        </p:spPr>
        <p:txBody>
          <a:bodyPr wrap="square" lIns="0" tIns="0" rIns="0" bIns="0" rtlCol="0" anchor="ctr"/>
          <a:lstStyle/>
          <a:p>
            <a:pPr marL="0" indent="0">
              <a:buNone/>
            </a:pPr>
            <a:r>
              <a:rPr lang="en-US" sz="2400" b="1" dirty="0">
                <a:solidFill>
                  <a:srgbClr val="1A1A1A"/>
                </a:solidFill>
                <a:latin typeface="Calibri" pitchFamily="34" charset="0"/>
                <a:ea typeface="Calibri" pitchFamily="34" charset="-122"/>
                <a:cs typeface="Calibri" pitchFamily="34" charset="-120"/>
              </a:rPr>
              <a:t>Why I chose this task</a:t>
            </a:r>
            <a:endParaRPr lang="en-US" sz="2400" dirty="0"/>
          </a:p>
        </p:txBody>
      </p:sp>
      <p:sp>
        <p:nvSpPr>
          <p:cNvPr id="7" name="Text 5"/>
          <p:cNvSpPr/>
          <p:nvPr/>
        </p:nvSpPr>
        <p:spPr>
          <a:xfrm>
            <a:off x="548640" y="1691640"/>
            <a:ext cx="10972800" cy="914400"/>
          </a:xfrm>
          <a:prstGeom prst="rect">
            <a:avLst/>
          </a:prstGeom>
          <a:noFill/>
          <a:ln/>
        </p:spPr>
        <p:txBody>
          <a:bodyPr wrap="square" lIns="0" tIns="0" rIns="0" bIns="0" rtlCol="0" anchor="ctr"/>
          <a:lstStyle/>
          <a:p>
            <a:r>
              <a:rPr lang="en-GB" altLang="zh-CN" b="1" dirty="0"/>
              <a:t>Develops core capabilities for autonomous driving:</a:t>
            </a:r>
            <a:r>
              <a:rPr lang="en-GB" altLang="zh-CN" dirty="0"/>
              <a:t> prediction, simulation, multi-agent interaction, behaviour modelling, and planning evaluation.</a:t>
            </a:r>
          </a:p>
        </p:txBody>
      </p:sp>
      <p:sp>
        <p:nvSpPr>
          <p:cNvPr id="8" name="Shape 6"/>
          <p:cNvSpPr/>
          <p:nvPr/>
        </p:nvSpPr>
        <p:spPr>
          <a:xfrm>
            <a:off x="838048" y="2653184"/>
            <a:ext cx="1920240" cy="1097280"/>
          </a:xfrm>
          <a:prstGeom prst="rect">
            <a:avLst/>
          </a:prstGeom>
          <a:solidFill>
            <a:srgbClr val="F2EEF7"/>
          </a:solidFill>
          <a:ln/>
          <a:effectLst>
            <a:outerShdw blurRad="101600" dist="25400" dir="5400000" algn="bl" rotWithShape="0">
              <a:srgbClr val="000000">
                <a:alpha val="10000"/>
              </a:srgbClr>
            </a:outerShdw>
          </a:effectLst>
        </p:spPr>
        <p:txBody>
          <a:bodyPr/>
          <a:lstStyle/>
          <a:p>
            <a:endParaRPr lang="zh-CN" altLang="en-US"/>
          </a:p>
        </p:txBody>
      </p:sp>
      <p:sp>
        <p:nvSpPr>
          <p:cNvPr id="9" name="Shape 7"/>
          <p:cNvSpPr/>
          <p:nvPr/>
        </p:nvSpPr>
        <p:spPr>
          <a:xfrm>
            <a:off x="1633576" y="2817776"/>
            <a:ext cx="329184" cy="329184"/>
          </a:xfrm>
          <a:prstGeom prst="ellipse">
            <a:avLst/>
          </a:prstGeom>
          <a:solidFill>
            <a:srgbClr val="500778"/>
          </a:solidFill>
          <a:ln/>
        </p:spPr>
        <p:txBody>
          <a:bodyPr/>
          <a:lstStyle/>
          <a:p>
            <a:endParaRPr lang="zh-CN" altLang="en-US"/>
          </a:p>
        </p:txBody>
      </p:sp>
      <p:sp>
        <p:nvSpPr>
          <p:cNvPr id="10" name="Text 8"/>
          <p:cNvSpPr/>
          <p:nvPr/>
        </p:nvSpPr>
        <p:spPr>
          <a:xfrm>
            <a:off x="1633576" y="28177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p:nvPr/>
        </p:nvSpPr>
        <p:spPr>
          <a:xfrm>
            <a:off x="929488" y="3201824"/>
            <a:ext cx="1737360" cy="548640"/>
          </a:xfrm>
          <a:prstGeom prst="rect">
            <a:avLst/>
          </a:prstGeom>
          <a:noFill/>
          <a:ln/>
        </p:spPr>
        <p:txBody>
          <a:bodyPr wrap="square" lIns="0" tIns="0" rIns="0" bIns="0" rtlCol="0" anchor="ctr"/>
          <a:lstStyle/>
          <a:p>
            <a:pPr marL="0" indent="0" algn="ctr">
              <a:buNone/>
            </a:pPr>
            <a:r>
              <a:rPr lang="en-US" sz="1600" b="1" dirty="0">
                <a:solidFill>
                  <a:srgbClr val="1A1A1A"/>
                </a:solidFill>
                <a:latin typeface="Calibri" pitchFamily="34" charset="0"/>
                <a:ea typeface="Calibri" pitchFamily="34" charset="-122"/>
                <a:cs typeface="Calibri" pitchFamily="34" charset="-120"/>
              </a:rPr>
              <a:t>Behaviour</a:t>
            </a:r>
            <a:endParaRPr lang="en-US" sz="1600" dirty="0"/>
          </a:p>
          <a:p>
            <a:pPr marL="0" indent="0" algn="ctr">
              <a:buNone/>
            </a:pPr>
            <a:r>
              <a:rPr lang="en-US" sz="1600" b="1" dirty="0">
                <a:solidFill>
                  <a:srgbClr val="1A1A1A"/>
                </a:solidFill>
                <a:latin typeface="Calibri" pitchFamily="34" charset="0"/>
                <a:ea typeface="Calibri" pitchFamily="34" charset="-122"/>
                <a:cs typeface="Calibri" pitchFamily="34" charset="-120"/>
              </a:rPr>
              <a:t>modelling</a:t>
            </a:r>
            <a:endParaRPr lang="en-US" sz="1600" dirty="0"/>
          </a:p>
        </p:txBody>
      </p:sp>
      <p:sp>
        <p:nvSpPr>
          <p:cNvPr id="12" name="Shape 10"/>
          <p:cNvSpPr/>
          <p:nvPr/>
        </p:nvSpPr>
        <p:spPr>
          <a:xfrm>
            <a:off x="2986888" y="2653184"/>
            <a:ext cx="1920240" cy="1097280"/>
          </a:xfrm>
          <a:prstGeom prst="rect">
            <a:avLst/>
          </a:prstGeom>
          <a:solidFill>
            <a:srgbClr val="F2EEF7"/>
          </a:solidFill>
          <a:ln/>
          <a:effectLst>
            <a:outerShdw blurRad="101600" dist="25400" dir="5400000" algn="bl" rotWithShape="0">
              <a:srgbClr val="000000">
                <a:alpha val="10000"/>
              </a:srgbClr>
            </a:outerShdw>
          </a:effectLst>
        </p:spPr>
        <p:txBody>
          <a:bodyPr/>
          <a:lstStyle/>
          <a:p>
            <a:endParaRPr lang="zh-CN" altLang="en-US"/>
          </a:p>
        </p:txBody>
      </p:sp>
      <p:sp>
        <p:nvSpPr>
          <p:cNvPr id="13" name="Shape 11"/>
          <p:cNvSpPr/>
          <p:nvPr/>
        </p:nvSpPr>
        <p:spPr>
          <a:xfrm>
            <a:off x="3782416" y="2817776"/>
            <a:ext cx="329184" cy="329184"/>
          </a:xfrm>
          <a:prstGeom prst="ellipse">
            <a:avLst/>
          </a:prstGeom>
          <a:solidFill>
            <a:srgbClr val="500778"/>
          </a:solidFill>
          <a:ln/>
        </p:spPr>
        <p:txBody>
          <a:bodyPr/>
          <a:lstStyle/>
          <a:p>
            <a:endParaRPr lang="zh-CN" altLang="en-US"/>
          </a:p>
        </p:txBody>
      </p:sp>
      <p:sp>
        <p:nvSpPr>
          <p:cNvPr id="14" name="Text 12"/>
          <p:cNvSpPr/>
          <p:nvPr/>
        </p:nvSpPr>
        <p:spPr>
          <a:xfrm>
            <a:off x="3782416" y="28177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3078328" y="3201824"/>
            <a:ext cx="1737360" cy="548640"/>
          </a:xfrm>
          <a:prstGeom prst="rect">
            <a:avLst/>
          </a:prstGeom>
          <a:noFill/>
          <a:ln/>
        </p:spPr>
        <p:txBody>
          <a:bodyPr wrap="square" lIns="0" tIns="0" rIns="0" bIns="0" rtlCol="0" anchor="ctr"/>
          <a:lstStyle/>
          <a:p>
            <a:pPr marL="0" indent="0" algn="ctr">
              <a:buNone/>
            </a:pPr>
            <a:r>
              <a:rPr lang="en-US" sz="1600" b="1" dirty="0">
                <a:solidFill>
                  <a:srgbClr val="1A1A1A"/>
                </a:solidFill>
                <a:latin typeface="Calibri" pitchFamily="34" charset="0"/>
                <a:ea typeface="Calibri" pitchFamily="34" charset="-122"/>
                <a:cs typeface="Calibri" pitchFamily="34" charset="-120"/>
              </a:rPr>
              <a:t>Motion</a:t>
            </a:r>
            <a:endParaRPr lang="en-US" sz="1600" dirty="0"/>
          </a:p>
          <a:p>
            <a:pPr marL="0" indent="0" algn="ctr">
              <a:buNone/>
            </a:pPr>
            <a:r>
              <a:rPr lang="en-US" sz="1600" b="1" dirty="0">
                <a:solidFill>
                  <a:srgbClr val="1A1A1A"/>
                </a:solidFill>
                <a:latin typeface="Calibri" pitchFamily="34" charset="0"/>
                <a:ea typeface="Calibri" pitchFamily="34" charset="-122"/>
                <a:cs typeface="Calibri" pitchFamily="34" charset="-120"/>
              </a:rPr>
              <a:t>prediction</a:t>
            </a:r>
            <a:endParaRPr lang="en-US" sz="1600" dirty="0"/>
          </a:p>
        </p:txBody>
      </p:sp>
      <p:sp>
        <p:nvSpPr>
          <p:cNvPr id="16" name="Shape 14"/>
          <p:cNvSpPr/>
          <p:nvPr/>
        </p:nvSpPr>
        <p:spPr>
          <a:xfrm>
            <a:off x="5135728" y="2653184"/>
            <a:ext cx="1920240" cy="1097280"/>
          </a:xfrm>
          <a:prstGeom prst="rect">
            <a:avLst/>
          </a:prstGeom>
          <a:solidFill>
            <a:srgbClr val="F2EEF7"/>
          </a:solidFill>
          <a:ln/>
          <a:effectLst>
            <a:outerShdw blurRad="101600" dist="25400" dir="5400000" algn="bl" rotWithShape="0">
              <a:srgbClr val="000000">
                <a:alpha val="10000"/>
              </a:srgbClr>
            </a:outerShdw>
          </a:effectLst>
        </p:spPr>
        <p:txBody>
          <a:bodyPr/>
          <a:lstStyle/>
          <a:p>
            <a:endParaRPr lang="zh-CN" altLang="en-US"/>
          </a:p>
        </p:txBody>
      </p:sp>
      <p:sp>
        <p:nvSpPr>
          <p:cNvPr id="17" name="Shape 15"/>
          <p:cNvSpPr/>
          <p:nvPr/>
        </p:nvSpPr>
        <p:spPr>
          <a:xfrm>
            <a:off x="5931256" y="2817776"/>
            <a:ext cx="329184" cy="329184"/>
          </a:xfrm>
          <a:prstGeom prst="ellipse">
            <a:avLst/>
          </a:prstGeom>
          <a:solidFill>
            <a:srgbClr val="500778"/>
          </a:solidFill>
          <a:ln/>
        </p:spPr>
        <p:txBody>
          <a:bodyPr/>
          <a:lstStyle/>
          <a:p>
            <a:endParaRPr lang="zh-CN" altLang="en-US"/>
          </a:p>
        </p:txBody>
      </p:sp>
      <p:sp>
        <p:nvSpPr>
          <p:cNvPr id="18" name="Text 16"/>
          <p:cNvSpPr/>
          <p:nvPr/>
        </p:nvSpPr>
        <p:spPr>
          <a:xfrm>
            <a:off x="5931256" y="28177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5227168" y="3201824"/>
            <a:ext cx="1737360" cy="548640"/>
          </a:xfrm>
          <a:prstGeom prst="rect">
            <a:avLst/>
          </a:prstGeom>
          <a:noFill/>
          <a:ln/>
        </p:spPr>
        <p:txBody>
          <a:bodyPr wrap="square" lIns="0" tIns="0" rIns="0" bIns="0" rtlCol="0" anchor="ctr"/>
          <a:lstStyle/>
          <a:p>
            <a:pPr marL="0" indent="0" algn="ctr">
              <a:buNone/>
            </a:pPr>
            <a:r>
              <a:rPr lang="en-US" sz="1600" b="1" dirty="0">
                <a:solidFill>
                  <a:srgbClr val="1A1A1A"/>
                </a:solidFill>
                <a:latin typeface="Calibri" pitchFamily="34" charset="0"/>
                <a:ea typeface="Calibri" pitchFamily="34" charset="-122"/>
                <a:cs typeface="Calibri" pitchFamily="34" charset="-120"/>
              </a:rPr>
              <a:t>Multi-agent</a:t>
            </a:r>
            <a:endParaRPr lang="en-US" sz="1600" dirty="0"/>
          </a:p>
          <a:p>
            <a:pPr marL="0" indent="0" algn="ctr">
              <a:buNone/>
            </a:pPr>
            <a:r>
              <a:rPr lang="en-US" sz="1600" b="1" dirty="0">
                <a:solidFill>
                  <a:srgbClr val="1A1A1A"/>
                </a:solidFill>
                <a:latin typeface="Calibri" pitchFamily="34" charset="0"/>
                <a:ea typeface="Calibri" pitchFamily="34" charset="-122"/>
                <a:cs typeface="Calibri" pitchFamily="34" charset="-120"/>
              </a:rPr>
              <a:t>interaction</a:t>
            </a:r>
            <a:endParaRPr lang="en-US" sz="1600" dirty="0"/>
          </a:p>
        </p:txBody>
      </p:sp>
      <p:sp>
        <p:nvSpPr>
          <p:cNvPr id="20" name="Shape 18"/>
          <p:cNvSpPr/>
          <p:nvPr/>
        </p:nvSpPr>
        <p:spPr>
          <a:xfrm>
            <a:off x="7284568" y="2653184"/>
            <a:ext cx="1920240" cy="1097280"/>
          </a:xfrm>
          <a:prstGeom prst="rect">
            <a:avLst/>
          </a:prstGeom>
          <a:solidFill>
            <a:srgbClr val="F2EEF7"/>
          </a:solidFill>
          <a:ln/>
          <a:effectLst>
            <a:outerShdw blurRad="101600" dist="25400" dir="5400000" algn="bl" rotWithShape="0">
              <a:srgbClr val="000000">
                <a:alpha val="10000"/>
              </a:srgbClr>
            </a:outerShdw>
          </a:effectLst>
        </p:spPr>
        <p:txBody>
          <a:bodyPr/>
          <a:lstStyle/>
          <a:p>
            <a:endParaRPr lang="zh-CN" altLang="en-US"/>
          </a:p>
        </p:txBody>
      </p:sp>
      <p:sp>
        <p:nvSpPr>
          <p:cNvPr id="21" name="Shape 19"/>
          <p:cNvSpPr/>
          <p:nvPr/>
        </p:nvSpPr>
        <p:spPr>
          <a:xfrm>
            <a:off x="8080096" y="2817776"/>
            <a:ext cx="329184" cy="329184"/>
          </a:xfrm>
          <a:prstGeom prst="ellipse">
            <a:avLst/>
          </a:prstGeom>
          <a:solidFill>
            <a:srgbClr val="500778"/>
          </a:solidFill>
          <a:ln/>
        </p:spPr>
        <p:txBody>
          <a:bodyPr/>
          <a:lstStyle/>
          <a:p>
            <a:endParaRPr lang="zh-CN" altLang="en-US"/>
          </a:p>
        </p:txBody>
      </p:sp>
      <p:sp>
        <p:nvSpPr>
          <p:cNvPr id="22" name="Text 20"/>
          <p:cNvSpPr/>
          <p:nvPr/>
        </p:nvSpPr>
        <p:spPr>
          <a:xfrm>
            <a:off x="8080096" y="28177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p:nvPr/>
        </p:nvSpPr>
        <p:spPr>
          <a:xfrm>
            <a:off x="7376008" y="3201824"/>
            <a:ext cx="1737360" cy="548640"/>
          </a:xfrm>
          <a:prstGeom prst="rect">
            <a:avLst/>
          </a:prstGeom>
          <a:noFill/>
          <a:ln/>
        </p:spPr>
        <p:txBody>
          <a:bodyPr wrap="square" lIns="0" tIns="0" rIns="0" bIns="0" rtlCol="0" anchor="ctr"/>
          <a:lstStyle/>
          <a:p>
            <a:pPr marL="0" indent="0" algn="ctr">
              <a:buNone/>
            </a:pPr>
            <a:r>
              <a:rPr lang="en-US" sz="1600" b="1" dirty="0">
                <a:solidFill>
                  <a:srgbClr val="1A1A1A"/>
                </a:solidFill>
                <a:latin typeface="Calibri" pitchFamily="34" charset="0"/>
                <a:ea typeface="Calibri" pitchFamily="34" charset="-122"/>
                <a:cs typeface="Calibri" pitchFamily="34" charset="-120"/>
              </a:rPr>
              <a:t>Planning</a:t>
            </a:r>
            <a:endParaRPr lang="en-US" sz="1600" dirty="0"/>
          </a:p>
          <a:p>
            <a:pPr marL="0" indent="0" algn="ctr">
              <a:buNone/>
            </a:pPr>
            <a:r>
              <a:rPr lang="en-US" sz="1600" b="1" dirty="0">
                <a:solidFill>
                  <a:srgbClr val="1A1A1A"/>
                </a:solidFill>
                <a:latin typeface="Calibri" pitchFamily="34" charset="0"/>
                <a:ea typeface="Calibri" pitchFamily="34" charset="-122"/>
                <a:cs typeface="Calibri" pitchFamily="34" charset="-120"/>
              </a:rPr>
              <a:t>evaluation</a:t>
            </a:r>
            <a:endParaRPr lang="en-US" sz="1600" dirty="0"/>
          </a:p>
        </p:txBody>
      </p:sp>
      <p:sp>
        <p:nvSpPr>
          <p:cNvPr id="24" name="Shape 22"/>
          <p:cNvSpPr/>
          <p:nvPr/>
        </p:nvSpPr>
        <p:spPr>
          <a:xfrm>
            <a:off x="9433408" y="2653184"/>
            <a:ext cx="1920240" cy="1097280"/>
          </a:xfrm>
          <a:prstGeom prst="rect">
            <a:avLst/>
          </a:prstGeom>
          <a:solidFill>
            <a:srgbClr val="F2EEF7"/>
          </a:solidFill>
          <a:ln/>
          <a:effectLst>
            <a:outerShdw blurRad="101600" dist="25400" dir="5400000" algn="bl" rotWithShape="0">
              <a:srgbClr val="000000">
                <a:alpha val="10000"/>
              </a:srgbClr>
            </a:outerShdw>
          </a:effectLst>
        </p:spPr>
        <p:txBody>
          <a:bodyPr/>
          <a:lstStyle/>
          <a:p>
            <a:endParaRPr lang="zh-CN" altLang="en-US"/>
          </a:p>
        </p:txBody>
      </p:sp>
      <p:sp>
        <p:nvSpPr>
          <p:cNvPr id="25" name="Shape 23"/>
          <p:cNvSpPr/>
          <p:nvPr/>
        </p:nvSpPr>
        <p:spPr>
          <a:xfrm>
            <a:off x="10228936" y="2817776"/>
            <a:ext cx="329184" cy="329184"/>
          </a:xfrm>
          <a:prstGeom prst="ellipse">
            <a:avLst/>
          </a:prstGeom>
          <a:solidFill>
            <a:srgbClr val="500778"/>
          </a:solidFill>
          <a:ln/>
        </p:spPr>
        <p:txBody>
          <a:bodyPr/>
          <a:lstStyle/>
          <a:p>
            <a:endParaRPr lang="zh-CN" altLang="en-US"/>
          </a:p>
        </p:txBody>
      </p:sp>
      <p:sp>
        <p:nvSpPr>
          <p:cNvPr id="26" name="Text 24"/>
          <p:cNvSpPr/>
          <p:nvPr/>
        </p:nvSpPr>
        <p:spPr>
          <a:xfrm>
            <a:off x="10228936" y="28177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p:nvPr/>
        </p:nvSpPr>
        <p:spPr>
          <a:xfrm>
            <a:off x="9524848" y="3201824"/>
            <a:ext cx="1737360" cy="548640"/>
          </a:xfrm>
          <a:prstGeom prst="rect">
            <a:avLst/>
          </a:prstGeom>
          <a:noFill/>
          <a:ln/>
        </p:spPr>
        <p:txBody>
          <a:bodyPr wrap="square" lIns="0" tIns="0" rIns="0" bIns="0" rtlCol="0" anchor="ctr"/>
          <a:lstStyle/>
          <a:p>
            <a:pPr marL="0" indent="0" algn="ctr">
              <a:buNone/>
            </a:pPr>
            <a:r>
              <a:rPr lang="en-US" sz="1600" b="1" dirty="0">
                <a:solidFill>
                  <a:srgbClr val="1A1A1A"/>
                </a:solidFill>
                <a:latin typeface="Calibri" pitchFamily="34" charset="0"/>
                <a:ea typeface="Calibri" pitchFamily="34" charset="-122"/>
                <a:cs typeface="Calibri" pitchFamily="34" charset="-120"/>
              </a:rPr>
              <a:t>Safety-critical</a:t>
            </a:r>
            <a:endParaRPr lang="en-US" sz="1600" dirty="0"/>
          </a:p>
          <a:p>
            <a:pPr marL="0" indent="0" algn="ctr">
              <a:buNone/>
            </a:pPr>
            <a:r>
              <a:rPr lang="en-US" sz="1600" b="1" dirty="0">
                <a:solidFill>
                  <a:srgbClr val="1A1A1A"/>
                </a:solidFill>
                <a:latin typeface="Calibri" pitchFamily="34" charset="0"/>
                <a:ea typeface="Calibri" pitchFamily="34" charset="-122"/>
                <a:cs typeface="Calibri" pitchFamily="34" charset="-120"/>
              </a:rPr>
              <a:t>simulation</a:t>
            </a:r>
            <a:endParaRPr lang="en-US" sz="1600" dirty="0"/>
          </a:p>
        </p:txBody>
      </p:sp>
      <p:sp>
        <p:nvSpPr>
          <p:cNvPr id="28" name="Text 26"/>
          <p:cNvSpPr/>
          <p:nvPr/>
        </p:nvSpPr>
        <p:spPr>
          <a:xfrm>
            <a:off x="548640" y="3907626"/>
            <a:ext cx="10972800" cy="365760"/>
          </a:xfrm>
          <a:prstGeom prst="rect">
            <a:avLst/>
          </a:prstGeom>
          <a:noFill/>
          <a:ln/>
        </p:spPr>
        <p:txBody>
          <a:bodyPr wrap="square" lIns="0" tIns="0" rIns="0" bIns="0" rtlCol="0" anchor="ctr"/>
          <a:lstStyle/>
          <a:p>
            <a:pPr marL="0" indent="0">
              <a:buNone/>
            </a:pPr>
            <a:r>
              <a:rPr lang="en-US" b="1" i="1" dirty="0">
                <a:solidFill>
                  <a:srgbClr val="500778"/>
                </a:solidFill>
                <a:latin typeface="Calibri" pitchFamily="34" charset="0"/>
                <a:ea typeface="Calibri" pitchFamily="34" charset="-122"/>
                <a:cs typeface="Calibri" pitchFamily="34" charset="-120"/>
              </a:rPr>
              <a:t>This project treats the challenge as a research platform — not as a competition submission.</a:t>
            </a:r>
            <a:endParaRPr lang="en-US" dirty="0"/>
          </a:p>
        </p:txBody>
      </p:sp>
      <p:sp>
        <p:nvSpPr>
          <p:cNvPr id="29" name="Text 27"/>
          <p:cNvSpPr/>
          <p:nvPr/>
        </p:nvSpPr>
        <p:spPr>
          <a:xfrm>
            <a:off x="548640" y="4531992"/>
            <a:ext cx="10972800" cy="274320"/>
          </a:xfrm>
          <a:prstGeom prst="rect">
            <a:avLst/>
          </a:prstGeom>
          <a:noFill/>
          <a:ln/>
        </p:spPr>
        <p:txBody>
          <a:bodyPr wrap="square" lIns="0" tIns="0" rIns="0" bIns="0" rtlCol="0" anchor="ctr"/>
          <a:lstStyle/>
          <a:p>
            <a:pPr marL="0" indent="0">
              <a:buNone/>
            </a:pPr>
            <a:r>
              <a:rPr lang="en-US" sz="2400" b="1" dirty="0">
                <a:solidFill>
                  <a:srgbClr val="1A1A1A"/>
                </a:solidFill>
                <a:latin typeface="Calibri" pitchFamily="34" charset="0"/>
                <a:ea typeface="Calibri" pitchFamily="34" charset="-122"/>
                <a:cs typeface="Calibri" pitchFamily="34" charset="-120"/>
              </a:rPr>
              <a:t>What the project will deliver</a:t>
            </a:r>
          </a:p>
        </p:txBody>
      </p:sp>
      <p:sp>
        <p:nvSpPr>
          <p:cNvPr id="30" name="Shape 28"/>
          <p:cNvSpPr/>
          <p:nvPr/>
        </p:nvSpPr>
        <p:spPr>
          <a:xfrm>
            <a:off x="548640" y="4937760"/>
            <a:ext cx="3515258" cy="1417320"/>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a:p>
        </p:txBody>
      </p:sp>
      <p:sp>
        <p:nvSpPr>
          <p:cNvPr id="31" name="Shape 29"/>
          <p:cNvSpPr/>
          <p:nvPr/>
        </p:nvSpPr>
        <p:spPr>
          <a:xfrm>
            <a:off x="548640" y="4937760"/>
            <a:ext cx="91440" cy="1417320"/>
          </a:xfrm>
          <a:prstGeom prst="rect">
            <a:avLst/>
          </a:prstGeom>
          <a:solidFill>
            <a:srgbClr val="500778"/>
          </a:solidFill>
          <a:ln/>
        </p:spPr>
        <p:txBody>
          <a:bodyPr/>
          <a:lstStyle/>
          <a:p>
            <a:endParaRPr lang="zh-CN" altLang="en-US"/>
          </a:p>
        </p:txBody>
      </p:sp>
      <p:sp>
        <p:nvSpPr>
          <p:cNvPr id="32" name="Text 30"/>
          <p:cNvSpPr/>
          <p:nvPr/>
        </p:nvSpPr>
        <p:spPr>
          <a:xfrm>
            <a:off x="777240" y="5059488"/>
            <a:ext cx="548640" cy="274320"/>
          </a:xfrm>
          <a:prstGeom prst="rect">
            <a:avLst/>
          </a:prstGeom>
          <a:noFill/>
          <a:ln/>
        </p:spPr>
        <p:txBody>
          <a:bodyPr wrap="square" lIns="0" tIns="0" rIns="0" bIns="0" rtlCol="0" anchor="ctr"/>
          <a:lstStyle/>
          <a:p>
            <a:pPr marL="0" indent="0">
              <a:buNone/>
            </a:pPr>
            <a:r>
              <a:rPr lang="en-US" sz="1600" b="1" dirty="0">
                <a:solidFill>
                  <a:srgbClr val="500778"/>
                </a:solidFill>
                <a:latin typeface="Calibri" pitchFamily="34" charset="0"/>
                <a:ea typeface="Calibri" pitchFamily="34" charset="-122"/>
                <a:cs typeface="Calibri" pitchFamily="34" charset="-120"/>
              </a:rPr>
              <a:t>01</a:t>
            </a:r>
            <a:endParaRPr lang="en-US" sz="1600" dirty="0"/>
          </a:p>
        </p:txBody>
      </p:sp>
      <p:sp>
        <p:nvSpPr>
          <p:cNvPr id="33" name="Text 31"/>
          <p:cNvSpPr/>
          <p:nvPr/>
        </p:nvSpPr>
        <p:spPr>
          <a:xfrm>
            <a:off x="777240" y="5349240"/>
            <a:ext cx="3149498" cy="320040"/>
          </a:xfrm>
          <a:prstGeom prst="rect">
            <a:avLst/>
          </a:prstGeom>
          <a:noFill/>
          <a:ln/>
        </p:spPr>
        <p:txBody>
          <a:bodyPr wrap="square" lIns="0" tIns="0" rIns="0" bIns="0" rtlCol="0" anchor="ctr"/>
          <a:lstStyle/>
          <a:p>
            <a:pPr marL="0" indent="0">
              <a:buNone/>
            </a:pPr>
            <a:r>
              <a:rPr lang="en-US" sz="1600" b="1" dirty="0">
                <a:solidFill>
                  <a:srgbClr val="1A1A1A"/>
                </a:solidFill>
                <a:latin typeface="Calibri" pitchFamily="34" charset="0"/>
                <a:ea typeface="Calibri" pitchFamily="34" charset="-122"/>
                <a:cs typeface="Calibri" pitchFamily="34" charset="-120"/>
              </a:rPr>
              <a:t>Reproducible pipeline</a:t>
            </a:r>
            <a:endParaRPr lang="en-US" sz="1600" dirty="0"/>
          </a:p>
        </p:txBody>
      </p:sp>
      <p:sp>
        <p:nvSpPr>
          <p:cNvPr id="34" name="Text 32"/>
          <p:cNvSpPr/>
          <p:nvPr/>
        </p:nvSpPr>
        <p:spPr>
          <a:xfrm>
            <a:off x="777240" y="5715000"/>
            <a:ext cx="3149498" cy="594360"/>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WOMD scenarios → Waymax → 32-rollout submission. Three baselines scored against the official meta-metric.</a:t>
            </a:r>
            <a:endParaRPr lang="en-US" sz="1400" dirty="0"/>
          </a:p>
        </p:txBody>
      </p:sp>
      <p:sp>
        <p:nvSpPr>
          <p:cNvPr id="35" name="Shape 33"/>
          <p:cNvSpPr/>
          <p:nvPr/>
        </p:nvSpPr>
        <p:spPr>
          <a:xfrm>
            <a:off x="4338218" y="4937760"/>
            <a:ext cx="3515258" cy="1417320"/>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a:p>
        </p:txBody>
      </p:sp>
      <p:sp>
        <p:nvSpPr>
          <p:cNvPr id="36" name="Shape 34"/>
          <p:cNvSpPr/>
          <p:nvPr/>
        </p:nvSpPr>
        <p:spPr>
          <a:xfrm>
            <a:off x="4338218" y="4937760"/>
            <a:ext cx="91440" cy="1417320"/>
          </a:xfrm>
          <a:prstGeom prst="rect">
            <a:avLst/>
          </a:prstGeom>
          <a:solidFill>
            <a:srgbClr val="500778"/>
          </a:solidFill>
          <a:ln/>
        </p:spPr>
        <p:txBody>
          <a:bodyPr/>
          <a:lstStyle/>
          <a:p>
            <a:endParaRPr lang="zh-CN" altLang="en-US"/>
          </a:p>
        </p:txBody>
      </p:sp>
      <p:sp>
        <p:nvSpPr>
          <p:cNvPr id="37" name="Text 35"/>
          <p:cNvSpPr/>
          <p:nvPr/>
        </p:nvSpPr>
        <p:spPr>
          <a:xfrm>
            <a:off x="4566818" y="5059488"/>
            <a:ext cx="548640" cy="274320"/>
          </a:xfrm>
          <a:prstGeom prst="rect">
            <a:avLst/>
          </a:prstGeom>
          <a:noFill/>
          <a:ln/>
        </p:spPr>
        <p:txBody>
          <a:bodyPr wrap="square" lIns="0" tIns="0" rIns="0" bIns="0" rtlCol="0" anchor="ctr"/>
          <a:lstStyle/>
          <a:p>
            <a:pPr marL="0" indent="0">
              <a:buNone/>
            </a:pPr>
            <a:r>
              <a:rPr lang="en-US" sz="1600" b="1" dirty="0">
                <a:solidFill>
                  <a:srgbClr val="500778"/>
                </a:solidFill>
                <a:latin typeface="Calibri" pitchFamily="34" charset="0"/>
                <a:ea typeface="Calibri" pitchFamily="34" charset="-122"/>
                <a:cs typeface="Calibri" pitchFamily="34" charset="-120"/>
              </a:rPr>
              <a:t>02</a:t>
            </a:r>
            <a:endParaRPr lang="en-US" sz="1600" dirty="0"/>
          </a:p>
        </p:txBody>
      </p:sp>
      <p:sp>
        <p:nvSpPr>
          <p:cNvPr id="38" name="Text 36"/>
          <p:cNvSpPr/>
          <p:nvPr/>
        </p:nvSpPr>
        <p:spPr>
          <a:xfrm>
            <a:off x="4566818" y="5349240"/>
            <a:ext cx="3149498" cy="320040"/>
          </a:xfrm>
          <a:prstGeom prst="rect">
            <a:avLst/>
          </a:prstGeom>
          <a:noFill/>
          <a:ln/>
        </p:spPr>
        <p:txBody>
          <a:bodyPr wrap="square" lIns="0" tIns="0" rIns="0" bIns="0" rtlCol="0" anchor="ctr"/>
          <a:lstStyle/>
          <a:p>
            <a:pPr marL="0" indent="0">
              <a:buNone/>
            </a:pPr>
            <a:r>
              <a:rPr lang="en-US" sz="1600" b="1" dirty="0">
                <a:solidFill>
                  <a:srgbClr val="1A1A1A"/>
                </a:solidFill>
                <a:latin typeface="Calibri" pitchFamily="34" charset="0"/>
                <a:ea typeface="Calibri" pitchFamily="34" charset="-122"/>
                <a:cs typeface="Calibri" pitchFamily="34" charset="-120"/>
              </a:rPr>
              <a:t>Focused sim-agent design</a:t>
            </a:r>
            <a:endParaRPr lang="en-US" sz="1600" dirty="0"/>
          </a:p>
        </p:txBody>
      </p:sp>
      <p:sp>
        <p:nvSpPr>
          <p:cNvPr id="39" name="Text 37"/>
          <p:cNvSpPr/>
          <p:nvPr/>
        </p:nvSpPr>
        <p:spPr>
          <a:xfrm>
            <a:off x="4566818" y="5715000"/>
            <a:ext cx="3149498" cy="594360"/>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One model targeting a single capability — closed-loop stability, interaction realism, map adherence, or multimodal generation.</a:t>
            </a:r>
            <a:endParaRPr lang="en-US" sz="1400" dirty="0"/>
          </a:p>
        </p:txBody>
      </p:sp>
      <p:sp>
        <p:nvSpPr>
          <p:cNvPr id="40" name="Shape 38"/>
          <p:cNvSpPr/>
          <p:nvPr/>
        </p:nvSpPr>
        <p:spPr>
          <a:xfrm>
            <a:off x="8127797" y="4937760"/>
            <a:ext cx="3515258" cy="1417320"/>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a:p>
        </p:txBody>
      </p:sp>
      <p:sp>
        <p:nvSpPr>
          <p:cNvPr id="41" name="Shape 39"/>
          <p:cNvSpPr/>
          <p:nvPr/>
        </p:nvSpPr>
        <p:spPr>
          <a:xfrm>
            <a:off x="8127797" y="4937760"/>
            <a:ext cx="91440" cy="1417320"/>
          </a:xfrm>
          <a:prstGeom prst="rect">
            <a:avLst/>
          </a:prstGeom>
          <a:solidFill>
            <a:srgbClr val="500778"/>
          </a:solidFill>
          <a:ln/>
        </p:spPr>
        <p:txBody>
          <a:bodyPr/>
          <a:lstStyle/>
          <a:p>
            <a:endParaRPr lang="zh-CN" altLang="en-US"/>
          </a:p>
        </p:txBody>
      </p:sp>
      <p:sp>
        <p:nvSpPr>
          <p:cNvPr id="42" name="Text 40"/>
          <p:cNvSpPr/>
          <p:nvPr/>
        </p:nvSpPr>
        <p:spPr>
          <a:xfrm>
            <a:off x="8356397" y="5059488"/>
            <a:ext cx="548640" cy="274320"/>
          </a:xfrm>
          <a:prstGeom prst="rect">
            <a:avLst/>
          </a:prstGeom>
          <a:noFill/>
          <a:ln/>
        </p:spPr>
        <p:txBody>
          <a:bodyPr wrap="square" lIns="0" tIns="0" rIns="0" bIns="0" rtlCol="0" anchor="ctr"/>
          <a:lstStyle/>
          <a:p>
            <a:pPr marL="0" indent="0">
              <a:buNone/>
            </a:pPr>
            <a:r>
              <a:rPr lang="en-US" sz="1600" b="1" dirty="0">
                <a:solidFill>
                  <a:srgbClr val="500778"/>
                </a:solidFill>
                <a:latin typeface="Calibri" pitchFamily="34" charset="0"/>
                <a:ea typeface="Calibri" pitchFamily="34" charset="-122"/>
                <a:cs typeface="Calibri" pitchFamily="34" charset="-120"/>
              </a:rPr>
              <a:t>03</a:t>
            </a:r>
            <a:endParaRPr lang="en-US" sz="1600" dirty="0"/>
          </a:p>
        </p:txBody>
      </p:sp>
      <p:sp>
        <p:nvSpPr>
          <p:cNvPr id="43" name="Text 41"/>
          <p:cNvSpPr/>
          <p:nvPr/>
        </p:nvSpPr>
        <p:spPr>
          <a:xfrm>
            <a:off x="8356397" y="5349240"/>
            <a:ext cx="3149498" cy="320040"/>
          </a:xfrm>
          <a:prstGeom prst="rect">
            <a:avLst/>
          </a:prstGeom>
          <a:noFill/>
          <a:ln/>
        </p:spPr>
        <p:txBody>
          <a:bodyPr wrap="square" lIns="0" tIns="0" rIns="0" bIns="0" rtlCol="0" anchor="ctr"/>
          <a:lstStyle/>
          <a:p>
            <a:pPr marL="0" indent="0">
              <a:buNone/>
            </a:pPr>
            <a:r>
              <a:rPr lang="en-US" sz="1600" b="1" dirty="0">
                <a:solidFill>
                  <a:srgbClr val="1A1A1A"/>
                </a:solidFill>
                <a:latin typeface="Calibri" pitchFamily="34" charset="0"/>
                <a:ea typeface="Calibri" pitchFamily="34" charset="-122"/>
                <a:cs typeface="Calibri" pitchFamily="34" charset="-120"/>
              </a:rPr>
              <a:t>Failure-mode analysis</a:t>
            </a:r>
            <a:endParaRPr lang="en-US" sz="1600" dirty="0"/>
          </a:p>
        </p:txBody>
      </p:sp>
      <p:sp>
        <p:nvSpPr>
          <p:cNvPr id="44" name="Text 42"/>
          <p:cNvSpPr/>
          <p:nvPr/>
        </p:nvSpPr>
        <p:spPr>
          <a:xfrm>
            <a:off x="8356397" y="5715000"/>
            <a:ext cx="3149498" cy="594360"/>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Evidence of what the design improves, where it still fails, and how it compares with simple baselines.</a:t>
            </a:r>
            <a:endParaRPr lang="en-US" sz="1400" dirty="0"/>
          </a:p>
        </p:txBody>
      </p:sp>
      <p:cxnSp>
        <p:nvCxnSpPr>
          <p:cNvPr id="49" name="直接连接符 48">
            <a:extLst>
              <a:ext uri="{FF2B5EF4-FFF2-40B4-BE49-F238E27FC236}">
                <a16:creationId xmlns:a16="http://schemas.microsoft.com/office/drawing/2014/main" id="{D3DB316A-C5F6-F0FB-1A7A-11BC7B7FC0F7}"/>
              </a:ext>
            </a:extLst>
          </p:cNvPr>
          <p:cNvCxnSpPr>
            <a:cxnSpLocks/>
          </p:cNvCxnSpPr>
          <p:nvPr/>
        </p:nvCxnSpPr>
        <p:spPr>
          <a:xfrm>
            <a:off x="548640" y="1105176"/>
            <a:ext cx="10545775" cy="0"/>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56" name="图片 55">
            <a:extLst>
              <a:ext uri="{FF2B5EF4-FFF2-40B4-BE49-F238E27FC236}">
                <a16:creationId xmlns:a16="http://schemas.microsoft.com/office/drawing/2014/main" id="{68F4B2E7-357E-2586-0522-7CD1EAAF434A}"/>
              </a:ext>
            </a:extLst>
          </p:cNvPr>
          <p:cNvPicPr>
            <a:picLocks noChangeAspect="1"/>
          </p:cNvPicPr>
          <p:nvPr/>
        </p:nvPicPr>
        <p:blipFill>
          <a:blip r:embed="rId3"/>
          <a:stretch>
            <a:fillRect/>
          </a:stretch>
        </p:blipFill>
        <p:spPr>
          <a:xfrm>
            <a:off x="10985315" y="117279"/>
            <a:ext cx="1048895" cy="29420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00778"/>
          </a:solidFill>
          <a:ln/>
        </p:spPr>
        <p:txBody>
          <a:bodyPr/>
          <a:lstStyle/>
          <a:p>
            <a:endParaRPr lang="zh-CN" altLang="en-US"/>
          </a:p>
        </p:txBody>
      </p:sp>
      <p:sp>
        <p:nvSpPr>
          <p:cNvPr id="3" name="Text 1"/>
          <p:cNvSpPr/>
          <p:nvPr/>
        </p:nvSpPr>
        <p:spPr>
          <a:xfrm>
            <a:off x="548640" y="411480"/>
            <a:ext cx="11094415" cy="685800"/>
          </a:xfrm>
          <a:prstGeom prst="rect">
            <a:avLst/>
          </a:prstGeom>
          <a:noFill/>
          <a:ln/>
        </p:spPr>
        <p:txBody>
          <a:bodyPr wrap="square" lIns="0" tIns="0" rIns="0" bIns="0" rtlCol="0" anchor="ctr"/>
          <a:lstStyle/>
          <a:p>
            <a:pPr marL="0" indent="0" algn="l">
              <a:buNone/>
            </a:pPr>
            <a:r>
              <a:rPr lang="en-US" sz="3000" b="1" dirty="0">
                <a:solidFill>
                  <a:srgbClr val="500778"/>
                </a:solidFill>
                <a:latin typeface="Calibri" pitchFamily="34" charset="0"/>
                <a:ea typeface="Calibri" pitchFamily="34" charset="-122"/>
                <a:cs typeface="Calibri" pitchFamily="34" charset="-120"/>
              </a:rPr>
              <a:t>Background: why realistic simulation matters</a:t>
            </a:r>
            <a:endParaRPr lang="en-US" sz="3000" dirty="0"/>
          </a:p>
        </p:txBody>
      </p:sp>
      <p:sp>
        <p:nvSpPr>
          <p:cNvPr id="5" name="Text 3"/>
          <p:cNvSpPr/>
          <p:nvPr/>
        </p:nvSpPr>
        <p:spPr>
          <a:xfrm>
            <a:off x="11094415" y="6492240"/>
            <a:ext cx="548640" cy="274320"/>
          </a:xfrm>
          <a:prstGeom prst="rect">
            <a:avLst/>
          </a:prstGeom>
          <a:noFill/>
          <a:ln/>
        </p:spPr>
        <p:txBody>
          <a:bodyPr wrap="square" lIns="0" tIns="0" rIns="0" bIns="0" rtlCol="0" anchor="ctr"/>
          <a:lstStyle/>
          <a:p>
            <a:pPr marL="0" indent="0" algn="r">
              <a:buNone/>
            </a:pPr>
            <a:r>
              <a:rPr lang="en-US" sz="1000" b="1" dirty="0">
                <a:solidFill>
                  <a:srgbClr val="500778"/>
                </a:solidFill>
                <a:latin typeface="Calibri" pitchFamily="34" charset="0"/>
                <a:ea typeface="Calibri" pitchFamily="34" charset="-122"/>
                <a:cs typeface="Calibri" pitchFamily="34" charset="-120"/>
              </a:rPr>
              <a:t>02</a:t>
            </a:r>
            <a:endParaRPr lang="en-US" sz="1000" dirty="0"/>
          </a:p>
        </p:txBody>
      </p:sp>
      <p:sp>
        <p:nvSpPr>
          <p:cNvPr id="6" name="Shape 4"/>
          <p:cNvSpPr/>
          <p:nvPr/>
        </p:nvSpPr>
        <p:spPr>
          <a:xfrm>
            <a:off x="548640" y="1371600"/>
            <a:ext cx="5394960" cy="3474720"/>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a:p>
        </p:txBody>
      </p:sp>
      <p:sp>
        <p:nvSpPr>
          <p:cNvPr id="7" name="Shape 5"/>
          <p:cNvSpPr/>
          <p:nvPr/>
        </p:nvSpPr>
        <p:spPr>
          <a:xfrm>
            <a:off x="548640" y="1371600"/>
            <a:ext cx="73152" cy="3474720"/>
          </a:xfrm>
          <a:prstGeom prst="rect">
            <a:avLst/>
          </a:prstGeom>
          <a:solidFill>
            <a:srgbClr val="500778"/>
          </a:solidFill>
          <a:ln/>
        </p:spPr>
        <p:txBody>
          <a:bodyPr/>
          <a:lstStyle/>
          <a:p>
            <a:endParaRPr lang="zh-CN" altLang="en-US"/>
          </a:p>
        </p:txBody>
      </p:sp>
      <p:sp>
        <p:nvSpPr>
          <p:cNvPr id="8" name="Text 6"/>
          <p:cNvSpPr/>
          <p:nvPr/>
        </p:nvSpPr>
        <p:spPr>
          <a:xfrm>
            <a:off x="777240" y="1508760"/>
            <a:ext cx="5029200" cy="457200"/>
          </a:xfrm>
          <a:prstGeom prst="rect">
            <a:avLst/>
          </a:prstGeom>
          <a:noFill/>
          <a:ln/>
        </p:spPr>
        <p:txBody>
          <a:bodyPr wrap="square" lIns="0" tIns="0" rIns="0" bIns="0" rtlCol="0" anchor="ctr"/>
          <a:lstStyle/>
          <a:p>
            <a:pPr marL="0" indent="0">
              <a:buNone/>
            </a:pPr>
            <a:r>
              <a:rPr lang="en-US" sz="2400" b="1" dirty="0">
                <a:solidFill>
                  <a:srgbClr val="500778"/>
                </a:solidFill>
                <a:latin typeface="Calibri" pitchFamily="34" charset="0"/>
                <a:ea typeface="Calibri" pitchFamily="34" charset="-122"/>
                <a:cs typeface="Calibri" pitchFamily="34" charset="-120"/>
              </a:rPr>
              <a:t>Real-world testing alone is not enough</a:t>
            </a:r>
            <a:endParaRPr lang="en-US" sz="2400" dirty="0"/>
          </a:p>
        </p:txBody>
      </p:sp>
      <p:sp>
        <p:nvSpPr>
          <p:cNvPr id="9" name="Text 7"/>
          <p:cNvSpPr/>
          <p:nvPr/>
        </p:nvSpPr>
        <p:spPr>
          <a:xfrm>
            <a:off x="868680" y="2011680"/>
            <a:ext cx="4937760" cy="2651760"/>
          </a:xfrm>
          <a:prstGeom prst="rect">
            <a:avLst/>
          </a:prstGeom>
          <a:noFill/>
          <a:ln/>
        </p:spPr>
        <p:txBody>
          <a:bodyPr wrap="square" lIns="0" tIns="0" rIns="0" bIns="0" rtlCol="0" anchor="ctr"/>
          <a:lstStyle/>
          <a:p>
            <a:pPr marL="342900" indent="-342900">
              <a:spcAft>
                <a:spcPts val="600"/>
              </a:spcAft>
              <a:buSzPct val="100000"/>
              <a:buChar char="•"/>
            </a:pPr>
            <a:r>
              <a:rPr lang="en-US" sz="2000" dirty="0">
                <a:solidFill>
                  <a:srgbClr val="1A1A1A"/>
                </a:solidFill>
                <a:latin typeface="Calibri" pitchFamily="34" charset="0"/>
                <a:ea typeface="Calibri" pitchFamily="34" charset="-122"/>
                <a:cs typeface="Calibri" pitchFamily="34" charset="-120"/>
              </a:rPr>
              <a:t>expensive to scale</a:t>
            </a:r>
            <a:endParaRPr lang="en-US" sz="2000" dirty="0"/>
          </a:p>
          <a:p>
            <a:pPr marL="342900" indent="-342900">
              <a:spcAft>
                <a:spcPts val="600"/>
              </a:spcAft>
              <a:buSzPct val="100000"/>
              <a:buChar char="•"/>
            </a:pPr>
            <a:r>
              <a:rPr lang="en-US" sz="2000" dirty="0">
                <a:solidFill>
                  <a:srgbClr val="1A1A1A"/>
                </a:solidFill>
                <a:latin typeface="Calibri" pitchFamily="34" charset="0"/>
                <a:ea typeface="Calibri" pitchFamily="34" charset="-122"/>
                <a:cs typeface="Calibri" pitchFamily="34" charset="-120"/>
              </a:rPr>
              <a:t>rare or risky scenarios appear infrequently</a:t>
            </a:r>
            <a:endParaRPr lang="en-US" sz="2000" dirty="0"/>
          </a:p>
          <a:p>
            <a:pPr marL="342900" indent="-342900">
              <a:spcAft>
                <a:spcPts val="600"/>
              </a:spcAft>
              <a:buSzPct val="100000"/>
              <a:buChar char="•"/>
            </a:pPr>
            <a:r>
              <a:rPr lang="en-US" sz="2000" dirty="0">
                <a:solidFill>
                  <a:srgbClr val="1A1A1A"/>
                </a:solidFill>
                <a:latin typeface="Calibri" pitchFamily="34" charset="0"/>
                <a:ea typeface="Calibri" pitchFamily="34" charset="-122"/>
                <a:cs typeface="Calibri" pitchFamily="34" charset="-120"/>
              </a:rPr>
              <a:t>evaluation feedback is slow and noisy</a:t>
            </a:r>
            <a:endParaRPr lang="en-US" sz="2000" dirty="0"/>
          </a:p>
          <a:p>
            <a:pPr marL="342900" indent="-342900">
              <a:spcAft>
                <a:spcPts val="600"/>
              </a:spcAft>
              <a:buSzPct val="100000"/>
              <a:buChar char="•"/>
            </a:pPr>
            <a:r>
              <a:rPr lang="en-US" sz="2000" dirty="0">
                <a:solidFill>
                  <a:srgbClr val="1A1A1A"/>
                </a:solidFill>
                <a:latin typeface="Calibri" pitchFamily="34" charset="0"/>
                <a:ea typeface="Calibri" pitchFamily="34" charset="-122"/>
                <a:cs typeface="Calibri" pitchFamily="34" charset="-120"/>
              </a:rPr>
              <a:t>hard to attribute failures to specific behaviours</a:t>
            </a:r>
            <a:endParaRPr lang="en-US" sz="2000" dirty="0"/>
          </a:p>
        </p:txBody>
      </p:sp>
      <p:sp>
        <p:nvSpPr>
          <p:cNvPr id="10" name="Shape 8"/>
          <p:cNvSpPr/>
          <p:nvPr/>
        </p:nvSpPr>
        <p:spPr>
          <a:xfrm>
            <a:off x="6263640" y="1371600"/>
            <a:ext cx="5394960" cy="3474720"/>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sz="2400"/>
          </a:p>
        </p:txBody>
      </p:sp>
      <p:sp>
        <p:nvSpPr>
          <p:cNvPr id="11" name="Shape 9"/>
          <p:cNvSpPr/>
          <p:nvPr/>
        </p:nvSpPr>
        <p:spPr>
          <a:xfrm>
            <a:off x="6263640" y="1371600"/>
            <a:ext cx="73152" cy="3474720"/>
          </a:xfrm>
          <a:prstGeom prst="rect">
            <a:avLst/>
          </a:prstGeom>
          <a:solidFill>
            <a:srgbClr val="500778"/>
          </a:solidFill>
          <a:ln/>
        </p:spPr>
        <p:txBody>
          <a:bodyPr/>
          <a:lstStyle/>
          <a:p>
            <a:endParaRPr lang="zh-CN" altLang="en-US"/>
          </a:p>
        </p:txBody>
      </p:sp>
      <p:sp>
        <p:nvSpPr>
          <p:cNvPr id="12" name="Text 10"/>
          <p:cNvSpPr/>
          <p:nvPr/>
        </p:nvSpPr>
        <p:spPr>
          <a:xfrm>
            <a:off x="6537960" y="1554480"/>
            <a:ext cx="5029200" cy="457200"/>
          </a:xfrm>
          <a:prstGeom prst="rect">
            <a:avLst/>
          </a:prstGeom>
          <a:noFill/>
          <a:ln/>
        </p:spPr>
        <p:txBody>
          <a:bodyPr wrap="square" lIns="0" tIns="0" rIns="0" bIns="0" rtlCol="0" anchor="ctr"/>
          <a:lstStyle/>
          <a:p>
            <a:pPr marL="0" indent="0">
              <a:buNone/>
            </a:pPr>
            <a:r>
              <a:rPr lang="en-US" sz="2400" b="1" dirty="0">
                <a:solidFill>
                  <a:srgbClr val="500778"/>
                </a:solidFill>
                <a:latin typeface="Calibri" pitchFamily="34" charset="0"/>
                <a:ea typeface="Calibri" pitchFamily="34" charset="-122"/>
                <a:cs typeface="Calibri" pitchFamily="34" charset="-120"/>
              </a:rPr>
              <a:t>Simulation provides a scalable alternative</a:t>
            </a:r>
            <a:endParaRPr lang="en-US" sz="2400" dirty="0"/>
          </a:p>
        </p:txBody>
      </p:sp>
      <p:sp>
        <p:nvSpPr>
          <p:cNvPr id="13" name="Text 11"/>
          <p:cNvSpPr/>
          <p:nvPr/>
        </p:nvSpPr>
        <p:spPr>
          <a:xfrm>
            <a:off x="6583680" y="2011680"/>
            <a:ext cx="4937760" cy="2651760"/>
          </a:xfrm>
          <a:prstGeom prst="rect">
            <a:avLst/>
          </a:prstGeom>
          <a:noFill/>
          <a:ln/>
        </p:spPr>
        <p:txBody>
          <a:bodyPr wrap="square" lIns="0" tIns="0" rIns="0" bIns="0" rtlCol="0" anchor="ctr"/>
          <a:lstStyle/>
          <a:p>
            <a:pPr marL="342900" indent="-342900">
              <a:spcAft>
                <a:spcPts val="600"/>
              </a:spcAft>
              <a:buSzPct val="100000"/>
              <a:buChar char="•"/>
            </a:pPr>
            <a:r>
              <a:rPr lang="en-US" sz="2000" dirty="0">
                <a:solidFill>
                  <a:srgbClr val="1A1A1A"/>
                </a:solidFill>
                <a:latin typeface="Calibri" pitchFamily="34" charset="0"/>
                <a:ea typeface="Calibri" pitchFamily="34" charset="-122"/>
                <a:cs typeface="Calibri" pitchFamily="34" charset="-120"/>
              </a:rPr>
              <a:t>test rare or risky scenarios at scale</a:t>
            </a:r>
            <a:endParaRPr lang="en-US" sz="2000" dirty="0"/>
          </a:p>
          <a:p>
            <a:pPr marL="342900" indent="-342900">
              <a:spcAft>
                <a:spcPts val="600"/>
              </a:spcAft>
              <a:buSzPct val="100000"/>
              <a:buChar char="•"/>
            </a:pPr>
            <a:r>
              <a:rPr lang="en-US" sz="2000" dirty="0">
                <a:solidFill>
                  <a:srgbClr val="1A1A1A"/>
                </a:solidFill>
                <a:latin typeface="Calibri" pitchFamily="34" charset="0"/>
                <a:ea typeface="Calibri" pitchFamily="34" charset="-122"/>
                <a:cs typeface="Calibri" pitchFamily="34" charset="-120"/>
              </a:rPr>
              <a:t>evaluate planning and behaviour models</a:t>
            </a:r>
            <a:endParaRPr lang="en-US" sz="2000" dirty="0"/>
          </a:p>
          <a:p>
            <a:pPr marL="342900" indent="-342900">
              <a:spcAft>
                <a:spcPts val="600"/>
              </a:spcAft>
              <a:buSzPct val="100000"/>
              <a:buChar char="•"/>
            </a:pPr>
            <a:r>
              <a:rPr lang="en-US" sz="2000" dirty="0">
                <a:solidFill>
                  <a:srgbClr val="1A1A1A"/>
                </a:solidFill>
                <a:latin typeface="Calibri" pitchFamily="34" charset="0"/>
                <a:ea typeface="Calibri" pitchFamily="34" charset="-122"/>
                <a:cs typeface="Calibri" pitchFamily="34" charset="-120"/>
              </a:rPr>
              <a:t>study multi-agent interactions in closed loop</a:t>
            </a:r>
            <a:endParaRPr lang="en-US" sz="2000" dirty="0"/>
          </a:p>
          <a:p>
            <a:pPr marL="342900" indent="-342900">
              <a:spcAft>
                <a:spcPts val="600"/>
              </a:spcAft>
              <a:buSzPct val="100000"/>
              <a:buChar char="•"/>
            </a:pPr>
            <a:r>
              <a:rPr lang="en-US" sz="2000" dirty="0">
                <a:solidFill>
                  <a:srgbClr val="1A1A1A"/>
                </a:solidFill>
                <a:latin typeface="Calibri" pitchFamily="34" charset="0"/>
                <a:ea typeface="Calibri" pitchFamily="34" charset="-122"/>
                <a:cs typeface="Calibri" pitchFamily="34" charset="-120"/>
              </a:rPr>
              <a:t>reduce real-world testing cost</a:t>
            </a:r>
            <a:endParaRPr lang="en-US" sz="2000" dirty="0"/>
          </a:p>
        </p:txBody>
      </p:sp>
      <p:sp>
        <p:nvSpPr>
          <p:cNvPr id="14" name="Shape 12"/>
          <p:cNvSpPr/>
          <p:nvPr/>
        </p:nvSpPr>
        <p:spPr>
          <a:xfrm>
            <a:off x="548640" y="5029200"/>
            <a:ext cx="11094415" cy="777240"/>
          </a:xfrm>
          <a:prstGeom prst="rect">
            <a:avLst/>
          </a:prstGeom>
          <a:solidFill>
            <a:srgbClr val="500778"/>
          </a:solidFill>
          <a:ln/>
        </p:spPr>
        <p:txBody>
          <a:bodyPr/>
          <a:lstStyle/>
          <a:p>
            <a:endParaRPr lang="zh-CN" altLang="en-US"/>
          </a:p>
        </p:txBody>
      </p:sp>
      <p:sp>
        <p:nvSpPr>
          <p:cNvPr id="15" name="Text 13"/>
          <p:cNvSpPr/>
          <p:nvPr/>
        </p:nvSpPr>
        <p:spPr>
          <a:xfrm>
            <a:off x="777240" y="5029200"/>
            <a:ext cx="10637215" cy="777240"/>
          </a:xfrm>
          <a:prstGeom prst="rect">
            <a:avLst/>
          </a:prstGeom>
          <a:noFill/>
          <a:ln/>
        </p:spPr>
        <p:txBody>
          <a:bodyPr wrap="square" lIns="0" tIns="0" rIns="0" bIns="0" rtlCol="0" anchor="ctr"/>
          <a:lstStyle/>
          <a:p>
            <a:pPr marL="0" indent="0" algn="ctr">
              <a:buNone/>
            </a:pPr>
            <a:r>
              <a:rPr lang="en-US" sz="2000" i="1" dirty="0">
                <a:solidFill>
                  <a:srgbClr val="FFFFFF"/>
                </a:solidFill>
                <a:latin typeface="Calibri" pitchFamily="34" charset="0"/>
                <a:ea typeface="Calibri" pitchFamily="34" charset="-122"/>
                <a:cs typeface="Calibri" pitchFamily="34" charset="-120"/>
              </a:rPr>
              <a:t>Simulation is useful only if the surrounding agents behave realistically.</a:t>
            </a:r>
            <a:endParaRPr lang="en-US" sz="2000" dirty="0"/>
          </a:p>
        </p:txBody>
      </p:sp>
      <p:sp>
        <p:nvSpPr>
          <p:cNvPr id="16" name="Text 14"/>
          <p:cNvSpPr/>
          <p:nvPr/>
        </p:nvSpPr>
        <p:spPr>
          <a:xfrm>
            <a:off x="548640" y="5989320"/>
            <a:ext cx="10972800" cy="365760"/>
          </a:xfrm>
          <a:prstGeom prst="rect">
            <a:avLst/>
          </a:prstGeom>
          <a:noFill/>
          <a:ln/>
        </p:spPr>
        <p:txBody>
          <a:bodyPr wrap="square" lIns="0" tIns="0" rIns="0" bIns="0" rtlCol="0" anchor="ctr"/>
          <a:lstStyle/>
          <a:p>
            <a:r>
              <a:rPr lang="en-US" b="1" i="1" dirty="0">
                <a:solidFill>
                  <a:srgbClr val="500778"/>
                </a:solidFill>
                <a:latin typeface="Calibri" pitchFamily="34" charset="0"/>
                <a:ea typeface="Calibri" pitchFamily="34" charset="-122"/>
                <a:cs typeface="Calibri" pitchFamily="34" charset="-120"/>
              </a:rPr>
              <a:t>The key problem is not replaying logs, but generating realistic interactive traffic </a:t>
            </a:r>
            <a:r>
              <a:rPr lang="en-US" b="1" i="1" dirty="0" err="1">
                <a:solidFill>
                  <a:srgbClr val="500778"/>
                </a:solidFill>
                <a:latin typeface="Calibri" pitchFamily="34" charset="0"/>
                <a:ea typeface="Calibri" pitchFamily="34" charset="-122"/>
                <a:cs typeface="Calibri" pitchFamily="34" charset="-120"/>
              </a:rPr>
              <a:t>behaviour</a:t>
            </a:r>
            <a:r>
              <a:rPr lang="en-US" b="1" i="1" dirty="0">
                <a:solidFill>
                  <a:srgbClr val="500778"/>
                </a:solidFill>
                <a:latin typeface="Calibri" pitchFamily="34" charset="0"/>
                <a:ea typeface="Calibri" pitchFamily="34" charset="-122"/>
                <a:cs typeface="Calibri" pitchFamily="34" charset="-120"/>
              </a:rPr>
              <a:t>.</a:t>
            </a:r>
          </a:p>
        </p:txBody>
      </p:sp>
      <p:pic>
        <p:nvPicPr>
          <p:cNvPr id="17" name="图片 16">
            <a:extLst>
              <a:ext uri="{FF2B5EF4-FFF2-40B4-BE49-F238E27FC236}">
                <a16:creationId xmlns:a16="http://schemas.microsoft.com/office/drawing/2014/main" id="{37F3FB32-A642-5361-0E90-D9CE4EAC324D}"/>
              </a:ext>
            </a:extLst>
          </p:cNvPr>
          <p:cNvPicPr>
            <a:picLocks noChangeAspect="1"/>
          </p:cNvPicPr>
          <p:nvPr/>
        </p:nvPicPr>
        <p:blipFill>
          <a:blip r:embed="rId3"/>
          <a:stretch>
            <a:fillRect/>
          </a:stretch>
        </p:blipFill>
        <p:spPr>
          <a:xfrm>
            <a:off x="10985315" y="117279"/>
            <a:ext cx="1048895" cy="294202"/>
          </a:xfrm>
          <a:prstGeom prst="rect">
            <a:avLst/>
          </a:prstGeom>
        </p:spPr>
      </p:pic>
      <p:cxnSp>
        <p:nvCxnSpPr>
          <p:cNvPr id="18" name="直接连接符 17">
            <a:extLst>
              <a:ext uri="{FF2B5EF4-FFF2-40B4-BE49-F238E27FC236}">
                <a16:creationId xmlns:a16="http://schemas.microsoft.com/office/drawing/2014/main" id="{91816261-B8FA-453B-EA74-E2AC281BF80A}"/>
              </a:ext>
            </a:extLst>
          </p:cNvPr>
          <p:cNvCxnSpPr>
            <a:cxnSpLocks/>
          </p:cNvCxnSpPr>
          <p:nvPr/>
        </p:nvCxnSpPr>
        <p:spPr>
          <a:xfrm>
            <a:off x="548640" y="1105176"/>
            <a:ext cx="10545775" cy="0"/>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00778"/>
          </a:solidFill>
          <a:ln/>
        </p:spPr>
        <p:txBody>
          <a:bodyPr/>
          <a:lstStyle/>
          <a:p>
            <a:endParaRPr lang="zh-CN" altLang="en-US"/>
          </a:p>
        </p:txBody>
      </p:sp>
      <p:sp>
        <p:nvSpPr>
          <p:cNvPr id="3" name="Text 1"/>
          <p:cNvSpPr/>
          <p:nvPr/>
        </p:nvSpPr>
        <p:spPr>
          <a:xfrm>
            <a:off x="548640" y="411480"/>
            <a:ext cx="11094415" cy="685800"/>
          </a:xfrm>
          <a:prstGeom prst="rect">
            <a:avLst/>
          </a:prstGeom>
          <a:noFill/>
          <a:ln/>
        </p:spPr>
        <p:txBody>
          <a:bodyPr wrap="square" lIns="0" tIns="0" rIns="0" bIns="0" rtlCol="0" anchor="ctr"/>
          <a:lstStyle/>
          <a:p>
            <a:pPr marL="0" indent="0" algn="l">
              <a:buNone/>
            </a:pPr>
            <a:r>
              <a:rPr lang="en-US" sz="3000" b="1" dirty="0">
                <a:solidFill>
                  <a:srgbClr val="500778"/>
                </a:solidFill>
                <a:latin typeface="Calibri" pitchFamily="34" charset="0"/>
                <a:ea typeface="Calibri" pitchFamily="34" charset="-122"/>
                <a:cs typeface="Calibri" pitchFamily="34" charset="-120"/>
              </a:rPr>
              <a:t>Task: simulating the future traffic world</a:t>
            </a:r>
            <a:endParaRPr lang="en-US" sz="3000" dirty="0"/>
          </a:p>
        </p:txBody>
      </p:sp>
      <p:sp>
        <p:nvSpPr>
          <p:cNvPr id="5" name="Text 3"/>
          <p:cNvSpPr/>
          <p:nvPr/>
        </p:nvSpPr>
        <p:spPr>
          <a:xfrm>
            <a:off x="11094415" y="6492240"/>
            <a:ext cx="548640" cy="274320"/>
          </a:xfrm>
          <a:prstGeom prst="rect">
            <a:avLst/>
          </a:prstGeom>
          <a:noFill/>
          <a:ln/>
        </p:spPr>
        <p:txBody>
          <a:bodyPr wrap="square" lIns="0" tIns="0" rIns="0" bIns="0" rtlCol="0" anchor="ctr"/>
          <a:lstStyle/>
          <a:p>
            <a:pPr marL="0" indent="0" algn="r">
              <a:buNone/>
            </a:pPr>
            <a:r>
              <a:rPr lang="en-US" sz="1000" b="1" dirty="0">
                <a:solidFill>
                  <a:srgbClr val="500778"/>
                </a:solidFill>
                <a:latin typeface="Calibri" pitchFamily="34" charset="0"/>
                <a:ea typeface="Calibri" pitchFamily="34" charset="-122"/>
                <a:cs typeface="Calibri" pitchFamily="34" charset="-120"/>
              </a:rPr>
              <a:t>03</a:t>
            </a:r>
            <a:endParaRPr lang="en-US" sz="1000" dirty="0"/>
          </a:p>
        </p:txBody>
      </p:sp>
      <p:sp>
        <p:nvSpPr>
          <p:cNvPr id="6" name="Text 4"/>
          <p:cNvSpPr/>
          <p:nvPr/>
        </p:nvSpPr>
        <p:spPr>
          <a:xfrm>
            <a:off x="548640" y="1371600"/>
            <a:ext cx="5486400" cy="274320"/>
          </a:xfrm>
          <a:prstGeom prst="rect">
            <a:avLst/>
          </a:prstGeom>
          <a:noFill/>
          <a:ln/>
        </p:spPr>
        <p:txBody>
          <a:bodyPr wrap="square" lIns="0" tIns="0" rIns="0" bIns="0" rtlCol="0" anchor="ctr"/>
          <a:lstStyle/>
          <a:p>
            <a:pPr marL="0" indent="0">
              <a:buNone/>
            </a:pPr>
            <a:r>
              <a:rPr lang="en-US" sz="2400" b="1" dirty="0">
                <a:solidFill>
                  <a:srgbClr val="6B6B6B"/>
                </a:solidFill>
                <a:latin typeface="Calibri" pitchFamily="34" charset="0"/>
                <a:ea typeface="Calibri" pitchFamily="34" charset="-122"/>
                <a:cs typeface="Calibri" pitchFamily="34" charset="-120"/>
              </a:rPr>
              <a:t>INPUT — PAST 1 SECOND</a:t>
            </a:r>
            <a:endParaRPr lang="en-US" sz="2400" dirty="0"/>
          </a:p>
        </p:txBody>
      </p:sp>
      <p:sp>
        <p:nvSpPr>
          <p:cNvPr id="7" name="Text 5"/>
          <p:cNvSpPr/>
          <p:nvPr/>
        </p:nvSpPr>
        <p:spPr>
          <a:xfrm>
            <a:off x="640080" y="1664208"/>
            <a:ext cx="5212080" cy="1417320"/>
          </a:xfrm>
          <a:prstGeom prst="rect">
            <a:avLst/>
          </a:prstGeom>
          <a:noFill/>
          <a:ln/>
        </p:spPr>
        <p:txBody>
          <a:bodyPr wrap="square" lIns="0" tIns="0" rIns="0" bIns="0" rtlCol="0" anchor="ctr"/>
          <a:lstStyle/>
          <a:p>
            <a:pPr marL="342900" indent="-342900">
              <a:spcAft>
                <a:spcPts val="300"/>
              </a:spcAft>
              <a:buSzPct val="100000"/>
              <a:buChar char="•"/>
            </a:pPr>
            <a:r>
              <a:rPr lang="en-US" dirty="0">
                <a:solidFill>
                  <a:srgbClr val="1A1A1A"/>
                </a:solidFill>
                <a:latin typeface="Calibri" pitchFamily="34" charset="0"/>
                <a:ea typeface="Calibri" pitchFamily="34" charset="-122"/>
                <a:cs typeface="Calibri" pitchFamily="34" charset="-120"/>
              </a:rPr>
              <a:t>Vehicle, pedestrian, cyclist states</a:t>
            </a:r>
            <a:endParaRPr lang="en-US" dirty="0"/>
          </a:p>
          <a:p>
            <a:pPr marL="342900" indent="-342900">
              <a:spcAft>
                <a:spcPts val="300"/>
              </a:spcAft>
              <a:buSzPct val="100000"/>
              <a:buChar char="•"/>
            </a:pPr>
            <a:r>
              <a:rPr lang="en-US" dirty="0">
                <a:solidFill>
                  <a:srgbClr val="1A1A1A"/>
                </a:solidFill>
                <a:latin typeface="Calibri" pitchFamily="34" charset="0"/>
                <a:ea typeface="Calibri" pitchFamily="34" charset="-122"/>
                <a:cs typeface="Calibri" pitchFamily="34" charset="-120"/>
              </a:rPr>
              <a:t>Autonomous-vehicle (ADV) state</a:t>
            </a:r>
            <a:endParaRPr lang="en-US" dirty="0"/>
          </a:p>
          <a:p>
            <a:pPr marL="342900" indent="-342900">
              <a:spcAft>
                <a:spcPts val="300"/>
              </a:spcAft>
              <a:buSzPct val="100000"/>
              <a:buChar char="•"/>
            </a:pPr>
            <a:r>
              <a:rPr lang="en-US" dirty="0">
                <a:solidFill>
                  <a:srgbClr val="1A1A1A"/>
                </a:solidFill>
                <a:latin typeface="Calibri" pitchFamily="34" charset="0"/>
                <a:ea typeface="Calibri" pitchFamily="34" charset="-122"/>
                <a:cs typeface="Calibri" pitchFamily="34" charset="-120"/>
              </a:rPr>
              <a:t>Road map and lane structure</a:t>
            </a:r>
            <a:endParaRPr lang="en-US" dirty="0"/>
          </a:p>
          <a:p>
            <a:pPr marL="342900" indent="-342900">
              <a:spcAft>
                <a:spcPts val="300"/>
              </a:spcAft>
              <a:buSzPct val="100000"/>
              <a:buChar char="•"/>
            </a:pPr>
            <a:r>
              <a:rPr lang="en-US" dirty="0">
                <a:solidFill>
                  <a:srgbClr val="1A1A1A"/>
                </a:solidFill>
                <a:latin typeface="Calibri" pitchFamily="34" charset="0"/>
                <a:ea typeface="Calibri" pitchFamily="34" charset="-122"/>
                <a:cs typeface="Calibri" pitchFamily="34" charset="-120"/>
              </a:rPr>
              <a:t>Traffic-light states</a:t>
            </a:r>
            <a:endParaRPr lang="en-US" dirty="0"/>
          </a:p>
        </p:txBody>
      </p:sp>
      <p:sp>
        <p:nvSpPr>
          <p:cNvPr id="8" name="Shape 6"/>
          <p:cNvSpPr/>
          <p:nvPr/>
        </p:nvSpPr>
        <p:spPr>
          <a:xfrm>
            <a:off x="548640" y="3271840"/>
            <a:ext cx="5349240" cy="502920"/>
          </a:xfrm>
          <a:prstGeom prst="rect">
            <a:avLst/>
          </a:prstGeom>
          <a:solidFill>
            <a:srgbClr val="500778"/>
          </a:solidFill>
          <a:ln/>
          <a:effectLst>
            <a:outerShdw blurRad="101600" dist="25400" dir="5400000" algn="bl" rotWithShape="0">
              <a:srgbClr val="000000">
                <a:alpha val="10000"/>
              </a:srgbClr>
            </a:outerShdw>
          </a:effectLst>
        </p:spPr>
        <p:txBody>
          <a:bodyPr/>
          <a:lstStyle/>
          <a:p>
            <a:endParaRPr lang="zh-CN" altLang="en-US"/>
          </a:p>
        </p:txBody>
      </p:sp>
      <p:sp>
        <p:nvSpPr>
          <p:cNvPr id="9" name="Text 7"/>
          <p:cNvSpPr/>
          <p:nvPr/>
        </p:nvSpPr>
        <p:spPr>
          <a:xfrm>
            <a:off x="548640" y="3271840"/>
            <a:ext cx="534924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Sim-agent model</a:t>
            </a:r>
            <a:endParaRPr lang="en-US" sz="2000" dirty="0"/>
          </a:p>
        </p:txBody>
      </p:sp>
      <p:sp>
        <p:nvSpPr>
          <p:cNvPr id="10" name="Text 8"/>
          <p:cNvSpPr/>
          <p:nvPr/>
        </p:nvSpPr>
        <p:spPr>
          <a:xfrm>
            <a:off x="548640" y="4169099"/>
            <a:ext cx="5486400" cy="274320"/>
          </a:xfrm>
          <a:prstGeom prst="rect">
            <a:avLst/>
          </a:prstGeom>
          <a:noFill/>
          <a:ln/>
        </p:spPr>
        <p:txBody>
          <a:bodyPr wrap="square" lIns="0" tIns="0" rIns="0" bIns="0" rtlCol="0" anchor="ctr"/>
          <a:lstStyle/>
          <a:p>
            <a:pPr marL="0" indent="0">
              <a:buNone/>
            </a:pPr>
            <a:r>
              <a:rPr lang="en-US" sz="2400" b="1" dirty="0">
                <a:solidFill>
                  <a:srgbClr val="6B6B6B"/>
                </a:solidFill>
                <a:latin typeface="Calibri" pitchFamily="34" charset="0"/>
                <a:ea typeface="Calibri" pitchFamily="34" charset="-122"/>
                <a:cs typeface="Calibri" pitchFamily="34" charset="-120"/>
              </a:rPr>
              <a:t>OUTPUT — 32 ROLLOUTS × 8 S</a:t>
            </a:r>
            <a:endParaRPr lang="en-US" sz="2400" dirty="0"/>
          </a:p>
        </p:txBody>
      </p:sp>
      <p:sp>
        <p:nvSpPr>
          <p:cNvPr id="11" name="Text 9"/>
          <p:cNvSpPr/>
          <p:nvPr/>
        </p:nvSpPr>
        <p:spPr>
          <a:xfrm>
            <a:off x="640080" y="4461707"/>
            <a:ext cx="5212080" cy="1280160"/>
          </a:xfrm>
          <a:prstGeom prst="rect">
            <a:avLst/>
          </a:prstGeom>
          <a:noFill/>
          <a:ln/>
        </p:spPr>
        <p:txBody>
          <a:bodyPr wrap="square" lIns="0" tIns="0" rIns="0" bIns="0" rtlCol="0" anchor="ctr"/>
          <a:lstStyle/>
          <a:p>
            <a:pPr marL="342900" indent="-342900">
              <a:spcAft>
                <a:spcPts val="300"/>
              </a:spcAft>
              <a:buSzPct val="100000"/>
              <a:buChar char="•"/>
            </a:pPr>
            <a:r>
              <a:rPr lang="en-US" dirty="0">
                <a:solidFill>
                  <a:srgbClr val="1A1A1A"/>
                </a:solidFill>
                <a:latin typeface="Calibri" pitchFamily="34" charset="0"/>
                <a:ea typeface="Calibri" pitchFamily="34" charset="-122"/>
                <a:cs typeface="Calibri" pitchFamily="34" charset="-120"/>
              </a:rPr>
              <a:t>Joint future for all agents (incl. ADV)</a:t>
            </a:r>
            <a:endParaRPr lang="en-US" dirty="0"/>
          </a:p>
          <a:p>
            <a:pPr marL="342900" indent="-342900">
              <a:spcAft>
                <a:spcPts val="300"/>
              </a:spcAft>
              <a:buSzPct val="100000"/>
              <a:buChar char="•"/>
            </a:pPr>
            <a:r>
              <a:rPr lang="en-US" dirty="0">
                <a:solidFill>
                  <a:srgbClr val="1A1A1A"/>
                </a:solidFill>
                <a:latin typeface="Calibri" pitchFamily="34" charset="0"/>
                <a:ea typeface="Calibri" pitchFamily="34" charset="-122"/>
                <a:cs typeface="Calibri" pitchFamily="34" charset="-120"/>
              </a:rPr>
              <a:t>Each agent: x, y, z position + heading</a:t>
            </a:r>
            <a:endParaRPr lang="en-US" dirty="0"/>
          </a:p>
          <a:p>
            <a:pPr marL="342900" indent="-342900">
              <a:spcAft>
                <a:spcPts val="300"/>
              </a:spcAft>
              <a:buSzPct val="100000"/>
              <a:buChar char="•"/>
            </a:pPr>
            <a:r>
              <a:rPr lang="en-US" dirty="0">
                <a:solidFill>
                  <a:srgbClr val="1A1A1A"/>
                </a:solidFill>
                <a:latin typeface="Calibri" pitchFamily="34" charset="0"/>
                <a:ea typeface="Calibri" pitchFamily="34" charset="-122"/>
                <a:cs typeface="Calibri" pitchFamily="34" charset="-120"/>
              </a:rPr>
              <a:t>32 stochastic rollouts per scenario</a:t>
            </a:r>
            <a:endParaRPr lang="en-US" dirty="0"/>
          </a:p>
        </p:txBody>
      </p:sp>
      <p:sp>
        <p:nvSpPr>
          <p:cNvPr id="12" name="Shape 10"/>
          <p:cNvSpPr/>
          <p:nvPr/>
        </p:nvSpPr>
        <p:spPr>
          <a:xfrm>
            <a:off x="5934456" y="1408176"/>
            <a:ext cx="5961888" cy="3401568"/>
          </a:xfrm>
          <a:prstGeom prst="rect">
            <a:avLst/>
          </a:prstGeom>
          <a:solidFill>
            <a:srgbClr val="500778"/>
          </a:solidFill>
          <a:ln/>
        </p:spPr>
        <p:txBody>
          <a:bodyPr/>
          <a:lstStyle/>
          <a:p>
            <a:endParaRPr lang="zh-CN" altLang="en-US"/>
          </a:p>
        </p:txBody>
      </p:sp>
      <p:pic>
        <p:nvPicPr>
          <p:cNvPr id="13" name="Image 0" descr="/home/uceems7/SimAgents/slides/assets/demonstrate.gif"/>
          <p:cNvPicPr>
            <a:picLocks noChangeAspect="1"/>
          </p:cNvPicPr>
          <p:nvPr/>
        </p:nvPicPr>
        <p:blipFill>
          <a:blip r:embed="rId3"/>
          <a:stretch>
            <a:fillRect/>
          </a:stretch>
        </p:blipFill>
        <p:spPr>
          <a:xfrm>
            <a:off x="5989320" y="1463040"/>
            <a:ext cx="5852160" cy="3291840"/>
          </a:xfrm>
          <a:prstGeom prst="rect">
            <a:avLst/>
          </a:prstGeom>
        </p:spPr>
      </p:pic>
      <p:sp>
        <p:nvSpPr>
          <p:cNvPr id="14" name="Text 11"/>
          <p:cNvSpPr/>
          <p:nvPr/>
        </p:nvSpPr>
        <p:spPr>
          <a:xfrm>
            <a:off x="5989320" y="4892040"/>
            <a:ext cx="5852160" cy="365760"/>
          </a:xfrm>
          <a:prstGeom prst="rect">
            <a:avLst/>
          </a:prstGeom>
          <a:noFill/>
          <a:ln/>
        </p:spPr>
        <p:txBody>
          <a:bodyPr wrap="square" lIns="0" tIns="0" rIns="0" bIns="0"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Example rollout — each box is a simulated agent (position + heading) over 8 s.</a:t>
            </a:r>
            <a:endParaRPr lang="en-US" sz="1400" dirty="0"/>
          </a:p>
        </p:txBody>
      </p:sp>
      <p:sp>
        <p:nvSpPr>
          <p:cNvPr id="15" name="Text 12"/>
          <p:cNvSpPr/>
          <p:nvPr/>
        </p:nvSpPr>
        <p:spPr>
          <a:xfrm>
            <a:off x="548640" y="5989320"/>
            <a:ext cx="10972800" cy="365760"/>
          </a:xfrm>
          <a:prstGeom prst="rect">
            <a:avLst/>
          </a:prstGeom>
          <a:noFill/>
          <a:ln/>
        </p:spPr>
        <p:txBody>
          <a:bodyPr wrap="square" lIns="0" tIns="0" rIns="0" bIns="0" rtlCol="0" anchor="ctr"/>
          <a:lstStyle/>
          <a:p>
            <a:pPr marL="0" indent="0">
              <a:buNone/>
            </a:pPr>
            <a:r>
              <a:rPr lang="en-US" b="1" i="1" dirty="0">
                <a:solidFill>
                  <a:srgbClr val="500778"/>
                </a:solidFill>
                <a:latin typeface="Calibri" pitchFamily="34" charset="0"/>
                <a:ea typeface="Calibri" pitchFamily="34" charset="-122"/>
                <a:cs typeface="Calibri" pitchFamily="34" charset="-120"/>
              </a:rPr>
              <a:t>The model acts as a traffic-world simulator: it generates how the whole scene evolves, not a single trajectory.</a:t>
            </a:r>
          </a:p>
        </p:txBody>
      </p:sp>
      <p:pic>
        <p:nvPicPr>
          <p:cNvPr id="16" name="图片 15">
            <a:extLst>
              <a:ext uri="{FF2B5EF4-FFF2-40B4-BE49-F238E27FC236}">
                <a16:creationId xmlns:a16="http://schemas.microsoft.com/office/drawing/2014/main" id="{8D8E13A5-37DD-36DD-88B9-4D8DFE8D0DCC}"/>
              </a:ext>
            </a:extLst>
          </p:cNvPr>
          <p:cNvPicPr>
            <a:picLocks noChangeAspect="1"/>
          </p:cNvPicPr>
          <p:nvPr/>
        </p:nvPicPr>
        <p:blipFill>
          <a:blip r:embed="rId4"/>
          <a:stretch>
            <a:fillRect/>
          </a:stretch>
        </p:blipFill>
        <p:spPr>
          <a:xfrm>
            <a:off x="10985315" y="117279"/>
            <a:ext cx="1048895" cy="294202"/>
          </a:xfrm>
          <a:prstGeom prst="rect">
            <a:avLst/>
          </a:prstGeom>
        </p:spPr>
      </p:pic>
      <p:sp>
        <p:nvSpPr>
          <p:cNvPr id="17" name="箭头: 圆角右 16">
            <a:extLst>
              <a:ext uri="{FF2B5EF4-FFF2-40B4-BE49-F238E27FC236}">
                <a16:creationId xmlns:a16="http://schemas.microsoft.com/office/drawing/2014/main" id="{2CE2B4C7-14CB-63E9-8CED-FE7B5DEB9F15}"/>
              </a:ext>
            </a:extLst>
          </p:cNvPr>
          <p:cNvSpPr/>
          <p:nvPr/>
        </p:nvSpPr>
        <p:spPr>
          <a:xfrm rot="5400000">
            <a:off x="4945906" y="2217359"/>
            <a:ext cx="823814" cy="790242"/>
          </a:xfrm>
          <a:prstGeom prst="bentArrow">
            <a:avLst>
              <a:gd name="adj1" fmla="val 25000"/>
              <a:gd name="adj2" fmla="val 25000"/>
              <a:gd name="adj3" fmla="val 25000"/>
              <a:gd name="adj4" fmla="val 43750"/>
            </a:avLst>
          </a:prstGeom>
          <a:solidFill>
            <a:srgbClr val="500778"/>
          </a:solidFill>
          <a:ln>
            <a:solidFill>
              <a:srgbClr val="5007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8" name="箭头: 圆角右 17">
            <a:extLst>
              <a:ext uri="{FF2B5EF4-FFF2-40B4-BE49-F238E27FC236}">
                <a16:creationId xmlns:a16="http://schemas.microsoft.com/office/drawing/2014/main" id="{CF59BA58-EA8E-E675-270C-B8D10516240C}"/>
              </a:ext>
            </a:extLst>
          </p:cNvPr>
          <p:cNvSpPr/>
          <p:nvPr/>
        </p:nvSpPr>
        <p:spPr>
          <a:xfrm rot="10800000">
            <a:off x="4805689" y="4359759"/>
            <a:ext cx="823814" cy="790242"/>
          </a:xfrm>
          <a:prstGeom prst="bentArrow">
            <a:avLst>
              <a:gd name="adj1" fmla="val 25000"/>
              <a:gd name="adj2" fmla="val 25000"/>
              <a:gd name="adj3" fmla="val 25000"/>
              <a:gd name="adj4" fmla="val 43750"/>
            </a:avLst>
          </a:prstGeom>
          <a:solidFill>
            <a:srgbClr val="500778"/>
          </a:solidFill>
          <a:ln>
            <a:solidFill>
              <a:srgbClr val="5007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19" name="直接连接符 18">
            <a:extLst>
              <a:ext uri="{FF2B5EF4-FFF2-40B4-BE49-F238E27FC236}">
                <a16:creationId xmlns:a16="http://schemas.microsoft.com/office/drawing/2014/main" id="{79CF89E0-8401-EE72-D0B3-D347C3B2C86E}"/>
              </a:ext>
            </a:extLst>
          </p:cNvPr>
          <p:cNvCxnSpPr>
            <a:cxnSpLocks/>
          </p:cNvCxnSpPr>
          <p:nvPr/>
        </p:nvCxnSpPr>
        <p:spPr>
          <a:xfrm>
            <a:off x="548640" y="1105176"/>
            <a:ext cx="10545775" cy="0"/>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00778"/>
          </a:solidFill>
          <a:ln/>
        </p:spPr>
        <p:txBody>
          <a:bodyPr/>
          <a:lstStyle/>
          <a:p>
            <a:endParaRPr lang="zh-CN" altLang="en-US"/>
          </a:p>
        </p:txBody>
      </p:sp>
      <p:sp>
        <p:nvSpPr>
          <p:cNvPr id="3" name="Text 1"/>
          <p:cNvSpPr/>
          <p:nvPr/>
        </p:nvSpPr>
        <p:spPr>
          <a:xfrm>
            <a:off x="548640" y="411480"/>
            <a:ext cx="11094415" cy="685800"/>
          </a:xfrm>
          <a:prstGeom prst="rect">
            <a:avLst/>
          </a:prstGeom>
          <a:noFill/>
          <a:ln/>
        </p:spPr>
        <p:txBody>
          <a:bodyPr wrap="square" lIns="0" tIns="0" rIns="0" bIns="0" rtlCol="0" anchor="ctr"/>
          <a:lstStyle/>
          <a:p>
            <a:pPr marL="0" indent="0" algn="l">
              <a:buNone/>
            </a:pPr>
            <a:r>
              <a:rPr lang="en-US" sz="3000" b="1" dirty="0">
                <a:solidFill>
                  <a:srgbClr val="500778"/>
                </a:solidFill>
                <a:latin typeface="Calibri" pitchFamily="34" charset="0"/>
                <a:ea typeface="Calibri" pitchFamily="34" charset="-122"/>
                <a:cs typeface="Calibri" pitchFamily="34" charset="-120"/>
              </a:rPr>
              <a:t>Framing: from competition task to sim-agent design problem</a:t>
            </a:r>
            <a:endParaRPr lang="en-US" sz="3000" dirty="0"/>
          </a:p>
        </p:txBody>
      </p:sp>
      <p:sp>
        <p:nvSpPr>
          <p:cNvPr id="5" name="Text 3"/>
          <p:cNvSpPr/>
          <p:nvPr/>
        </p:nvSpPr>
        <p:spPr>
          <a:xfrm>
            <a:off x="11094415" y="6492240"/>
            <a:ext cx="548640" cy="274320"/>
          </a:xfrm>
          <a:prstGeom prst="rect">
            <a:avLst/>
          </a:prstGeom>
          <a:noFill/>
          <a:ln/>
        </p:spPr>
        <p:txBody>
          <a:bodyPr wrap="square" lIns="0" tIns="0" rIns="0" bIns="0" rtlCol="0" anchor="ctr"/>
          <a:lstStyle/>
          <a:p>
            <a:pPr marL="0" indent="0" algn="r">
              <a:buNone/>
            </a:pPr>
            <a:r>
              <a:rPr lang="en-US" sz="1000" b="1" dirty="0">
                <a:solidFill>
                  <a:srgbClr val="500778"/>
                </a:solidFill>
                <a:latin typeface="Calibri" pitchFamily="34" charset="0"/>
                <a:ea typeface="Calibri" pitchFamily="34" charset="-122"/>
                <a:cs typeface="Calibri" pitchFamily="34" charset="-120"/>
              </a:rPr>
              <a:t>04</a:t>
            </a:r>
            <a:endParaRPr lang="en-US" sz="1000" dirty="0"/>
          </a:p>
        </p:txBody>
      </p:sp>
      <p:sp>
        <p:nvSpPr>
          <p:cNvPr id="6" name="Text 4"/>
          <p:cNvSpPr/>
          <p:nvPr/>
        </p:nvSpPr>
        <p:spPr>
          <a:xfrm>
            <a:off x="548640" y="1280160"/>
            <a:ext cx="10972800" cy="411480"/>
          </a:xfrm>
          <a:prstGeom prst="rect">
            <a:avLst/>
          </a:prstGeom>
          <a:noFill/>
          <a:ln/>
        </p:spPr>
        <p:txBody>
          <a:bodyPr wrap="square" lIns="0" tIns="0" rIns="0" bIns="0" rtlCol="0" anchor="ctr"/>
          <a:lstStyle/>
          <a:p>
            <a:pPr marL="0" indent="0">
              <a:buNone/>
            </a:pPr>
            <a:r>
              <a:rPr lang="en-US" sz="2000" dirty="0">
                <a:solidFill>
                  <a:srgbClr val="1A1A1A"/>
                </a:solidFill>
                <a:latin typeface="Calibri" pitchFamily="34" charset="0"/>
                <a:ea typeface="Calibri" pitchFamily="34" charset="-122"/>
                <a:cs typeface="Calibri" pitchFamily="34" charset="-120"/>
              </a:rPr>
              <a:t>I want to use </a:t>
            </a:r>
            <a:r>
              <a:rPr lang="en-GB" sz="2000" dirty="0">
                <a:solidFill>
                  <a:srgbClr val="1A1A1A"/>
                </a:solidFill>
                <a:latin typeface="Calibri" pitchFamily="34" charset="0"/>
                <a:ea typeface="Calibri" pitchFamily="34" charset="-122"/>
                <a:cs typeface="Calibri" pitchFamily="34" charset="-120"/>
              </a:rPr>
              <a:t>Waymo Open Sim Agents Challenge (</a:t>
            </a:r>
            <a:r>
              <a:rPr lang="en-US" sz="2000" dirty="0">
                <a:solidFill>
                  <a:srgbClr val="1A1A1A"/>
                </a:solidFill>
                <a:latin typeface="Calibri" pitchFamily="34" charset="0"/>
                <a:ea typeface="Calibri" pitchFamily="34" charset="-122"/>
                <a:cs typeface="Calibri" pitchFamily="34" charset="-120"/>
              </a:rPr>
              <a:t>WOSAC) as a controlled benchmark, not as a leaderboard target.</a:t>
            </a:r>
            <a:endParaRPr lang="en-US" sz="2000" dirty="0"/>
          </a:p>
        </p:txBody>
      </p:sp>
      <p:sp>
        <p:nvSpPr>
          <p:cNvPr id="7" name="Shape 5"/>
          <p:cNvSpPr/>
          <p:nvPr/>
        </p:nvSpPr>
        <p:spPr>
          <a:xfrm>
            <a:off x="548640" y="2011680"/>
            <a:ext cx="5364328" cy="3200400"/>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a:p>
        </p:txBody>
      </p:sp>
      <p:sp>
        <p:nvSpPr>
          <p:cNvPr id="8" name="Shape 6"/>
          <p:cNvSpPr/>
          <p:nvPr/>
        </p:nvSpPr>
        <p:spPr>
          <a:xfrm>
            <a:off x="548640" y="2011680"/>
            <a:ext cx="73152" cy="3200400"/>
          </a:xfrm>
          <a:prstGeom prst="rect">
            <a:avLst/>
          </a:prstGeom>
          <a:solidFill>
            <a:srgbClr val="6B6B6B"/>
          </a:solidFill>
          <a:ln/>
        </p:spPr>
        <p:txBody>
          <a:bodyPr/>
          <a:lstStyle/>
          <a:p>
            <a:endParaRPr lang="zh-CN" altLang="en-US"/>
          </a:p>
        </p:txBody>
      </p:sp>
      <p:sp>
        <p:nvSpPr>
          <p:cNvPr id="9" name="Text 7"/>
          <p:cNvSpPr/>
          <p:nvPr/>
        </p:nvSpPr>
        <p:spPr>
          <a:xfrm>
            <a:off x="777240" y="2240280"/>
            <a:ext cx="4907128" cy="320040"/>
          </a:xfrm>
          <a:prstGeom prst="rect">
            <a:avLst/>
          </a:prstGeom>
          <a:noFill/>
          <a:ln/>
        </p:spPr>
        <p:txBody>
          <a:bodyPr wrap="square" lIns="0" tIns="0" rIns="0" bIns="0" rtlCol="0" anchor="ctr"/>
          <a:lstStyle/>
          <a:p>
            <a:pPr marL="0" indent="0">
              <a:buNone/>
            </a:pPr>
            <a:r>
              <a:rPr lang="en-US" sz="2400" b="1" dirty="0">
                <a:solidFill>
                  <a:srgbClr val="6B6B6B"/>
                </a:solidFill>
                <a:latin typeface="Calibri" pitchFamily="34" charset="0"/>
                <a:ea typeface="Calibri" pitchFamily="34" charset="-122"/>
                <a:cs typeface="Calibri" pitchFamily="34" charset="-120"/>
              </a:rPr>
              <a:t>COMPETITION OBJECTIVE</a:t>
            </a:r>
            <a:endParaRPr lang="en-US" sz="2400" dirty="0"/>
          </a:p>
        </p:txBody>
      </p:sp>
      <p:sp>
        <p:nvSpPr>
          <p:cNvPr id="10" name="Text 8"/>
          <p:cNvSpPr/>
          <p:nvPr/>
        </p:nvSpPr>
        <p:spPr>
          <a:xfrm>
            <a:off x="777240" y="2651760"/>
            <a:ext cx="4907128" cy="640080"/>
          </a:xfrm>
          <a:prstGeom prst="rect">
            <a:avLst/>
          </a:prstGeom>
          <a:noFill/>
          <a:ln/>
        </p:spPr>
        <p:txBody>
          <a:bodyPr wrap="square" lIns="0" tIns="0" rIns="0" bIns="0" rtlCol="0" anchor="ctr"/>
          <a:lstStyle/>
          <a:p>
            <a:pPr marL="0" indent="0">
              <a:buNone/>
            </a:pPr>
            <a:r>
              <a:rPr lang="en-US" sz="1800" b="1" dirty="0">
                <a:solidFill>
                  <a:srgbClr val="1A1A1A"/>
                </a:solidFill>
                <a:latin typeface="Calibri" pitchFamily="34" charset="0"/>
                <a:ea typeface="Calibri" pitchFamily="34" charset="-122"/>
                <a:cs typeface="Calibri" pitchFamily="34" charset="-120"/>
              </a:rPr>
              <a:t>Submit 32 future rollouts per scenario.</a:t>
            </a:r>
            <a:endParaRPr lang="en-US" sz="1800" dirty="0"/>
          </a:p>
        </p:txBody>
      </p:sp>
      <p:sp>
        <p:nvSpPr>
          <p:cNvPr id="11" name="Text 9"/>
          <p:cNvSpPr/>
          <p:nvPr/>
        </p:nvSpPr>
        <p:spPr>
          <a:xfrm>
            <a:off x="850392" y="3634740"/>
            <a:ext cx="4815688" cy="1554480"/>
          </a:xfrm>
          <a:prstGeom prst="rect">
            <a:avLst/>
          </a:prstGeom>
          <a:noFill/>
          <a:ln/>
        </p:spPr>
        <p:txBody>
          <a:bodyPr wrap="square" lIns="0" tIns="0" rIns="0" bIns="0" rtlCol="0" anchor="ctr"/>
          <a:lstStyle/>
          <a:p>
            <a:pPr marL="342900" indent="-342900">
              <a:spcAft>
                <a:spcPts val="400"/>
              </a:spcAft>
              <a:buSzPct val="100000"/>
              <a:buChar char="•"/>
            </a:pPr>
            <a:r>
              <a:rPr lang="en-US" sz="2000" dirty="0">
                <a:solidFill>
                  <a:srgbClr val="1A1A1A"/>
                </a:solidFill>
                <a:latin typeface="Calibri" pitchFamily="34" charset="0"/>
                <a:ea typeface="Calibri" pitchFamily="34" charset="-122"/>
                <a:cs typeface="Calibri" pitchFamily="34" charset="-120"/>
              </a:rPr>
              <a:t>fixed format and metric</a:t>
            </a:r>
            <a:endParaRPr lang="en-US" sz="2000" dirty="0"/>
          </a:p>
          <a:p>
            <a:pPr marL="342900" indent="-342900">
              <a:spcAft>
                <a:spcPts val="400"/>
              </a:spcAft>
              <a:buSzPct val="100000"/>
              <a:buChar char="•"/>
            </a:pPr>
            <a:r>
              <a:rPr lang="en-US" sz="2000" dirty="0">
                <a:solidFill>
                  <a:srgbClr val="1A1A1A"/>
                </a:solidFill>
                <a:latin typeface="Calibri" pitchFamily="34" charset="0"/>
                <a:ea typeface="Calibri" pitchFamily="34" charset="-122"/>
                <a:cs typeface="Calibri" pitchFamily="34" charset="-120"/>
              </a:rPr>
              <a:t>leaderboard ranking</a:t>
            </a:r>
            <a:endParaRPr lang="en-US" sz="2000" dirty="0"/>
          </a:p>
          <a:p>
            <a:pPr marL="342900" indent="-342900">
              <a:spcAft>
                <a:spcPts val="400"/>
              </a:spcAft>
              <a:buSzPct val="100000"/>
              <a:buChar char="•"/>
            </a:pPr>
            <a:r>
              <a:rPr lang="en-US" sz="2000" dirty="0">
                <a:solidFill>
                  <a:srgbClr val="1A1A1A"/>
                </a:solidFill>
                <a:latin typeface="Calibri" pitchFamily="34" charset="0"/>
                <a:ea typeface="Calibri" pitchFamily="34" charset="-122"/>
                <a:cs typeface="Calibri" pitchFamily="34" charset="-120"/>
              </a:rPr>
              <a:t>test-set attempts: 3 per 30 days</a:t>
            </a:r>
            <a:endParaRPr lang="en-US" sz="2000" dirty="0"/>
          </a:p>
        </p:txBody>
      </p:sp>
      <p:sp>
        <p:nvSpPr>
          <p:cNvPr id="12" name="Shape 10"/>
          <p:cNvSpPr/>
          <p:nvPr/>
        </p:nvSpPr>
        <p:spPr>
          <a:xfrm>
            <a:off x="6278728" y="2011680"/>
            <a:ext cx="5364328" cy="3200400"/>
          </a:xfrm>
          <a:prstGeom prst="rect">
            <a:avLst/>
          </a:prstGeom>
          <a:solidFill>
            <a:srgbClr val="500778"/>
          </a:solidFill>
          <a:ln/>
          <a:effectLst>
            <a:outerShdw blurRad="101600" dist="25400" dir="5400000" algn="bl" rotWithShape="0">
              <a:srgbClr val="000000">
                <a:alpha val="10000"/>
              </a:srgbClr>
            </a:outerShdw>
          </a:effectLst>
        </p:spPr>
        <p:txBody>
          <a:bodyPr/>
          <a:lstStyle/>
          <a:p>
            <a:endParaRPr lang="zh-CN" altLang="en-US"/>
          </a:p>
        </p:txBody>
      </p:sp>
      <p:sp>
        <p:nvSpPr>
          <p:cNvPr id="13" name="Text 11"/>
          <p:cNvSpPr/>
          <p:nvPr/>
        </p:nvSpPr>
        <p:spPr>
          <a:xfrm>
            <a:off x="6507328" y="2240280"/>
            <a:ext cx="4907128" cy="320040"/>
          </a:xfrm>
          <a:prstGeom prst="rect">
            <a:avLst/>
          </a:prstGeom>
          <a:noFill/>
          <a:ln/>
        </p:spPr>
        <p:txBody>
          <a:bodyPr wrap="square" lIns="0" tIns="0" rIns="0" bIns="0" rtlCol="0" anchor="ctr"/>
          <a:lstStyle/>
          <a:p>
            <a:pPr marL="0" indent="0">
              <a:buNone/>
            </a:pPr>
            <a:r>
              <a:rPr lang="en-US" sz="2400" b="1" dirty="0">
                <a:solidFill>
                  <a:srgbClr val="E0D0EE"/>
                </a:solidFill>
                <a:latin typeface="Calibri" pitchFamily="34" charset="0"/>
                <a:ea typeface="Calibri" pitchFamily="34" charset="-122"/>
                <a:cs typeface="Calibri" pitchFamily="34" charset="-120"/>
              </a:rPr>
              <a:t>MY RESEARCH OBJECTIVE</a:t>
            </a:r>
            <a:endParaRPr lang="en-US" sz="2400" dirty="0"/>
          </a:p>
        </p:txBody>
      </p:sp>
      <p:sp>
        <p:nvSpPr>
          <p:cNvPr id="14" name="Text 12"/>
          <p:cNvSpPr/>
          <p:nvPr/>
        </p:nvSpPr>
        <p:spPr>
          <a:xfrm>
            <a:off x="6507328" y="2567464"/>
            <a:ext cx="4907128" cy="100584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Identify one modelling weakness and turn it into a strong sim-agent design.</a:t>
            </a:r>
            <a:endParaRPr lang="en-US" sz="1800" dirty="0"/>
          </a:p>
        </p:txBody>
      </p:sp>
      <p:sp>
        <p:nvSpPr>
          <p:cNvPr id="15" name="Text 13"/>
          <p:cNvSpPr/>
          <p:nvPr/>
        </p:nvSpPr>
        <p:spPr>
          <a:xfrm>
            <a:off x="6598768" y="3703320"/>
            <a:ext cx="4815688" cy="1417320"/>
          </a:xfrm>
          <a:prstGeom prst="rect">
            <a:avLst/>
          </a:prstGeom>
          <a:noFill/>
          <a:ln/>
        </p:spPr>
        <p:txBody>
          <a:bodyPr wrap="square" lIns="0" tIns="0" rIns="0" bIns="0" rtlCol="0" anchor="ctr"/>
          <a:lstStyle/>
          <a:p>
            <a:pPr marL="342900" indent="-342900">
              <a:spcAft>
                <a:spcPts val="400"/>
              </a:spcAft>
              <a:buSzPct val="100000"/>
              <a:buChar char="•"/>
            </a:pPr>
            <a:r>
              <a:rPr lang="en-US" sz="2000" dirty="0">
                <a:solidFill>
                  <a:srgbClr val="FFFFFF"/>
                </a:solidFill>
                <a:latin typeface="Calibri" pitchFamily="34" charset="0"/>
                <a:ea typeface="Calibri" pitchFamily="34" charset="-122"/>
                <a:cs typeface="Calibri" pitchFamily="34" charset="-120"/>
              </a:rPr>
              <a:t>diagnose where baselines fail</a:t>
            </a:r>
            <a:endParaRPr lang="en-US" sz="2000" dirty="0"/>
          </a:p>
          <a:p>
            <a:pPr marL="342900" indent="-342900">
              <a:spcAft>
                <a:spcPts val="400"/>
              </a:spcAft>
              <a:buSzPct val="100000"/>
              <a:buChar char="•"/>
            </a:pPr>
            <a:r>
              <a:rPr lang="en-US" sz="2000" dirty="0">
                <a:solidFill>
                  <a:srgbClr val="FFFFFF"/>
                </a:solidFill>
                <a:latin typeface="Calibri" pitchFamily="34" charset="0"/>
                <a:ea typeface="Calibri" pitchFamily="34" charset="-122"/>
                <a:cs typeface="Calibri" pitchFamily="34" charset="-120"/>
              </a:rPr>
              <a:t>isolate one capability to optimise</a:t>
            </a:r>
            <a:endParaRPr lang="en-US" sz="2000" dirty="0"/>
          </a:p>
          <a:p>
            <a:pPr marL="342900" indent="-342900">
              <a:spcAft>
                <a:spcPts val="400"/>
              </a:spcAft>
              <a:buSzPct val="100000"/>
              <a:buChar char="•"/>
            </a:pPr>
            <a:r>
              <a:rPr lang="en-US" sz="2000" dirty="0">
                <a:solidFill>
                  <a:srgbClr val="FFFFFF"/>
                </a:solidFill>
                <a:latin typeface="Calibri" pitchFamily="34" charset="0"/>
                <a:ea typeface="Calibri" pitchFamily="34" charset="-122"/>
                <a:cs typeface="Calibri" pitchFamily="34" charset="-120"/>
              </a:rPr>
              <a:t>evaluate what the design improves</a:t>
            </a:r>
            <a:endParaRPr lang="en-US" sz="2000" dirty="0"/>
          </a:p>
        </p:txBody>
      </p:sp>
      <p:sp>
        <p:nvSpPr>
          <p:cNvPr id="16" name="Text 14"/>
          <p:cNvSpPr/>
          <p:nvPr/>
        </p:nvSpPr>
        <p:spPr>
          <a:xfrm>
            <a:off x="548640" y="5532120"/>
            <a:ext cx="10972800" cy="457200"/>
          </a:xfrm>
          <a:prstGeom prst="rect">
            <a:avLst/>
          </a:prstGeom>
          <a:noFill/>
          <a:ln/>
        </p:spPr>
        <p:txBody>
          <a:bodyPr wrap="square" lIns="0" tIns="0" rIns="0" bIns="0" rtlCol="0" anchor="ctr"/>
          <a:lstStyle/>
          <a:p>
            <a:r>
              <a:rPr lang="en-US" b="1" i="1" dirty="0">
                <a:solidFill>
                  <a:srgbClr val="500778"/>
                </a:solidFill>
                <a:latin typeface="Calibri" pitchFamily="34" charset="0"/>
                <a:ea typeface="Calibri" pitchFamily="34" charset="-122"/>
                <a:cs typeface="Calibri" pitchFamily="34" charset="-120"/>
              </a:rPr>
              <a:t>WOSAC provides the dataset, simulator, metrics and protocol. My contribution is a focused model improvement.</a:t>
            </a:r>
          </a:p>
        </p:txBody>
      </p:sp>
      <p:pic>
        <p:nvPicPr>
          <p:cNvPr id="17" name="图片 16">
            <a:extLst>
              <a:ext uri="{FF2B5EF4-FFF2-40B4-BE49-F238E27FC236}">
                <a16:creationId xmlns:a16="http://schemas.microsoft.com/office/drawing/2014/main" id="{73E98397-75E9-E46D-C120-AD3B394D89EC}"/>
              </a:ext>
            </a:extLst>
          </p:cNvPr>
          <p:cNvPicPr>
            <a:picLocks noChangeAspect="1"/>
          </p:cNvPicPr>
          <p:nvPr/>
        </p:nvPicPr>
        <p:blipFill>
          <a:blip r:embed="rId3"/>
          <a:stretch>
            <a:fillRect/>
          </a:stretch>
        </p:blipFill>
        <p:spPr>
          <a:xfrm>
            <a:off x="10985315" y="117279"/>
            <a:ext cx="1048895" cy="294202"/>
          </a:xfrm>
          <a:prstGeom prst="rect">
            <a:avLst/>
          </a:prstGeom>
        </p:spPr>
      </p:pic>
      <p:cxnSp>
        <p:nvCxnSpPr>
          <p:cNvPr id="18" name="直接连接符 17">
            <a:extLst>
              <a:ext uri="{FF2B5EF4-FFF2-40B4-BE49-F238E27FC236}">
                <a16:creationId xmlns:a16="http://schemas.microsoft.com/office/drawing/2014/main" id="{E25E8D2A-0744-BCCA-875D-F18FB26C9CB8}"/>
              </a:ext>
            </a:extLst>
          </p:cNvPr>
          <p:cNvCxnSpPr>
            <a:cxnSpLocks/>
          </p:cNvCxnSpPr>
          <p:nvPr/>
        </p:nvCxnSpPr>
        <p:spPr>
          <a:xfrm>
            <a:off x="548640" y="1105176"/>
            <a:ext cx="10545775" cy="0"/>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00778"/>
          </a:solidFill>
          <a:ln/>
        </p:spPr>
        <p:txBody>
          <a:bodyPr/>
          <a:lstStyle/>
          <a:p>
            <a:endParaRPr lang="zh-CN" altLang="en-US"/>
          </a:p>
        </p:txBody>
      </p:sp>
      <p:sp>
        <p:nvSpPr>
          <p:cNvPr id="3" name="Text 1"/>
          <p:cNvSpPr/>
          <p:nvPr/>
        </p:nvSpPr>
        <p:spPr>
          <a:xfrm>
            <a:off x="548640" y="411480"/>
            <a:ext cx="11094415" cy="685800"/>
          </a:xfrm>
          <a:prstGeom prst="rect">
            <a:avLst/>
          </a:prstGeom>
          <a:noFill/>
          <a:ln/>
        </p:spPr>
        <p:txBody>
          <a:bodyPr wrap="square" lIns="0" tIns="0" rIns="0" bIns="0" rtlCol="0" anchor="ctr"/>
          <a:lstStyle/>
          <a:p>
            <a:pPr marL="0" indent="0" algn="l">
              <a:buNone/>
            </a:pPr>
            <a:r>
              <a:rPr lang="en-US" sz="3000" b="1" dirty="0">
                <a:solidFill>
                  <a:srgbClr val="500778"/>
                </a:solidFill>
                <a:latin typeface="Calibri" pitchFamily="34" charset="0"/>
                <a:ea typeface="Calibri" pitchFamily="34" charset="-122"/>
                <a:cs typeface="Calibri" pitchFamily="34" charset="-120"/>
              </a:rPr>
              <a:t>Benchmark platform: data, simulator, submission</a:t>
            </a:r>
            <a:endParaRPr lang="en-US" sz="3000" dirty="0"/>
          </a:p>
        </p:txBody>
      </p:sp>
      <p:sp>
        <p:nvSpPr>
          <p:cNvPr id="5" name="Text 3"/>
          <p:cNvSpPr/>
          <p:nvPr/>
        </p:nvSpPr>
        <p:spPr>
          <a:xfrm>
            <a:off x="11094415" y="6492240"/>
            <a:ext cx="548640" cy="274320"/>
          </a:xfrm>
          <a:prstGeom prst="rect">
            <a:avLst/>
          </a:prstGeom>
          <a:noFill/>
          <a:ln/>
        </p:spPr>
        <p:txBody>
          <a:bodyPr wrap="square" lIns="0" tIns="0" rIns="0" bIns="0" rtlCol="0" anchor="ctr"/>
          <a:lstStyle/>
          <a:p>
            <a:pPr marL="0" indent="0" algn="r">
              <a:buNone/>
            </a:pPr>
            <a:r>
              <a:rPr lang="en-US" sz="1000" b="1" dirty="0">
                <a:solidFill>
                  <a:srgbClr val="500778"/>
                </a:solidFill>
                <a:latin typeface="Calibri" pitchFamily="34" charset="0"/>
                <a:ea typeface="Calibri" pitchFamily="34" charset="-122"/>
                <a:cs typeface="Calibri" pitchFamily="34" charset="-120"/>
              </a:rPr>
              <a:t>05</a:t>
            </a:r>
            <a:endParaRPr lang="en-US" sz="1000" dirty="0"/>
          </a:p>
        </p:txBody>
      </p:sp>
      <p:sp>
        <p:nvSpPr>
          <p:cNvPr id="6" name="Shape 4"/>
          <p:cNvSpPr/>
          <p:nvPr/>
        </p:nvSpPr>
        <p:spPr>
          <a:xfrm>
            <a:off x="548640" y="1325880"/>
            <a:ext cx="5669280" cy="1325880"/>
          </a:xfrm>
          <a:prstGeom prst="rect">
            <a:avLst/>
          </a:prstGeom>
          <a:solidFill>
            <a:srgbClr val="F2EEF7"/>
          </a:solidFill>
          <a:ln/>
          <a:effectLst>
            <a:outerShdw blurRad="101600" dist="25400" dir="5400000" algn="bl" rotWithShape="0">
              <a:srgbClr val="000000">
                <a:alpha val="10000"/>
              </a:srgbClr>
            </a:outerShdw>
          </a:effectLst>
        </p:spPr>
        <p:txBody>
          <a:bodyPr/>
          <a:lstStyle/>
          <a:p>
            <a:endParaRPr lang="zh-CN" altLang="en-US"/>
          </a:p>
        </p:txBody>
      </p:sp>
      <p:sp>
        <p:nvSpPr>
          <p:cNvPr id="7" name="Shape 5"/>
          <p:cNvSpPr/>
          <p:nvPr/>
        </p:nvSpPr>
        <p:spPr>
          <a:xfrm>
            <a:off x="548640" y="1325880"/>
            <a:ext cx="109728" cy="1325880"/>
          </a:xfrm>
          <a:prstGeom prst="rect">
            <a:avLst/>
          </a:prstGeom>
          <a:solidFill>
            <a:srgbClr val="500778"/>
          </a:solidFill>
          <a:ln/>
        </p:spPr>
        <p:txBody>
          <a:bodyPr/>
          <a:lstStyle/>
          <a:p>
            <a:endParaRPr lang="zh-CN" altLang="en-US"/>
          </a:p>
        </p:txBody>
      </p:sp>
      <p:sp>
        <p:nvSpPr>
          <p:cNvPr id="8" name="Text 6"/>
          <p:cNvSpPr/>
          <p:nvPr/>
        </p:nvSpPr>
        <p:spPr>
          <a:xfrm>
            <a:off x="822960" y="1463040"/>
            <a:ext cx="5212080" cy="365760"/>
          </a:xfrm>
          <a:prstGeom prst="rect">
            <a:avLst/>
          </a:prstGeom>
          <a:noFill/>
          <a:ln/>
        </p:spPr>
        <p:txBody>
          <a:bodyPr wrap="square" lIns="0" tIns="0" rIns="0" bIns="0" rtlCol="0" anchor="ctr"/>
          <a:lstStyle/>
          <a:p>
            <a:pPr marL="0" indent="0">
              <a:buNone/>
            </a:pPr>
            <a:r>
              <a:rPr lang="en-US" sz="2400" b="1" dirty="0">
                <a:solidFill>
                  <a:srgbClr val="500778"/>
                </a:solidFill>
                <a:latin typeface="Calibri" pitchFamily="34" charset="0"/>
                <a:ea typeface="Calibri" pitchFamily="34" charset="-122"/>
                <a:cs typeface="Calibri" pitchFamily="34" charset="-120"/>
              </a:rPr>
              <a:t>Dataset — Waymo Open Motion Dataset</a:t>
            </a:r>
            <a:endParaRPr lang="en-US" sz="2400" dirty="0"/>
          </a:p>
        </p:txBody>
      </p:sp>
      <p:sp>
        <p:nvSpPr>
          <p:cNvPr id="9" name="Text 7"/>
          <p:cNvSpPr/>
          <p:nvPr/>
        </p:nvSpPr>
        <p:spPr>
          <a:xfrm>
            <a:off x="822960" y="1828800"/>
            <a:ext cx="5212080" cy="731520"/>
          </a:xfrm>
          <a:prstGeom prst="rect">
            <a:avLst/>
          </a:prstGeom>
          <a:noFill/>
          <a:ln/>
        </p:spPr>
        <p:txBody>
          <a:bodyPr wrap="square" lIns="0" tIns="0" rIns="0" bIns="0" rtlCol="0" anchor="ctr"/>
          <a:lstStyle/>
          <a:p>
            <a:pPr marL="0" indent="0">
              <a:buNone/>
            </a:pPr>
            <a:r>
              <a:rPr lang="en-US" dirty="0">
                <a:solidFill>
                  <a:srgbClr val="1A1A1A"/>
                </a:solidFill>
                <a:latin typeface="Calibri" pitchFamily="34" charset="0"/>
                <a:ea typeface="Calibri" pitchFamily="34" charset="-122"/>
                <a:cs typeface="Calibri" pitchFamily="34" charset="-120"/>
              </a:rPr>
              <a:t>Real-world scenarios: agent trajectories, object types, map features, traffic-light states.</a:t>
            </a:r>
            <a:endParaRPr lang="en-US" dirty="0"/>
          </a:p>
        </p:txBody>
      </p:sp>
      <p:sp>
        <p:nvSpPr>
          <p:cNvPr id="10" name="Shape 8"/>
          <p:cNvSpPr/>
          <p:nvPr/>
        </p:nvSpPr>
        <p:spPr>
          <a:xfrm>
            <a:off x="548640" y="2788920"/>
            <a:ext cx="5669280" cy="1325880"/>
          </a:xfrm>
          <a:prstGeom prst="rect">
            <a:avLst/>
          </a:prstGeom>
          <a:solidFill>
            <a:srgbClr val="F2EEF7"/>
          </a:solidFill>
          <a:ln/>
          <a:effectLst>
            <a:outerShdw blurRad="101600" dist="25400" dir="5400000" algn="bl" rotWithShape="0">
              <a:srgbClr val="000000">
                <a:alpha val="10000"/>
              </a:srgbClr>
            </a:outerShdw>
          </a:effectLst>
        </p:spPr>
        <p:txBody>
          <a:bodyPr/>
          <a:lstStyle/>
          <a:p>
            <a:endParaRPr lang="zh-CN" altLang="en-US"/>
          </a:p>
        </p:txBody>
      </p:sp>
      <p:sp>
        <p:nvSpPr>
          <p:cNvPr id="11" name="Shape 9"/>
          <p:cNvSpPr/>
          <p:nvPr/>
        </p:nvSpPr>
        <p:spPr>
          <a:xfrm>
            <a:off x="548640" y="2788920"/>
            <a:ext cx="109728" cy="1325880"/>
          </a:xfrm>
          <a:prstGeom prst="rect">
            <a:avLst/>
          </a:prstGeom>
          <a:solidFill>
            <a:srgbClr val="500778"/>
          </a:solidFill>
          <a:ln/>
        </p:spPr>
        <p:txBody>
          <a:bodyPr/>
          <a:lstStyle/>
          <a:p>
            <a:endParaRPr lang="zh-CN" altLang="en-US"/>
          </a:p>
        </p:txBody>
      </p:sp>
      <p:sp>
        <p:nvSpPr>
          <p:cNvPr id="12" name="Text 10"/>
          <p:cNvSpPr/>
          <p:nvPr/>
        </p:nvSpPr>
        <p:spPr>
          <a:xfrm>
            <a:off x="822960" y="2926080"/>
            <a:ext cx="5212080" cy="365760"/>
          </a:xfrm>
          <a:prstGeom prst="rect">
            <a:avLst/>
          </a:prstGeom>
          <a:noFill/>
          <a:ln/>
        </p:spPr>
        <p:txBody>
          <a:bodyPr wrap="square" lIns="0" tIns="0" rIns="0" bIns="0" rtlCol="0" anchor="ctr"/>
          <a:lstStyle/>
          <a:p>
            <a:pPr marL="0" indent="0">
              <a:buNone/>
            </a:pPr>
            <a:r>
              <a:rPr lang="en-US" sz="2400" b="1" dirty="0">
                <a:solidFill>
                  <a:srgbClr val="500778"/>
                </a:solidFill>
                <a:latin typeface="Calibri" pitchFamily="34" charset="0"/>
                <a:ea typeface="Calibri" pitchFamily="34" charset="-122"/>
                <a:cs typeface="Calibri" pitchFamily="34" charset="-120"/>
              </a:rPr>
              <a:t>Simulator — Waymax</a:t>
            </a:r>
            <a:endParaRPr lang="en-US" sz="2400" dirty="0"/>
          </a:p>
        </p:txBody>
      </p:sp>
      <p:sp>
        <p:nvSpPr>
          <p:cNvPr id="13" name="Text 11"/>
          <p:cNvSpPr/>
          <p:nvPr/>
        </p:nvSpPr>
        <p:spPr>
          <a:xfrm>
            <a:off x="822960" y="3291840"/>
            <a:ext cx="5212080" cy="731520"/>
          </a:xfrm>
          <a:prstGeom prst="rect">
            <a:avLst/>
          </a:prstGeom>
          <a:noFill/>
          <a:ln/>
        </p:spPr>
        <p:txBody>
          <a:bodyPr wrap="square" lIns="0" tIns="0" rIns="0" bIns="0" rtlCol="0" anchor="ctr"/>
          <a:lstStyle/>
          <a:p>
            <a:pPr marL="0" indent="0">
              <a:buNone/>
            </a:pPr>
            <a:r>
              <a:rPr lang="en-US" dirty="0">
                <a:solidFill>
                  <a:srgbClr val="1A1A1A"/>
                </a:solidFill>
                <a:latin typeface="Calibri" pitchFamily="34" charset="0"/>
                <a:ea typeface="Calibri" pitchFamily="34" charset="-122"/>
                <a:cs typeface="Calibri" pitchFamily="34" charset="-120"/>
              </a:rPr>
              <a:t>Scenario loading, multi-agent rollout interface, baseline agents, submission generation.</a:t>
            </a:r>
            <a:endParaRPr lang="en-US" dirty="0"/>
          </a:p>
        </p:txBody>
      </p:sp>
      <p:sp>
        <p:nvSpPr>
          <p:cNvPr id="14" name="Shape 12"/>
          <p:cNvSpPr/>
          <p:nvPr/>
        </p:nvSpPr>
        <p:spPr>
          <a:xfrm>
            <a:off x="548640" y="4251960"/>
            <a:ext cx="5669280" cy="1325880"/>
          </a:xfrm>
          <a:prstGeom prst="rect">
            <a:avLst/>
          </a:prstGeom>
          <a:solidFill>
            <a:srgbClr val="F2EEF7"/>
          </a:solidFill>
          <a:ln/>
          <a:effectLst>
            <a:outerShdw blurRad="101600" dist="25400" dir="5400000" algn="bl" rotWithShape="0">
              <a:srgbClr val="000000">
                <a:alpha val="10000"/>
              </a:srgbClr>
            </a:outerShdw>
          </a:effectLst>
        </p:spPr>
        <p:txBody>
          <a:bodyPr/>
          <a:lstStyle/>
          <a:p>
            <a:endParaRPr lang="zh-CN" altLang="en-US"/>
          </a:p>
        </p:txBody>
      </p:sp>
      <p:sp>
        <p:nvSpPr>
          <p:cNvPr id="15" name="Shape 13"/>
          <p:cNvSpPr/>
          <p:nvPr/>
        </p:nvSpPr>
        <p:spPr>
          <a:xfrm>
            <a:off x="548640" y="4251960"/>
            <a:ext cx="109728" cy="1325880"/>
          </a:xfrm>
          <a:prstGeom prst="rect">
            <a:avLst/>
          </a:prstGeom>
          <a:solidFill>
            <a:srgbClr val="500778"/>
          </a:solidFill>
          <a:ln/>
        </p:spPr>
        <p:txBody>
          <a:bodyPr/>
          <a:lstStyle/>
          <a:p>
            <a:endParaRPr lang="zh-CN" altLang="en-US"/>
          </a:p>
        </p:txBody>
      </p:sp>
      <p:sp>
        <p:nvSpPr>
          <p:cNvPr id="16" name="Text 14"/>
          <p:cNvSpPr/>
          <p:nvPr/>
        </p:nvSpPr>
        <p:spPr>
          <a:xfrm>
            <a:off x="822960" y="4300537"/>
            <a:ext cx="5212080" cy="365760"/>
          </a:xfrm>
          <a:prstGeom prst="rect">
            <a:avLst/>
          </a:prstGeom>
          <a:noFill/>
          <a:ln/>
        </p:spPr>
        <p:txBody>
          <a:bodyPr wrap="square" lIns="0" tIns="0" rIns="0" bIns="0" rtlCol="0" anchor="ctr"/>
          <a:lstStyle/>
          <a:p>
            <a:pPr marL="0" indent="0">
              <a:buNone/>
            </a:pPr>
            <a:r>
              <a:rPr lang="en-US" sz="2400" b="1" dirty="0">
                <a:solidFill>
                  <a:srgbClr val="500778"/>
                </a:solidFill>
                <a:latin typeface="Calibri" pitchFamily="34" charset="0"/>
                <a:ea typeface="Calibri" pitchFamily="34" charset="-122"/>
                <a:cs typeface="Calibri" pitchFamily="34" charset="-120"/>
              </a:rPr>
              <a:t>Rollout format</a:t>
            </a:r>
            <a:endParaRPr lang="en-US" sz="2400" dirty="0"/>
          </a:p>
        </p:txBody>
      </p:sp>
      <p:sp>
        <p:nvSpPr>
          <p:cNvPr id="17" name="Text 15"/>
          <p:cNvSpPr/>
          <p:nvPr/>
        </p:nvSpPr>
        <p:spPr>
          <a:xfrm>
            <a:off x="822960" y="4754880"/>
            <a:ext cx="5212080" cy="731520"/>
          </a:xfrm>
          <a:prstGeom prst="rect">
            <a:avLst/>
          </a:prstGeom>
          <a:noFill/>
          <a:ln/>
        </p:spPr>
        <p:txBody>
          <a:bodyPr wrap="square" lIns="0" tIns="0" rIns="0" bIns="0" rtlCol="0" anchor="ctr"/>
          <a:lstStyle/>
          <a:p>
            <a:pPr marL="0" indent="0">
              <a:buNone/>
            </a:pPr>
            <a:r>
              <a:rPr lang="en-US" dirty="0">
                <a:solidFill>
                  <a:srgbClr val="1A1A1A"/>
                </a:solidFill>
                <a:latin typeface="Calibri" pitchFamily="34" charset="0"/>
                <a:ea typeface="Calibri" pitchFamily="34" charset="-122"/>
                <a:cs typeface="Calibri" pitchFamily="34" charset="-120"/>
              </a:rPr>
              <a:t>32 rollouts × 8 s (80 steps @ 10 Hz). Position + heading per agent. 150 serialized protos per submission. 3 test-set attempts per 30 days.</a:t>
            </a:r>
            <a:endParaRPr lang="en-US" dirty="0"/>
          </a:p>
        </p:txBody>
      </p:sp>
      <p:sp>
        <p:nvSpPr>
          <p:cNvPr id="18" name="Text 16"/>
          <p:cNvSpPr/>
          <p:nvPr/>
        </p:nvSpPr>
        <p:spPr>
          <a:xfrm>
            <a:off x="6583680" y="1325880"/>
            <a:ext cx="5029200" cy="365760"/>
          </a:xfrm>
          <a:prstGeom prst="rect">
            <a:avLst/>
          </a:prstGeom>
          <a:noFill/>
          <a:ln/>
        </p:spPr>
        <p:txBody>
          <a:bodyPr wrap="square" lIns="0" tIns="0" rIns="0" bIns="0" rtlCol="0" anchor="ctr"/>
          <a:lstStyle/>
          <a:p>
            <a:pPr marL="0" indent="0">
              <a:buNone/>
            </a:pPr>
            <a:r>
              <a:rPr lang="en-US" sz="2400" b="1" dirty="0">
                <a:solidFill>
                  <a:srgbClr val="500778"/>
                </a:solidFill>
                <a:latin typeface="Calibri" pitchFamily="34" charset="0"/>
                <a:ea typeface="Calibri" pitchFamily="34" charset="-122"/>
                <a:cs typeface="Calibri" pitchFamily="34" charset="-120"/>
              </a:rPr>
              <a:t>Required factorization</a:t>
            </a:r>
            <a:endParaRPr lang="en-US" sz="2400" dirty="0"/>
          </a:p>
        </p:txBody>
      </p:sp>
      <p:pic>
        <p:nvPicPr>
          <p:cNvPr id="19" name="Image 0" descr="/home/uceems7/SimAgents/slides/assets/processed/factorization.png"/>
          <p:cNvPicPr>
            <a:picLocks noChangeAspect="1"/>
          </p:cNvPicPr>
          <p:nvPr/>
        </p:nvPicPr>
        <p:blipFill>
          <a:blip r:embed="rId3"/>
          <a:stretch>
            <a:fillRect/>
          </a:stretch>
        </p:blipFill>
        <p:spPr>
          <a:xfrm>
            <a:off x="6382512" y="2103120"/>
            <a:ext cx="5534635" cy="2002570"/>
          </a:xfrm>
          <a:prstGeom prst="rect">
            <a:avLst/>
          </a:prstGeom>
        </p:spPr>
      </p:pic>
      <p:sp>
        <p:nvSpPr>
          <p:cNvPr id="20" name="Text 17"/>
          <p:cNvSpPr/>
          <p:nvPr/>
        </p:nvSpPr>
        <p:spPr>
          <a:xfrm>
            <a:off x="6613855" y="4206240"/>
            <a:ext cx="5029200" cy="914400"/>
          </a:xfrm>
          <a:prstGeom prst="rect">
            <a:avLst/>
          </a:prstGeom>
          <a:noFill/>
          <a:ln/>
        </p:spPr>
        <p:txBody>
          <a:bodyPr wrap="square" lIns="0" tIns="0" rIns="0" bIns="0"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ADV (</a:t>
            </a:r>
            <a:r>
              <a:rPr lang="en-US" sz="1400" i="1" dirty="0">
                <a:solidFill>
                  <a:srgbClr val="7F7BF5"/>
                </a:solidFill>
                <a:latin typeface="Calibri" pitchFamily="34" charset="0"/>
                <a:ea typeface="Calibri" pitchFamily="34" charset="-122"/>
                <a:cs typeface="Calibri" pitchFamily="34" charset="-120"/>
              </a:rPr>
              <a:t>blue</a:t>
            </a:r>
            <a:r>
              <a:rPr lang="en-US" sz="1400" i="1" dirty="0">
                <a:solidFill>
                  <a:srgbClr val="6B6B6B"/>
                </a:solidFill>
                <a:latin typeface="Calibri" pitchFamily="34" charset="0"/>
                <a:ea typeface="Calibri" pitchFamily="34" charset="-122"/>
                <a:cs typeface="Calibri" pitchFamily="34" charset="-120"/>
              </a:rPr>
              <a:t>) and world (</a:t>
            </a:r>
            <a:r>
              <a:rPr lang="en-US" sz="1400" i="1" dirty="0">
                <a:solidFill>
                  <a:srgbClr val="F49A2A"/>
                </a:solidFill>
                <a:latin typeface="Calibri" pitchFamily="34" charset="0"/>
                <a:ea typeface="Calibri" pitchFamily="34" charset="-122"/>
                <a:cs typeface="Calibri" pitchFamily="34" charset="-120"/>
              </a:rPr>
              <a:t>orange</a:t>
            </a:r>
            <a:r>
              <a:rPr lang="en-US" sz="1400" i="1" dirty="0">
                <a:solidFill>
                  <a:srgbClr val="6B6B6B"/>
                </a:solidFill>
                <a:latin typeface="Calibri" pitchFamily="34" charset="0"/>
                <a:ea typeface="Calibri" pitchFamily="34" charset="-122"/>
                <a:cs typeface="Calibri" pitchFamily="34" charset="-120"/>
              </a:rPr>
              <a:t>) states must be conditionally independent given the previous joint state. Object dimensions are fixed from the final history frame.</a:t>
            </a:r>
            <a:endParaRPr lang="en-US" sz="1400" dirty="0"/>
          </a:p>
        </p:txBody>
      </p:sp>
      <p:sp>
        <p:nvSpPr>
          <p:cNvPr id="21" name="Text 18"/>
          <p:cNvSpPr/>
          <p:nvPr/>
        </p:nvSpPr>
        <p:spPr>
          <a:xfrm>
            <a:off x="548640" y="5989320"/>
            <a:ext cx="10972800" cy="365760"/>
          </a:xfrm>
          <a:prstGeom prst="rect">
            <a:avLst/>
          </a:prstGeom>
          <a:noFill/>
          <a:ln/>
        </p:spPr>
        <p:txBody>
          <a:bodyPr wrap="square" lIns="0" tIns="0" rIns="0" bIns="0" rtlCol="0" anchor="ctr"/>
          <a:lstStyle/>
          <a:p>
            <a:r>
              <a:rPr lang="en-US" b="1" i="1" dirty="0">
                <a:solidFill>
                  <a:srgbClr val="500778"/>
                </a:solidFill>
                <a:latin typeface="Calibri" pitchFamily="34" charset="0"/>
                <a:ea typeface="Calibri" pitchFamily="34" charset="-122"/>
                <a:cs typeface="Calibri" pitchFamily="34" charset="-120"/>
              </a:rPr>
              <a:t>A standardised environment for testing whether a sim-agent design improves realism.</a:t>
            </a:r>
          </a:p>
        </p:txBody>
      </p:sp>
      <p:pic>
        <p:nvPicPr>
          <p:cNvPr id="22" name="图片 21">
            <a:extLst>
              <a:ext uri="{FF2B5EF4-FFF2-40B4-BE49-F238E27FC236}">
                <a16:creationId xmlns:a16="http://schemas.microsoft.com/office/drawing/2014/main" id="{53BD8B36-9254-8C75-5D39-B2699688E70B}"/>
              </a:ext>
            </a:extLst>
          </p:cNvPr>
          <p:cNvPicPr>
            <a:picLocks noChangeAspect="1"/>
          </p:cNvPicPr>
          <p:nvPr/>
        </p:nvPicPr>
        <p:blipFill>
          <a:blip r:embed="rId4"/>
          <a:stretch>
            <a:fillRect/>
          </a:stretch>
        </p:blipFill>
        <p:spPr>
          <a:xfrm>
            <a:off x="10985315" y="117279"/>
            <a:ext cx="1048895" cy="294202"/>
          </a:xfrm>
          <a:prstGeom prst="rect">
            <a:avLst/>
          </a:prstGeom>
        </p:spPr>
      </p:pic>
      <p:cxnSp>
        <p:nvCxnSpPr>
          <p:cNvPr id="23" name="直接连接符 22">
            <a:extLst>
              <a:ext uri="{FF2B5EF4-FFF2-40B4-BE49-F238E27FC236}">
                <a16:creationId xmlns:a16="http://schemas.microsoft.com/office/drawing/2014/main" id="{FD158308-091E-0B75-994D-AF3A4636363E}"/>
              </a:ext>
            </a:extLst>
          </p:cNvPr>
          <p:cNvCxnSpPr>
            <a:cxnSpLocks/>
          </p:cNvCxnSpPr>
          <p:nvPr/>
        </p:nvCxnSpPr>
        <p:spPr>
          <a:xfrm>
            <a:off x="548640" y="1105176"/>
            <a:ext cx="10545775" cy="0"/>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603B2202-58EC-192D-9D6B-D5F7B486DC8E}"/>
              </a:ext>
            </a:extLst>
          </p:cNvPr>
          <p:cNvSpPr txBox="1"/>
          <p:nvPr/>
        </p:nvSpPr>
        <p:spPr>
          <a:xfrm>
            <a:off x="5639990" y="2971800"/>
            <a:ext cx="65" cy="276999"/>
          </a:xfrm>
          <a:prstGeom prst="rect">
            <a:avLst/>
          </a:prstGeom>
          <a:noFill/>
        </p:spPr>
        <p:txBody>
          <a:bodyPr wrap="none" lIns="0" tIns="0" rIns="0" bIns="0" rtlCol="0">
            <a:spAutoFit/>
          </a:bodyPr>
          <a:lstStyle/>
          <a:p>
            <a:endParaRPr lang="zh-CN" altLang="en-US" dirty="0"/>
          </a:p>
        </p:txBody>
      </p:sp>
      <p:sp>
        <p:nvSpPr>
          <p:cNvPr id="25" name="文本框 24">
            <a:extLst>
              <a:ext uri="{FF2B5EF4-FFF2-40B4-BE49-F238E27FC236}">
                <a16:creationId xmlns:a16="http://schemas.microsoft.com/office/drawing/2014/main" id="{4A076341-F5A5-602E-95E0-66CBD4ADC9B6}"/>
              </a:ext>
            </a:extLst>
          </p:cNvPr>
          <p:cNvSpPr txBox="1"/>
          <p:nvPr/>
        </p:nvSpPr>
        <p:spPr>
          <a:xfrm>
            <a:off x="5639990" y="2971800"/>
            <a:ext cx="65" cy="276999"/>
          </a:xfrm>
          <a:prstGeom prst="rect">
            <a:avLst/>
          </a:prstGeom>
          <a:noFill/>
        </p:spPr>
        <p:txBody>
          <a:bodyPr wrap="none" lIns="0" tIns="0" rIns="0" bIns="0" rtlCol="0">
            <a:spAutoFit/>
          </a:bodyPr>
          <a:lstStyle/>
          <a:p>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00778"/>
          </a:solidFill>
          <a:ln/>
        </p:spPr>
        <p:txBody>
          <a:bodyPr/>
          <a:lstStyle/>
          <a:p>
            <a:endParaRPr lang="zh-CN" altLang="en-US"/>
          </a:p>
        </p:txBody>
      </p:sp>
      <p:sp>
        <p:nvSpPr>
          <p:cNvPr id="3" name="Text 1"/>
          <p:cNvSpPr/>
          <p:nvPr/>
        </p:nvSpPr>
        <p:spPr>
          <a:xfrm>
            <a:off x="548640" y="411480"/>
            <a:ext cx="11094415" cy="685800"/>
          </a:xfrm>
          <a:prstGeom prst="rect">
            <a:avLst/>
          </a:prstGeom>
          <a:noFill/>
          <a:ln/>
        </p:spPr>
        <p:txBody>
          <a:bodyPr wrap="square" lIns="0" tIns="0" rIns="0" bIns="0" rtlCol="0" anchor="ctr"/>
          <a:lstStyle/>
          <a:p>
            <a:pPr marL="0" indent="0" algn="l">
              <a:buNone/>
            </a:pPr>
            <a:r>
              <a:rPr lang="en-US" sz="3000" b="1" dirty="0">
                <a:solidFill>
                  <a:srgbClr val="500778"/>
                </a:solidFill>
                <a:latin typeface="Calibri" pitchFamily="34" charset="0"/>
                <a:ea typeface="Calibri" pitchFamily="34" charset="-122"/>
                <a:cs typeface="Calibri" pitchFamily="34" charset="-120"/>
              </a:rPr>
              <a:t>Evaluation: distribution matching, not trajectory error</a:t>
            </a:r>
            <a:endParaRPr lang="en-US" sz="3000" dirty="0"/>
          </a:p>
        </p:txBody>
      </p:sp>
      <p:sp>
        <p:nvSpPr>
          <p:cNvPr id="5" name="Text 3"/>
          <p:cNvSpPr/>
          <p:nvPr/>
        </p:nvSpPr>
        <p:spPr>
          <a:xfrm>
            <a:off x="11094415" y="6492240"/>
            <a:ext cx="548640" cy="274320"/>
          </a:xfrm>
          <a:prstGeom prst="rect">
            <a:avLst/>
          </a:prstGeom>
          <a:noFill/>
          <a:ln/>
        </p:spPr>
        <p:txBody>
          <a:bodyPr wrap="square" lIns="0" tIns="0" rIns="0" bIns="0" rtlCol="0" anchor="ctr"/>
          <a:lstStyle/>
          <a:p>
            <a:pPr marL="0" indent="0" algn="r">
              <a:buNone/>
            </a:pPr>
            <a:r>
              <a:rPr lang="en-US" sz="1000" b="1" dirty="0">
                <a:solidFill>
                  <a:srgbClr val="500778"/>
                </a:solidFill>
                <a:latin typeface="Calibri" pitchFamily="34" charset="0"/>
                <a:ea typeface="Calibri" pitchFamily="34" charset="-122"/>
                <a:cs typeface="Calibri" pitchFamily="34" charset="-120"/>
              </a:rPr>
              <a:t>06</a:t>
            </a:r>
            <a:endParaRPr lang="en-US" sz="1000" dirty="0"/>
          </a:p>
        </p:txBody>
      </p:sp>
      <p:sp>
        <p:nvSpPr>
          <p:cNvPr id="6" name="Text 4"/>
          <p:cNvSpPr/>
          <p:nvPr/>
        </p:nvSpPr>
        <p:spPr>
          <a:xfrm>
            <a:off x="548640" y="1280160"/>
            <a:ext cx="10972800" cy="640080"/>
          </a:xfrm>
          <a:prstGeom prst="rect">
            <a:avLst/>
          </a:prstGeom>
          <a:noFill/>
          <a:ln/>
        </p:spPr>
        <p:txBody>
          <a:bodyPr wrap="square" lIns="0" tIns="0" rIns="0" bIns="0" rtlCol="0" anchor="ctr"/>
          <a:lstStyle/>
          <a:p>
            <a:pPr marL="0" indent="0">
              <a:buNone/>
            </a:pPr>
            <a:r>
              <a:rPr lang="en-US" sz="2000" dirty="0">
                <a:solidFill>
                  <a:srgbClr val="1A1A1A"/>
                </a:solidFill>
                <a:latin typeface="Calibri" pitchFamily="34" charset="0"/>
                <a:ea typeface="Calibri" pitchFamily="34" charset="-122"/>
                <a:cs typeface="Calibri" pitchFamily="34" charset="-120"/>
              </a:rPr>
              <a:t>WOSAC scores submissions as a distribution-matching problem: the simulated rollout distribution is compared with the real-world distribution.</a:t>
            </a:r>
            <a:endParaRPr lang="en-US" sz="2000" dirty="0"/>
          </a:p>
        </p:txBody>
      </p:sp>
      <p:sp>
        <p:nvSpPr>
          <p:cNvPr id="7" name="Shape 5"/>
          <p:cNvSpPr/>
          <p:nvPr/>
        </p:nvSpPr>
        <p:spPr>
          <a:xfrm>
            <a:off x="548640" y="2194560"/>
            <a:ext cx="3515258" cy="2743200"/>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a:p>
        </p:txBody>
      </p:sp>
      <p:sp>
        <p:nvSpPr>
          <p:cNvPr id="8" name="Shape 6"/>
          <p:cNvSpPr/>
          <p:nvPr/>
        </p:nvSpPr>
        <p:spPr>
          <a:xfrm>
            <a:off x="548640" y="2194560"/>
            <a:ext cx="3515258" cy="164592"/>
          </a:xfrm>
          <a:prstGeom prst="rect">
            <a:avLst/>
          </a:prstGeom>
          <a:solidFill>
            <a:srgbClr val="500778"/>
          </a:solidFill>
          <a:ln/>
        </p:spPr>
        <p:txBody>
          <a:bodyPr/>
          <a:lstStyle/>
          <a:p>
            <a:endParaRPr lang="zh-CN" altLang="en-US"/>
          </a:p>
        </p:txBody>
      </p:sp>
      <p:sp>
        <p:nvSpPr>
          <p:cNvPr id="9" name="Text 7"/>
          <p:cNvSpPr/>
          <p:nvPr/>
        </p:nvSpPr>
        <p:spPr>
          <a:xfrm>
            <a:off x="777240" y="2568896"/>
            <a:ext cx="3058058" cy="457200"/>
          </a:xfrm>
          <a:prstGeom prst="rect">
            <a:avLst/>
          </a:prstGeom>
          <a:noFill/>
          <a:ln/>
        </p:spPr>
        <p:txBody>
          <a:bodyPr wrap="square" lIns="0" tIns="0" rIns="0" bIns="0" rtlCol="0" anchor="ctr"/>
          <a:lstStyle/>
          <a:p>
            <a:pPr marL="0" indent="0">
              <a:buNone/>
            </a:pPr>
            <a:r>
              <a:rPr lang="en-US" sz="2400" b="1" dirty="0">
                <a:solidFill>
                  <a:srgbClr val="500778"/>
                </a:solidFill>
                <a:latin typeface="Calibri" pitchFamily="34" charset="0"/>
                <a:ea typeface="Calibri" pitchFamily="34" charset="-122"/>
                <a:cs typeface="Calibri" pitchFamily="34" charset="-120"/>
              </a:rPr>
              <a:t>Motion realism (kinematic)</a:t>
            </a:r>
            <a:endParaRPr lang="en-US" sz="2400" dirty="0"/>
          </a:p>
        </p:txBody>
      </p:sp>
      <p:sp>
        <p:nvSpPr>
          <p:cNvPr id="10" name="Text 8"/>
          <p:cNvSpPr/>
          <p:nvPr/>
        </p:nvSpPr>
        <p:spPr>
          <a:xfrm>
            <a:off x="777240" y="2971800"/>
            <a:ext cx="3173254" cy="1828800"/>
          </a:xfrm>
          <a:prstGeom prst="rect">
            <a:avLst/>
          </a:prstGeom>
          <a:noFill/>
          <a:ln/>
        </p:spPr>
        <p:txBody>
          <a:bodyPr wrap="square" lIns="0" tIns="0" rIns="0" bIns="0" rtlCol="0" anchor="ctr"/>
          <a:lstStyle/>
          <a:p>
            <a:pPr marL="342900" indent="-342900">
              <a:spcAft>
                <a:spcPts val="400"/>
              </a:spcAft>
              <a:buSzPct val="100000"/>
              <a:buChar char="•"/>
            </a:pPr>
            <a:r>
              <a:rPr lang="en-US" sz="2000" dirty="0">
                <a:solidFill>
                  <a:srgbClr val="1A1A1A"/>
                </a:solidFill>
                <a:latin typeface="Calibri" pitchFamily="34" charset="0"/>
                <a:ea typeface="Calibri" pitchFamily="34" charset="-122"/>
                <a:cs typeface="Calibri" pitchFamily="34" charset="-120"/>
              </a:rPr>
              <a:t>linear speed + acceleration</a:t>
            </a:r>
            <a:endParaRPr lang="en-US" sz="2000" dirty="0"/>
          </a:p>
          <a:p>
            <a:pPr marL="342900" indent="-342900">
              <a:spcAft>
                <a:spcPts val="400"/>
              </a:spcAft>
              <a:buSzPct val="100000"/>
              <a:buChar char="•"/>
            </a:pPr>
            <a:r>
              <a:rPr lang="en-US" sz="2000" dirty="0">
                <a:solidFill>
                  <a:srgbClr val="1A1A1A"/>
                </a:solidFill>
                <a:latin typeface="Calibri" pitchFamily="34" charset="0"/>
                <a:ea typeface="Calibri" pitchFamily="34" charset="-122"/>
                <a:cs typeface="Calibri" pitchFamily="34" charset="-120"/>
              </a:rPr>
              <a:t>angular speed + acceleration</a:t>
            </a:r>
            <a:endParaRPr lang="en-US" sz="2000" dirty="0"/>
          </a:p>
          <a:p>
            <a:pPr marL="342900" indent="-342900">
              <a:spcAft>
                <a:spcPts val="400"/>
              </a:spcAft>
              <a:buSzPct val="100000"/>
              <a:buChar char="•"/>
            </a:pPr>
            <a:r>
              <a:rPr lang="en-US" sz="2000" dirty="0">
                <a:solidFill>
                  <a:srgbClr val="1A1A1A"/>
                </a:solidFill>
                <a:latin typeface="Calibri" pitchFamily="34" charset="0"/>
                <a:ea typeface="Calibri" pitchFamily="34" charset="-122"/>
                <a:cs typeface="Calibri" pitchFamily="34" charset="-120"/>
              </a:rPr>
              <a:t>smoother estimation</a:t>
            </a:r>
            <a:endParaRPr lang="en-US" sz="2000" dirty="0"/>
          </a:p>
        </p:txBody>
      </p:sp>
      <p:sp>
        <p:nvSpPr>
          <p:cNvPr id="11" name="Shape 9"/>
          <p:cNvSpPr/>
          <p:nvPr/>
        </p:nvSpPr>
        <p:spPr>
          <a:xfrm>
            <a:off x="4338218" y="2194560"/>
            <a:ext cx="3515258" cy="2743200"/>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a:p>
        </p:txBody>
      </p:sp>
      <p:sp>
        <p:nvSpPr>
          <p:cNvPr id="12" name="Shape 10"/>
          <p:cNvSpPr/>
          <p:nvPr/>
        </p:nvSpPr>
        <p:spPr>
          <a:xfrm>
            <a:off x="4338218" y="2194560"/>
            <a:ext cx="3515258" cy="164592"/>
          </a:xfrm>
          <a:prstGeom prst="rect">
            <a:avLst/>
          </a:prstGeom>
          <a:solidFill>
            <a:srgbClr val="500778"/>
          </a:solidFill>
          <a:ln/>
        </p:spPr>
        <p:txBody>
          <a:bodyPr/>
          <a:lstStyle/>
          <a:p>
            <a:endParaRPr lang="zh-CN" altLang="en-US"/>
          </a:p>
        </p:txBody>
      </p:sp>
      <p:sp>
        <p:nvSpPr>
          <p:cNvPr id="13" name="Text 11"/>
          <p:cNvSpPr/>
          <p:nvPr/>
        </p:nvSpPr>
        <p:spPr>
          <a:xfrm>
            <a:off x="4566818" y="2468880"/>
            <a:ext cx="3058058" cy="457200"/>
          </a:xfrm>
          <a:prstGeom prst="rect">
            <a:avLst/>
          </a:prstGeom>
          <a:noFill/>
          <a:ln/>
        </p:spPr>
        <p:txBody>
          <a:bodyPr wrap="square" lIns="0" tIns="0" rIns="0" bIns="0" rtlCol="0" anchor="ctr"/>
          <a:lstStyle/>
          <a:p>
            <a:pPr marL="0" indent="0">
              <a:buNone/>
            </a:pPr>
            <a:r>
              <a:rPr lang="en-US" sz="2400" b="1" dirty="0">
                <a:solidFill>
                  <a:srgbClr val="500778"/>
                </a:solidFill>
                <a:latin typeface="Calibri" pitchFamily="34" charset="0"/>
                <a:ea typeface="Calibri" pitchFamily="34" charset="-122"/>
                <a:cs typeface="Calibri" pitchFamily="34" charset="-120"/>
              </a:rPr>
              <a:t>Interaction realism</a:t>
            </a:r>
            <a:endParaRPr lang="en-US" sz="2400" dirty="0"/>
          </a:p>
        </p:txBody>
      </p:sp>
      <p:sp>
        <p:nvSpPr>
          <p:cNvPr id="14" name="Text 12"/>
          <p:cNvSpPr/>
          <p:nvPr/>
        </p:nvSpPr>
        <p:spPr>
          <a:xfrm>
            <a:off x="4566818" y="2971800"/>
            <a:ext cx="3173254" cy="1828800"/>
          </a:xfrm>
          <a:prstGeom prst="rect">
            <a:avLst/>
          </a:prstGeom>
          <a:noFill/>
          <a:ln/>
        </p:spPr>
        <p:txBody>
          <a:bodyPr wrap="square" lIns="0" tIns="0" rIns="0" bIns="0" rtlCol="0" anchor="ctr"/>
          <a:lstStyle/>
          <a:p>
            <a:pPr marL="342900" indent="-342900">
              <a:spcAft>
                <a:spcPts val="400"/>
              </a:spcAft>
              <a:buSzPct val="100000"/>
              <a:buChar char="•"/>
            </a:pPr>
            <a:r>
              <a:rPr lang="en-US" sz="2000" dirty="0">
                <a:solidFill>
                  <a:srgbClr val="1A1A1A"/>
                </a:solidFill>
                <a:latin typeface="Calibri" pitchFamily="34" charset="0"/>
                <a:ea typeface="Calibri" pitchFamily="34" charset="-122"/>
                <a:cs typeface="Calibri" pitchFamily="34" charset="-120"/>
              </a:rPr>
              <a:t>collision (capsule shape)</a:t>
            </a:r>
            <a:endParaRPr lang="en-US" sz="2000" dirty="0"/>
          </a:p>
          <a:p>
            <a:pPr marL="342900" indent="-342900">
              <a:spcAft>
                <a:spcPts val="400"/>
              </a:spcAft>
              <a:buSzPct val="100000"/>
              <a:buChar char="•"/>
            </a:pPr>
            <a:r>
              <a:rPr lang="en-US" sz="2000" dirty="0">
                <a:solidFill>
                  <a:srgbClr val="1A1A1A"/>
                </a:solidFill>
                <a:latin typeface="Calibri" pitchFamily="34" charset="0"/>
                <a:ea typeface="Calibri" pitchFamily="34" charset="-122"/>
                <a:cs typeface="Calibri" pitchFamily="34" charset="-120"/>
              </a:rPr>
              <a:t>distance to nearest object</a:t>
            </a:r>
            <a:endParaRPr lang="en-US" sz="2000" dirty="0"/>
          </a:p>
          <a:p>
            <a:pPr marL="342900" indent="-342900">
              <a:spcAft>
                <a:spcPts val="400"/>
              </a:spcAft>
              <a:buSzPct val="100000"/>
              <a:buChar char="•"/>
            </a:pPr>
            <a:r>
              <a:rPr lang="en-US" sz="2000" dirty="0">
                <a:solidFill>
                  <a:srgbClr val="1A1A1A"/>
                </a:solidFill>
                <a:latin typeface="Calibri" pitchFamily="34" charset="0"/>
                <a:ea typeface="Calibri" pitchFamily="34" charset="-122"/>
                <a:cs typeface="Calibri" pitchFamily="34" charset="-120"/>
              </a:rPr>
              <a:t>time-to-collision (vehicles; new filter)</a:t>
            </a:r>
            <a:endParaRPr lang="en-US" sz="2000" dirty="0"/>
          </a:p>
        </p:txBody>
      </p:sp>
      <p:sp>
        <p:nvSpPr>
          <p:cNvPr id="15" name="Shape 13"/>
          <p:cNvSpPr/>
          <p:nvPr/>
        </p:nvSpPr>
        <p:spPr>
          <a:xfrm>
            <a:off x="8127797" y="2194560"/>
            <a:ext cx="3515258" cy="2743200"/>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a:p>
        </p:txBody>
      </p:sp>
      <p:sp>
        <p:nvSpPr>
          <p:cNvPr id="16" name="Shape 14"/>
          <p:cNvSpPr/>
          <p:nvPr/>
        </p:nvSpPr>
        <p:spPr>
          <a:xfrm>
            <a:off x="8127797" y="2194560"/>
            <a:ext cx="3515258" cy="164592"/>
          </a:xfrm>
          <a:prstGeom prst="rect">
            <a:avLst/>
          </a:prstGeom>
          <a:solidFill>
            <a:srgbClr val="500778"/>
          </a:solidFill>
          <a:ln/>
        </p:spPr>
        <p:txBody>
          <a:bodyPr/>
          <a:lstStyle/>
          <a:p>
            <a:endParaRPr lang="zh-CN" altLang="en-US"/>
          </a:p>
        </p:txBody>
      </p:sp>
      <p:sp>
        <p:nvSpPr>
          <p:cNvPr id="17" name="Text 15"/>
          <p:cNvSpPr/>
          <p:nvPr/>
        </p:nvSpPr>
        <p:spPr>
          <a:xfrm>
            <a:off x="8356397" y="2468880"/>
            <a:ext cx="3058058" cy="457200"/>
          </a:xfrm>
          <a:prstGeom prst="rect">
            <a:avLst/>
          </a:prstGeom>
          <a:noFill/>
          <a:ln/>
        </p:spPr>
        <p:txBody>
          <a:bodyPr wrap="square" lIns="0" tIns="0" rIns="0" bIns="0" rtlCol="0" anchor="ctr"/>
          <a:lstStyle/>
          <a:p>
            <a:pPr marL="0" indent="0">
              <a:buNone/>
            </a:pPr>
            <a:r>
              <a:rPr lang="en-US" sz="2400" b="1" dirty="0">
                <a:solidFill>
                  <a:srgbClr val="500778"/>
                </a:solidFill>
                <a:latin typeface="Calibri" pitchFamily="34" charset="0"/>
                <a:ea typeface="Calibri" pitchFamily="34" charset="-122"/>
                <a:cs typeface="Calibri" pitchFamily="34" charset="-120"/>
              </a:rPr>
              <a:t>Map adherence</a:t>
            </a:r>
            <a:endParaRPr lang="en-US" sz="2400" dirty="0"/>
          </a:p>
        </p:txBody>
      </p:sp>
      <p:sp>
        <p:nvSpPr>
          <p:cNvPr id="18" name="Text 16"/>
          <p:cNvSpPr/>
          <p:nvPr/>
        </p:nvSpPr>
        <p:spPr>
          <a:xfrm>
            <a:off x="8356397" y="2971800"/>
            <a:ext cx="3173254" cy="1828800"/>
          </a:xfrm>
          <a:prstGeom prst="rect">
            <a:avLst/>
          </a:prstGeom>
          <a:noFill/>
          <a:ln/>
        </p:spPr>
        <p:txBody>
          <a:bodyPr wrap="square" lIns="0" tIns="0" rIns="0" bIns="0" rtlCol="0" anchor="ctr"/>
          <a:lstStyle/>
          <a:p>
            <a:pPr marL="342900" indent="-342900">
              <a:spcAft>
                <a:spcPts val="400"/>
              </a:spcAft>
              <a:buSzPct val="100000"/>
              <a:buChar char="•"/>
            </a:pPr>
            <a:r>
              <a:rPr lang="en-US" sz="2000" dirty="0">
                <a:solidFill>
                  <a:srgbClr val="1A1A1A"/>
                </a:solidFill>
                <a:latin typeface="Calibri" pitchFamily="34" charset="0"/>
                <a:ea typeface="Calibri" pitchFamily="34" charset="-122"/>
                <a:cs typeface="Calibri" pitchFamily="34" charset="-120"/>
              </a:rPr>
              <a:t>off-road behaviour</a:t>
            </a:r>
            <a:endParaRPr lang="en-US" sz="2000" dirty="0"/>
          </a:p>
          <a:p>
            <a:pPr marL="342900" indent="-342900">
              <a:spcAft>
                <a:spcPts val="400"/>
              </a:spcAft>
              <a:buSzPct val="100000"/>
              <a:buChar char="•"/>
            </a:pPr>
            <a:r>
              <a:rPr lang="en-US" sz="2000" dirty="0">
                <a:solidFill>
                  <a:srgbClr val="1A1A1A"/>
                </a:solidFill>
                <a:latin typeface="Calibri" pitchFamily="34" charset="0"/>
                <a:ea typeface="Calibri" pitchFamily="34" charset="-122"/>
                <a:cs typeface="Calibri" pitchFamily="34" charset="-120"/>
              </a:rPr>
              <a:t>distance to road edges</a:t>
            </a:r>
            <a:endParaRPr lang="en-US" sz="2000" dirty="0"/>
          </a:p>
          <a:p>
            <a:pPr marL="342900" indent="-342900">
              <a:spcAft>
                <a:spcPts val="400"/>
              </a:spcAft>
              <a:buSzPct val="100000"/>
              <a:buChar char="•"/>
            </a:pPr>
            <a:r>
              <a:rPr lang="en-US" sz="2000" dirty="0">
                <a:solidFill>
                  <a:srgbClr val="1A1A1A"/>
                </a:solidFill>
                <a:latin typeface="Calibri" pitchFamily="34" charset="0"/>
                <a:ea typeface="Calibri" pitchFamily="34" charset="-122"/>
                <a:cs typeface="Calibri" pitchFamily="34" charset="-120"/>
              </a:rPr>
              <a:t>traffic-light violation</a:t>
            </a:r>
            <a:endParaRPr lang="en-US" sz="2000" dirty="0"/>
          </a:p>
        </p:txBody>
      </p:sp>
      <p:sp>
        <p:nvSpPr>
          <p:cNvPr id="19" name="Shape 17"/>
          <p:cNvSpPr/>
          <p:nvPr/>
        </p:nvSpPr>
        <p:spPr>
          <a:xfrm>
            <a:off x="548640" y="5120640"/>
            <a:ext cx="11094415" cy="914400"/>
          </a:xfrm>
          <a:prstGeom prst="rect">
            <a:avLst/>
          </a:prstGeom>
          <a:solidFill>
            <a:srgbClr val="F2EEF7"/>
          </a:solidFill>
          <a:ln/>
          <a:effectLst>
            <a:outerShdw blurRad="101600" dist="25400" dir="5400000" algn="bl" rotWithShape="0">
              <a:srgbClr val="000000">
                <a:alpha val="10000"/>
              </a:srgbClr>
            </a:outerShdw>
          </a:effectLst>
        </p:spPr>
        <p:txBody>
          <a:bodyPr/>
          <a:lstStyle/>
          <a:p>
            <a:endParaRPr lang="zh-CN" altLang="en-US"/>
          </a:p>
        </p:txBody>
      </p:sp>
      <p:sp>
        <p:nvSpPr>
          <p:cNvPr id="20" name="Text 18"/>
          <p:cNvSpPr/>
          <p:nvPr/>
        </p:nvSpPr>
        <p:spPr>
          <a:xfrm>
            <a:off x="777240" y="5212080"/>
            <a:ext cx="10637215" cy="731520"/>
          </a:xfrm>
          <a:prstGeom prst="rect">
            <a:avLst/>
          </a:prstGeom>
          <a:noFill/>
          <a:ln/>
        </p:spPr>
        <p:txBody>
          <a:bodyPr wrap="square" lIns="0" tIns="0" rIns="0" bIns="0" rtlCol="0" anchor="ctr"/>
          <a:lstStyle/>
          <a:p>
            <a:pPr marL="0" indent="0" algn="ctr">
              <a:buNone/>
            </a:pPr>
            <a:r>
              <a:rPr lang="en-US" b="1" i="1" dirty="0">
                <a:solidFill>
                  <a:srgbClr val="500778"/>
                </a:solidFill>
                <a:latin typeface="Calibri" pitchFamily="34" charset="0"/>
                <a:ea typeface="Calibri" pitchFamily="34" charset="-122"/>
                <a:cs typeface="Calibri" pitchFamily="34" charset="-120"/>
              </a:rPr>
              <a:t>per-feature negative log-likelihood  →  weighted-mean meta-metric  →  higher  = more realistic</a:t>
            </a:r>
          </a:p>
        </p:txBody>
      </p:sp>
      <p:pic>
        <p:nvPicPr>
          <p:cNvPr id="22" name="图片 21">
            <a:extLst>
              <a:ext uri="{FF2B5EF4-FFF2-40B4-BE49-F238E27FC236}">
                <a16:creationId xmlns:a16="http://schemas.microsoft.com/office/drawing/2014/main" id="{3D3DEB5C-4699-7C0D-4D14-B1E0233C863B}"/>
              </a:ext>
            </a:extLst>
          </p:cNvPr>
          <p:cNvPicPr>
            <a:picLocks noChangeAspect="1"/>
          </p:cNvPicPr>
          <p:nvPr/>
        </p:nvPicPr>
        <p:blipFill>
          <a:blip r:embed="rId3"/>
          <a:stretch>
            <a:fillRect/>
          </a:stretch>
        </p:blipFill>
        <p:spPr>
          <a:xfrm>
            <a:off x="10985315" y="117279"/>
            <a:ext cx="1048895" cy="294202"/>
          </a:xfrm>
          <a:prstGeom prst="rect">
            <a:avLst/>
          </a:prstGeom>
        </p:spPr>
      </p:pic>
      <p:cxnSp>
        <p:nvCxnSpPr>
          <p:cNvPr id="23" name="直接连接符 22">
            <a:extLst>
              <a:ext uri="{FF2B5EF4-FFF2-40B4-BE49-F238E27FC236}">
                <a16:creationId xmlns:a16="http://schemas.microsoft.com/office/drawing/2014/main" id="{9F69501C-1604-2D79-5930-DD8D7961BFC7}"/>
              </a:ext>
            </a:extLst>
          </p:cNvPr>
          <p:cNvCxnSpPr>
            <a:cxnSpLocks/>
          </p:cNvCxnSpPr>
          <p:nvPr/>
        </p:nvCxnSpPr>
        <p:spPr>
          <a:xfrm>
            <a:off x="548640" y="1105176"/>
            <a:ext cx="10545775" cy="0"/>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00778"/>
          </a:solidFill>
          <a:ln/>
        </p:spPr>
        <p:txBody>
          <a:bodyPr/>
          <a:lstStyle/>
          <a:p>
            <a:endParaRPr lang="zh-CN" altLang="en-US"/>
          </a:p>
        </p:txBody>
      </p:sp>
      <p:sp>
        <p:nvSpPr>
          <p:cNvPr id="3" name="Text 1"/>
          <p:cNvSpPr/>
          <p:nvPr/>
        </p:nvSpPr>
        <p:spPr>
          <a:xfrm>
            <a:off x="548640" y="411480"/>
            <a:ext cx="11094415" cy="685800"/>
          </a:xfrm>
          <a:prstGeom prst="rect">
            <a:avLst/>
          </a:prstGeom>
          <a:noFill/>
          <a:ln/>
        </p:spPr>
        <p:txBody>
          <a:bodyPr wrap="square" lIns="0" tIns="0" rIns="0" bIns="0" rtlCol="0" anchor="ctr"/>
          <a:lstStyle/>
          <a:p>
            <a:pPr marL="0" indent="0" algn="l">
              <a:buNone/>
            </a:pPr>
            <a:r>
              <a:rPr lang="en-US" sz="3000" b="1" dirty="0">
                <a:solidFill>
                  <a:srgbClr val="500778"/>
                </a:solidFill>
                <a:latin typeface="Calibri" pitchFamily="34" charset="0"/>
                <a:ea typeface="Calibri" pitchFamily="34" charset="-122"/>
                <a:cs typeface="Calibri" pitchFamily="34" charset="-120"/>
              </a:rPr>
              <a:t>Candidate optimisation points</a:t>
            </a:r>
            <a:endParaRPr lang="en-US" sz="3000" dirty="0"/>
          </a:p>
        </p:txBody>
      </p:sp>
      <p:sp>
        <p:nvSpPr>
          <p:cNvPr id="5" name="Text 3"/>
          <p:cNvSpPr/>
          <p:nvPr/>
        </p:nvSpPr>
        <p:spPr>
          <a:xfrm>
            <a:off x="11094415" y="6492240"/>
            <a:ext cx="548640" cy="274320"/>
          </a:xfrm>
          <a:prstGeom prst="rect">
            <a:avLst/>
          </a:prstGeom>
          <a:noFill/>
          <a:ln/>
        </p:spPr>
        <p:txBody>
          <a:bodyPr wrap="square" lIns="0" tIns="0" rIns="0" bIns="0" rtlCol="0" anchor="ctr"/>
          <a:lstStyle/>
          <a:p>
            <a:pPr marL="0" indent="0" algn="r">
              <a:buNone/>
            </a:pPr>
            <a:r>
              <a:rPr lang="en-US" sz="1000" b="1" dirty="0">
                <a:solidFill>
                  <a:srgbClr val="500778"/>
                </a:solidFill>
                <a:latin typeface="Calibri" pitchFamily="34" charset="0"/>
                <a:ea typeface="Calibri" pitchFamily="34" charset="-122"/>
                <a:cs typeface="Calibri" pitchFamily="34" charset="-120"/>
              </a:rPr>
              <a:t>07</a:t>
            </a:r>
            <a:endParaRPr lang="en-US" sz="1000" dirty="0"/>
          </a:p>
        </p:txBody>
      </p:sp>
      <p:sp>
        <p:nvSpPr>
          <p:cNvPr id="6" name="Text 4"/>
          <p:cNvSpPr/>
          <p:nvPr/>
        </p:nvSpPr>
        <p:spPr>
          <a:xfrm>
            <a:off x="548640" y="1188720"/>
            <a:ext cx="10972800" cy="365760"/>
          </a:xfrm>
          <a:prstGeom prst="rect">
            <a:avLst/>
          </a:prstGeom>
          <a:noFill/>
          <a:ln/>
        </p:spPr>
        <p:txBody>
          <a:bodyPr wrap="square" lIns="0" tIns="0" rIns="0" bIns="0" rtlCol="0" anchor="ctr"/>
          <a:lstStyle/>
          <a:p>
            <a:pPr marL="0" indent="0">
              <a:buNone/>
            </a:pPr>
            <a:r>
              <a:rPr lang="en-US" sz="2000" i="1" dirty="0">
                <a:solidFill>
                  <a:srgbClr val="6B6B6B"/>
                </a:solidFill>
                <a:latin typeface="Calibri" pitchFamily="34" charset="0"/>
                <a:ea typeface="Calibri" pitchFamily="34" charset="-122"/>
                <a:cs typeface="Calibri" pitchFamily="34" charset="-120"/>
              </a:rPr>
              <a:t>Four directions where baseline sim agents typically fail — the project should pick one.</a:t>
            </a:r>
            <a:endParaRPr lang="en-US" sz="2000" dirty="0"/>
          </a:p>
        </p:txBody>
      </p:sp>
      <p:sp>
        <p:nvSpPr>
          <p:cNvPr id="7" name="Shape 5"/>
          <p:cNvSpPr/>
          <p:nvPr/>
        </p:nvSpPr>
        <p:spPr>
          <a:xfrm>
            <a:off x="548640" y="1691640"/>
            <a:ext cx="5410048" cy="2240280"/>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a:p>
        </p:txBody>
      </p:sp>
      <p:sp>
        <p:nvSpPr>
          <p:cNvPr id="8" name="Shape 6"/>
          <p:cNvSpPr/>
          <p:nvPr/>
        </p:nvSpPr>
        <p:spPr>
          <a:xfrm>
            <a:off x="822960" y="1965960"/>
            <a:ext cx="594360" cy="594360"/>
          </a:xfrm>
          <a:prstGeom prst="ellipse">
            <a:avLst/>
          </a:prstGeom>
          <a:solidFill>
            <a:srgbClr val="500778"/>
          </a:solidFill>
          <a:ln/>
        </p:spPr>
        <p:txBody>
          <a:bodyPr/>
          <a:lstStyle/>
          <a:p>
            <a:endParaRPr lang="zh-CN" altLang="en-US"/>
          </a:p>
        </p:txBody>
      </p:sp>
      <p:sp>
        <p:nvSpPr>
          <p:cNvPr id="9" name="Text 7"/>
          <p:cNvSpPr/>
          <p:nvPr/>
        </p:nvSpPr>
        <p:spPr>
          <a:xfrm>
            <a:off x="822960" y="196596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10" name="Text 8"/>
          <p:cNvSpPr/>
          <p:nvPr/>
        </p:nvSpPr>
        <p:spPr>
          <a:xfrm>
            <a:off x="1508760" y="1984248"/>
            <a:ext cx="4221328" cy="548640"/>
          </a:xfrm>
          <a:prstGeom prst="rect">
            <a:avLst/>
          </a:prstGeom>
          <a:noFill/>
          <a:ln/>
        </p:spPr>
        <p:txBody>
          <a:bodyPr wrap="square" lIns="0" tIns="0" rIns="0" bIns="0" rtlCol="0" anchor="ctr"/>
          <a:lstStyle/>
          <a:p>
            <a:pPr marL="0" indent="0">
              <a:buNone/>
            </a:pPr>
            <a:r>
              <a:rPr lang="en-US" sz="2400" b="1" dirty="0">
                <a:solidFill>
                  <a:srgbClr val="500778"/>
                </a:solidFill>
                <a:latin typeface="Calibri" pitchFamily="34" charset="0"/>
                <a:ea typeface="Calibri" pitchFamily="34" charset="-122"/>
                <a:cs typeface="Calibri" pitchFamily="34" charset="-120"/>
              </a:rPr>
              <a:t>Closed-loop stability</a:t>
            </a:r>
            <a:endParaRPr lang="en-US" sz="2400" dirty="0"/>
          </a:p>
        </p:txBody>
      </p:sp>
      <p:sp>
        <p:nvSpPr>
          <p:cNvPr id="11" name="Text 9"/>
          <p:cNvSpPr/>
          <p:nvPr/>
        </p:nvSpPr>
        <p:spPr>
          <a:xfrm>
            <a:off x="822960" y="2651760"/>
            <a:ext cx="4861408" cy="228600"/>
          </a:xfrm>
          <a:prstGeom prst="rect">
            <a:avLst/>
          </a:prstGeom>
          <a:noFill/>
          <a:ln/>
        </p:spPr>
        <p:txBody>
          <a:bodyPr wrap="square" lIns="0" tIns="0" rIns="0" bIns="0" rtlCol="0" anchor="ctr"/>
          <a:lstStyle/>
          <a:p>
            <a:pPr marL="0" indent="0">
              <a:buNone/>
            </a:pPr>
            <a:r>
              <a:rPr lang="en-US" sz="1400" b="1" dirty="0">
                <a:solidFill>
                  <a:srgbClr val="6B6B6B"/>
                </a:solidFill>
                <a:latin typeface="Calibri" pitchFamily="34" charset="0"/>
                <a:ea typeface="Calibri" pitchFamily="34" charset="-122"/>
                <a:cs typeface="Calibri" pitchFamily="34" charset="-120"/>
              </a:rPr>
              <a:t>PROBLEM</a:t>
            </a:r>
            <a:endParaRPr lang="en-US" sz="1400" dirty="0"/>
          </a:p>
        </p:txBody>
      </p:sp>
      <p:sp>
        <p:nvSpPr>
          <p:cNvPr id="12" name="Text 10"/>
          <p:cNvSpPr/>
          <p:nvPr/>
        </p:nvSpPr>
        <p:spPr>
          <a:xfrm>
            <a:off x="822960" y="2808924"/>
            <a:ext cx="4861408" cy="50292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Small one-step errors accumulate over 80 steps.</a:t>
            </a:r>
            <a:endParaRPr lang="en-US" sz="1600" dirty="0"/>
          </a:p>
        </p:txBody>
      </p:sp>
      <p:sp>
        <p:nvSpPr>
          <p:cNvPr id="13" name="Text 11"/>
          <p:cNvSpPr/>
          <p:nvPr/>
        </p:nvSpPr>
        <p:spPr>
          <a:xfrm>
            <a:off x="822960" y="3340416"/>
            <a:ext cx="4861408" cy="228600"/>
          </a:xfrm>
          <a:prstGeom prst="rect">
            <a:avLst/>
          </a:prstGeom>
          <a:noFill/>
          <a:ln/>
        </p:spPr>
        <p:txBody>
          <a:bodyPr wrap="square" lIns="0" tIns="0" rIns="0" bIns="0" rtlCol="0" anchor="ctr"/>
          <a:lstStyle/>
          <a:p>
            <a:pPr marL="0" indent="0">
              <a:buNone/>
            </a:pPr>
            <a:r>
              <a:rPr lang="en-US" sz="1400" b="1" dirty="0">
                <a:solidFill>
                  <a:srgbClr val="6B6B6B"/>
                </a:solidFill>
                <a:latin typeface="Calibri" pitchFamily="34" charset="0"/>
                <a:ea typeface="Calibri" pitchFamily="34" charset="-122"/>
                <a:cs typeface="Calibri" pitchFamily="34" charset="-120"/>
              </a:rPr>
              <a:t>POSSIBLE FOCUS</a:t>
            </a:r>
            <a:endParaRPr lang="en-US" sz="1400" dirty="0"/>
          </a:p>
        </p:txBody>
      </p:sp>
      <p:sp>
        <p:nvSpPr>
          <p:cNvPr id="14" name="Text 12"/>
          <p:cNvSpPr/>
          <p:nvPr/>
        </p:nvSpPr>
        <p:spPr>
          <a:xfrm>
            <a:off x="822960" y="3611880"/>
            <a:ext cx="5526882" cy="292608"/>
          </a:xfrm>
          <a:prstGeom prst="rect">
            <a:avLst/>
          </a:prstGeom>
          <a:noFill/>
          <a:ln/>
        </p:spPr>
        <p:txBody>
          <a:bodyPr wrap="square" lIns="0" tIns="0" rIns="0" bIns="0" rtlCol="0" anchor="ctr"/>
          <a:lstStyle/>
          <a:p>
            <a:pPr marL="0" indent="0">
              <a:buNone/>
            </a:pPr>
            <a:r>
              <a:rPr lang="en-US" sz="1600" i="1" dirty="0">
                <a:solidFill>
                  <a:srgbClr val="500778"/>
                </a:solidFill>
                <a:latin typeface="Calibri" pitchFamily="34" charset="0"/>
                <a:ea typeface="Calibri" pitchFamily="34" charset="-122"/>
                <a:cs typeface="Calibri" pitchFamily="34" charset="-120"/>
              </a:rPr>
              <a:t>Train a model that stays stable during long rollout.</a:t>
            </a:r>
            <a:endParaRPr lang="en-US" sz="1600" dirty="0"/>
          </a:p>
        </p:txBody>
      </p:sp>
      <p:sp>
        <p:nvSpPr>
          <p:cNvPr id="15" name="Shape 13"/>
          <p:cNvSpPr/>
          <p:nvPr/>
        </p:nvSpPr>
        <p:spPr>
          <a:xfrm>
            <a:off x="6233008" y="1691640"/>
            <a:ext cx="5410048" cy="2240280"/>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a:p>
        </p:txBody>
      </p:sp>
      <p:sp>
        <p:nvSpPr>
          <p:cNvPr id="16" name="Shape 14"/>
          <p:cNvSpPr/>
          <p:nvPr/>
        </p:nvSpPr>
        <p:spPr>
          <a:xfrm>
            <a:off x="6507328" y="1965960"/>
            <a:ext cx="594360" cy="594360"/>
          </a:xfrm>
          <a:prstGeom prst="ellipse">
            <a:avLst/>
          </a:prstGeom>
          <a:solidFill>
            <a:srgbClr val="500778"/>
          </a:solidFill>
          <a:ln/>
        </p:spPr>
        <p:txBody>
          <a:bodyPr/>
          <a:lstStyle/>
          <a:p>
            <a:endParaRPr lang="zh-CN" altLang="en-US"/>
          </a:p>
        </p:txBody>
      </p:sp>
      <p:sp>
        <p:nvSpPr>
          <p:cNvPr id="17" name="Text 15"/>
          <p:cNvSpPr/>
          <p:nvPr/>
        </p:nvSpPr>
        <p:spPr>
          <a:xfrm>
            <a:off x="6507328" y="196596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8" name="Text 16"/>
          <p:cNvSpPr/>
          <p:nvPr/>
        </p:nvSpPr>
        <p:spPr>
          <a:xfrm>
            <a:off x="7193128" y="1984248"/>
            <a:ext cx="4221328" cy="548640"/>
          </a:xfrm>
          <a:prstGeom prst="rect">
            <a:avLst/>
          </a:prstGeom>
          <a:noFill/>
          <a:ln/>
        </p:spPr>
        <p:txBody>
          <a:bodyPr wrap="square" lIns="0" tIns="0" rIns="0" bIns="0" rtlCol="0" anchor="ctr"/>
          <a:lstStyle/>
          <a:p>
            <a:pPr marL="0" indent="0">
              <a:buNone/>
            </a:pPr>
            <a:r>
              <a:rPr lang="en-US" sz="2400" b="1" dirty="0">
                <a:solidFill>
                  <a:srgbClr val="500778"/>
                </a:solidFill>
                <a:latin typeface="Calibri" pitchFamily="34" charset="0"/>
                <a:ea typeface="Calibri" pitchFamily="34" charset="-122"/>
                <a:cs typeface="Calibri" pitchFamily="34" charset="-120"/>
              </a:rPr>
              <a:t>Interaction realism</a:t>
            </a:r>
            <a:endParaRPr lang="en-US" sz="2400" dirty="0"/>
          </a:p>
        </p:txBody>
      </p:sp>
      <p:sp>
        <p:nvSpPr>
          <p:cNvPr id="19" name="Text 17"/>
          <p:cNvSpPr/>
          <p:nvPr/>
        </p:nvSpPr>
        <p:spPr>
          <a:xfrm>
            <a:off x="6507328" y="2651760"/>
            <a:ext cx="4861408" cy="228600"/>
          </a:xfrm>
          <a:prstGeom prst="rect">
            <a:avLst/>
          </a:prstGeom>
          <a:noFill/>
          <a:ln/>
        </p:spPr>
        <p:txBody>
          <a:bodyPr wrap="square" lIns="0" tIns="0" rIns="0" bIns="0" rtlCol="0" anchor="ctr"/>
          <a:lstStyle/>
          <a:p>
            <a:pPr marL="0" indent="0">
              <a:buNone/>
            </a:pPr>
            <a:r>
              <a:rPr lang="en-US" sz="1400" b="1" dirty="0">
                <a:solidFill>
                  <a:srgbClr val="6B6B6B"/>
                </a:solidFill>
                <a:latin typeface="Calibri" pitchFamily="34" charset="0"/>
                <a:ea typeface="Calibri" pitchFamily="34" charset="-122"/>
                <a:cs typeface="Calibri" pitchFamily="34" charset="-120"/>
              </a:rPr>
              <a:t>PROBLEM</a:t>
            </a:r>
            <a:endParaRPr lang="en-US" sz="1400" dirty="0"/>
          </a:p>
        </p:txBody>
      </p:sp>
      <p:sp>
        <p:nvSpPr>
          <p:cNvPr id="20" name="Text 18"/>
          <p:cNvSpPr/>
          <p:nvPr/>
        </p:nvSpPr>
        <p:spPr>
          <a:xfrm>
            <a:off x="6507328" y="2880360"/>
            <a:ext cx="4861408" cy="50292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Independent prediction causes collisions or unrealistic yielding.</a:t>
            </a:r>
            <a:endParaRPr lang="en-US" sz="1600" dirty="0"/>
          </a:p>
        </p:txBody>
      </p:sp>
      <p:sp>
        <p:nvSpPr>
          <p:cNvPr id="21" name="Text 19"/>
          <p:cNvSpPr/>
          <p:nvPr/>
        </p:nvSpPr>
        <p:spPr>
          <a:xfrm>
            <a:off x="6507328" y="3390424"/>
            <a:ext cx="4861408" cy="228600"/>
          </a:xfrm>
          <a:prstGeom prst="rect">
            <a:avLst/>
          </a:prstGeom>
          <a:noFill/>
          <a:ln/>
        </p:spPr>
        <p:txBody>
          <a:bodyPr wrap="square" lIns="0" tIns="0" rIns="0" bIns="0" rtlCol="0" anchor="ctr"/>
          <a:lstStyle/>
          <a:p>
            <a:pPr marL="0" indent="0">
              <a:buNone/>
            </a:pPr>
            <a:r>
              <a:rPr lang="en-US" sz="1400" b="1" dirty="0">
                <a:solidFill>
                  <a:srgbClr val="6B6B6B"/>
                </a:solidFill>
                <a:latin typeface="Calibri" pitchFamily="34" charset="0"/>
                <a:ea typeface="Calibri" pitchFamily="34" charset="-122"/>
                <a:cs typeface="Calibri" pitchFamily="34" charset="-120"/>
              </a:rPr>
              <a:t>POSSIBLE FOCUS</a:t>
            </a:r>
            <a:endParaRPr lang="en-US" sz="1400" dirty="0"/>
          </a:p>
        </p:txBody>
      </p:sp>
      <p:sp>
        <p:nvSpPr>
          <p:cNvPr id="22" name="Text 20"/>
          <p:cNvSpPr/>
          <p:nvPr/>
        </p:nvSpPr>
        <p:spPr>
          <a:xfrm>
            <a:off x="6507328" y="3611880"/>
            <a:ext cx="5526882" cy="292608"/>
          </a:xfrm>
          <a:prstGeom prst="rect">
            <a:avLst/>
          </a:prstGeom>
          <a:noFill/>
          <a:ln/>
        </p:spPr>
        <p:txBody>
          <a:bodyPr wrap="square" lIns="0" tIns="0" rIns="0" bIns="0" rtlCol="0" anchor="ctr"/>
          <a:lstStyle/>
          <a:p>
            <a:pPr marL="0" indent="0">
              <a:buNone/>
            </a:pPr>
            <a:r>
              <a:rPr lang="en-US" sz="1600" i="1" dirty="0">
                <a:solidFill>
                  <a:srgbClr val="500778"/>
                </a:solidFill>
                <a:latin typeface="Calibri" pitchFamily="34" charset="0"/>
                <a:ea typeface="Calibri" pitchFamily="34" charset="-122"/>
                <a:cs typeface="Calibri" pitchFamily="34" charset="-120"/>
              </a:rPr>
              <a:t>Agent–agent attention or graph-based interaction modelling.</a:t>
            </a:r>
            <a:endParaRPr lang="en-US" sz="1600" dirty="0"/>
          </a:p>
        </p:txBody>
      </p:sp>
      <p:sp>
        <p:nvSpPr>
          <p:cNvPr id="23" name="Shape 21"/>
          <p:cNvSpPr/>
          <p:nvPr/>
        </p:nvSpPr>
        <p:spPr>
          <a:xfrm>
            <a:off x="548640" y="4114800"/>
            <a:ext cx="5410048" cy="2240280"/>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a:p>
        </p:txBody>
      </p:sp>
      <p:sp>
        <p:nvSpPr>
          <p:cNvPr id="24" name="Shape 22"/>
          <p:cNvSpPr/>
          <p:nvPr/>
        </p:nvSpPr>
        <p:spPr>
          <a:xfrm>
            <a:off x="822960" y="4389120"/>
            <a:ext cx="594360" cy="594360"/>
          </a:xfrm>
          <a:prstGeom prst="ellipse">
            <a:avLst/>
          </a:prstGeom>
          <a:solidFill>
            <a:srgbClr val="500778"/>
          </a:solidFill>
          <a:ln/>
        </p:spPr>
        <p:txBody>
          <a:bodyPr/>
          <a:lstStyle/>
          <a:p>
            <a:endParaRPr lang="zh-CN" altLang="en-US"/>
          </a:p>
        </p:txBody>
      </p:sp>
      <p:sp>
        <p:nvSpPr>
          <p:cNvPr id="25" name="Text 23"/>
          <p:cNvSpPr/>
          <p:nvPr/>
        </p:nvSpPr>
        <p:spPr>
          <a:xfrm>
            <a:off x="822960" y="438912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26" name="Text 24"/>
          <p:cNvSpPr/>
          <p:nvPr/>
        </p:nvSpPr>
        <p:spPr>
          <a:xfrm>
            <a:off x="1508760" y="4407408"/>
            <a:ext cx="4221328" cy="548640"/>
          </a:xfrm>
          <a:prstGeom prst="rect">
            <a:avLst/>
          </a:prstGeom>
          <a:noFill/>
          <a:ln/>
        </p:spPr>
        <p:txBody>
          <a:bodyPr wrap="square" lIns="0" tIns="0" rIns="0" bIns="0" rtlCol="0" anchor="ctr"/>
          <a:lstStyle/>
          <a:p>
            <a:pPr marL="0" indent="0">
              <a:buNone/>
            </a:pPr>
            <a:r>
              <a:rPr lang="en-US" sz="2400" b="1" dirty="0">
                <a:solidFill>
                  <a:srgbClr val="500778"/>
                </a:solidFill>
                <a:latin typeface="Calibri" pitchFamily="34" charset="0"/>
                <a:ea typeface="Calibri" pitchFamily="34" charset="-122"/>
                <a:cs typeface="Calibri" pitchFamily="34" charset="-120"/>
              </a:rPr>
              <a:t>Map adherence</a:t>
            </a:r>
            <a:endParaRPr lang="en-US" sz="2400" dirty="0"/>
          </a:p>
        </p:txBody>
      </p:sp>
      <p:sp>
        <p:nvSpPr>
          <p:cNvPr id="27" name="Text 25"/>
          <p:cNvSpPr/>
          <p:nvPr/>
        </p:nvSpPr>
        <p:spPr>
          <a:xfrm>
            <a:off x="822960" y="5074920"/>
            <a:ext cx="4861408" cy="228600"/>
          </a:xfrm>
          <a:prstGeom prst="rect">
            <a:avLst/>
          </a:prstGeom>
          <a:noFill/>
          <a:ln/>
        </p:spPr>
        <p:txBody>
          <a:bodyPr wrap="square" lIns="0" tIns="0" rIns="0" bIns="0" rtlCol="0" anchor="ctr"/>
          <a:lstStyle/>
          <a:p>
            <a:pPr marL="0" indent="0">
              <a:buNone/>
            </a:pPr>
            <a:r>
              <a:rPr lang="en-US" sz="1400" b="1" dirty="0">
                <a:solidFill>
                  <a:srgbClr val="6B6B6B"/>
                </a:solidFill>
                <a:latin typeface="Calibri" pitchFamily="34" charset="0"/>
                <a:ea typeface="Calibri" pitchFamily="34" charset="-122"/>
                <a:cs typeface="Calibri" pitchFamily="34" charset="-120"/>
              </a:rPr>
              <a:t>PROBLEM</a:t>
            </a:r>
            <a:endParaRPr lang="en-US" sz="1400" dirty="0"/>
          </a:p>
        </p:txBody>
      </p:sp>
      <p:sp>
        <p:nvSpPr>
          <p:cNvPr id="28" name="Text 26"/>
          <p:cNvSpPr/>
          <p:nvPr/>
        </p:nvSpPr>
        <p:spPr>
          <a:xfrm>
            <a:off x="810960" y="5233224"/>
            <a:ext cx="4861408" cy="50292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Agents drift off-road or violate lane / traffic constraints.</a:t>
            </a:r>
            <a:endParaRPr lang="en-US" sz="1600" dirty="0"/>
          </a:p>
        </p:txBody>
      </p:sp>
      <p:sp>
        <p:nvSpPr>
          <p:cNvPr id="29" name="Text 27"/>
          <p:cNvSpPr/>
          <p:nvPr/>
        </p:nvSpPr>
        <p:spPr>
          <a:xfrm>
            <a:off x="822960" y="5763576"/>
            <a:ext cx="4861408" cy="228600"/>
          </a:xfrm>
          <a:prstGeom prst="rect">
            <a:avLst/>
          </a:prstGeom>
          <a:noFill/>
          <a:ln/>
        </p:spPr>
        <p:txBody>
          <a:bodyPr wrap="square" lIns="0" tIns="0" rIns="0" bIns="0" rtlCol="0" anchor="ctr"/>
          <a:lstStyle/>
          <a:p>
            <a:pPr marL="0" indent="0">
              <a:buNone/>
            </a:pPr>
            <a:r>
              <a:rPr lang="en-US" sz="1400" b="1" dirty="0">
                <a:solidFill>
                  <a:srgbClr val="6B6B6B"/>
                </a:solidFill>
                <a:latin typeface="Calibri" pitchFamily="34" charset="0"/>
                <a:ea typeface="Calibri" pitchFamily="34" charset="-122"/>
                <a:cs typeface="Calibri" pitchFamily="34" charset="-120"/>
              </a:rPr>
              <a:t>POSSIBLE FOCUS</a:t>
            </a:r>
            <a:endParaRPr lang="en-US" sz="1400" dirty="0"/>
          </a:p>
        </p:txBody>
      </p:sp>
      <p:sp>
        <p:nvSpPr>
          <p:cNvPr id="30" name="Text 28"/>
          <p:cNvSpPr/>
          <p:nvPr/>
        </p:nvSpPr>
        <p:spPr>
          <a:xfrm>
            <a:off x="822960" y="6035040"/>
            <a:ext cx="4861408" cy="292608"/>
          </a:xfrm>
          <a:prstGeom prst="rect">
            <a:avLst/>
          </a:prstGeom>
          <a:noFill/>
          <a:ln/>
        </p:spPr>
        <p:txBody>
          <a:bodyPr wrap="square" lIns="0" tIns="0" rIns="0" bIns="0" rtlCol="0" anchor="ctr"/>
          <a:lstStyle/>
          <a:p>
            <a:pPr marL="0" indent="0">
              <a:buNone/>
            </a:pPr>
            <a:r>
              <a:rPr lang="en-US" sz="1600" i="1" dirty="0">
                <a:solidFill>
                  <a:srgbClr val="500778"/>
                </a:solidFill>
                <a:latin typeface="Calibri" pitchFamily="34" charset="0"/>
                <a:ea typeface="Calibri" pitchFamily="34" charset="-122"/>
                <a:cs typeface="Calibri" pitchFamily="34" charset="-120"/>
              </a:rPr>
              <a:t>Map-conditioned decoding or constraint-aware rollout.</a:t>
            </a:r>
            <a:endParaRPr lang="en-US" sz="1600" dirty="0"/>
          </a:p>
        </p:txBody>
      </p:sp>
      <p:sp>
        <p:nvSpPr>
          <p:cNvPr id="31" name="Shape 29"/>
          <p:cNvSpPr/>
          <p:nvPr/>
        </p:nvSpPr>
        <p:spPr>
          <a:xfrm>
            <a:off x="6233008" y="4114800"/>
            <a:ext cx="5410048" cy="2240280"/>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a:p>
        </p:txBody>
      </p:sp>
      <p:sp>
        <p:nvSpPr>
          <p:cNvPr id="32" name="Shape 30"/>
          <p:cNvSpPr/>
          <p:nvPr/>
        </p:nvSpPr>
        <p:spPr>
          <a:xfrm>
            <a:off x="6507328" y="4389120"/>
            <a:ext cx="594360" cy="594360"/>
          </a:xfrm>
          <a:prstGeom prst="ellipse">
            <a:avLst/>
          </a:prstGeom>
          <a:solidFill>
            <a:srgbClr val="500778"/>
          </a:solidFill>
          <a:ln/>
        </p:spPr>
        <p:txBody>
          <a:bodyPr/>
          <a:lstStyle/>
          <a:p>
            <a:endParaRPr lang="zh-CN" altLang="en-US"/>
          </a:p>
        </p:txBody>
      </p:sp>
      <p:sp>
        <p:nvSpPr>
          <p:cNvPr id="33" name="Text 31"/>
          <p:cNvSpPr/>
          <p:nvPr/>
        </p:nvSpPr>
        <p:spPr>
          <a:xfrm>
            <a:off x="6507328" y="438912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D</a:t>
            </a:r>
            <a:endParaRPr lang="en-US" sz="2000" dirty="0"/>
          </a:p>
        </p:txBody>
      </p:sp>
      <p:sp>
        <p:nvSpPr>
          <p:cNvPr id="34" name="Text 32"/>
          <p:cNvSpPr/>
          <p:nvPr/>
        </p:nvSpPr>
        <p:spPr>
          <a:xfrm>
            <a:off x="7193128" y="4407408"/>
            <a:ext cx="4221328" cy="548640"/>
          </a:xfrm>
          <a:prstGeom prst="rect">
            <a:avLst/>
          </a:prstGeom>
          <a:noFill/>
          <a:ln/>
        </p:spPr>
        <p:txBody>
          <a:bodyPr wrap="square" lIns="0" tIns="0" rIns="0" bIns="0" rtlCol="0" anchor="ctr"/>
          <a:lstStyle/>
          <a:p>
            <a:pPr marL="0" indent="0">
              <a:buNone/>
            </a:pPr>
            <a:r>
              <a:rPr lang="en-US" sz="2400" b="1" dirty="0">
                <a:solidFill>
                  <a:srgbClr val="500778"/>
                </a:solidFill>
                <a:latin typeface="Calibri" pitchFamily="34" charset="0"/>
                <a:ea typeface="Calibri" pitchFamily="34" charset="-122"/>
                <a:cs typeface="Calibri" pitchFamily="34" charset="-120"/>
              </a:rPr>
              <a:t>Multimodal generation</a:t>
            </a:r>
            <a:endParaRPr lang="en-US" sz="2400" dirty="0"/>
          </a:p>
        </p:txBody>
      </p:sp>
      <p:sp>
        <p:nvSpPr>
          <p:cNvPr id="35" name="Text 33"/>
          <p:cNvSpPr/>
          <p:nvPr/>
        </p:nvSpPr>
        <p:spPr>
          <a:xfrm>
            <a:off x="6507328" y="5074920"/>
            <a:ext cx="4861408" cy="228600"/>
          </a:xfrm>
          <a:prstGeom prst="rect">
            <a:avLst/>
          </a:prstGeom>
          <a:noFill/>
          <a:ln/>
        </p:spPr>
        <p:txBody>
          <a:bodyPr wrap="square" lIns="0" tIns="0" rIns="0" bIns="0" rtlCol="0" anchor="ctr"/>
          <a:lstStyle/>
          <a:p>
            <a:pPr marL="0" indent="0">
              <a:buNone/>
            </a:pPr>
            <a:r>
              <a:rPr lang="en-US" sz="1400" b="1" dirty="0">
                <a:solidFill>
                  <a:srgbClr val="6B6B6B"/>
                </a:solidFill>
                <a:latin typeface="Calibri" pitchFamily="34" charset="0"/>
                <a:ea typeface="Calibri" pitchFamily="34" charset="-122"/>
                <a:cs typeface="Calibri" pitchFamily="34" charset="-120"/>
              </a:rPr>
              <a:t>PROBLEM</a:t>
            </a:r>
            <a:endParaRPr lang="en-US" sz="1400" dirty="0"/>
          </a:p>
        </p:txBody>
      </p:sp>
      <p:sp>
        <p:nvSpPr>
          <p:cNvPr id="36" name="Text 34"/>
          <p:cNvSpPr/>
          <p:nvPr/>
        </p:nvSpPr>
        <p:spPr>
          <a:xfrm>
            <a:off x="6507328" y="5303520"/>
            <a:ext cx="4861408" cy="50292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One deterministic future cannot represent real-world uncertainty.</a:t>
            </a:r>
            <a:endParaRPr lang="en-US" sz="1600" dirty="0"/>
          </a:p>
        </p:txBody>
      </p:sp>
      <p:sp>
        <p:nvSpPr>
          <p:cNvPr id="37" name="Text 35"/>
          <p:cNvSpPr/>
          <p:nvPr/>
        </p:nvSpPr>
        <p:spPr>
          <a:xfrm>
            <a:off x="6507328" y="5799296"/>
            <a:ext cx="4861408" cy="228600"/>
          </a:xfrm>
          <a:prstGeom prst="rect">
            <a:avLst/>
          </a:prstGeom>
          <a:noFill/>
          <a:ln/>
        </p:spPr>
        <p:txBody>
          <a:bodyPr wrap="square" lIns="0" tIns="0" rIns="0" bIns="0" rtlCol="0" anchor="ctr"/>
          <a:lstStyle/>
          <a:p>
            <a:pPr marL="0" indent="0">
              <a:buNone/>
            </a:pPr>
            <a:r>
              <a:rPr lang="en-US" sz="1400" b="1" dirty="0">
                <a:solidFill>
                  <a:srgbClr val="6B6B6B"/>
                </a:solidFill>
                <a:latin typeface="Calibri" pitchFamily="34" charset="0"/>
                <a:ea typeface="Calibri" pitchFamily="34" charset="-122"/>
                <a:cs typeface="Calibri" pitchFamily="34" charset="-120"/>
              </a:rPr>
              <a:t>POSSIBLE FOCUS</a:t>
            </a:r>
            <a:endParaRPr lang="en-US" sz="1400" dirty="0"/>
          </a:p>
        </p:txBody>
      </p:sp>
      <p:sp>
        <p:nvSpPr>
          <p:cNvPr id="38" name="Text 36"/>
          <p:cNvSpPr/>
          <p:nvPr/>
        </p:nvSpPr>
        <p:spPr>
          <a:xfrm>
            <a:off x="6507327" y="6035040"/>
            <a:ext cx="5838752" cy="292608"/>
          </a:xfrm>
          <a:prstGeom prst="rect">
            <a:avLst/>
          </a:prstGeom>
          <a:noFill/>
          <a:ln/>
        </p:spPr>
        <p:txBody>
          <a:bodyPr wrap="square" lIns="0" tIns="0" rIns="0" bIns="0" rtlCol="0" anchor="ctr"/>
          <a:lstStyle/>
          <a:p>
            <a:pPr marL="0" indent="0">
              <a:buNone/>
            </a:pPr>
            <a:r>
              <a:rPr lang="en-US" sz="1600" i="1" dirty="0">
                <a:solidFill>
                  <a:srgbClr val="500778"/>
                </a:solidFill>
                <a:latin typeface="Calibri" pitchFamily="34" charset="0"/>
                <a:ea typeface="Calibri" pitchFamily="34" charset="-122"/>
                <a:cs typeface="Calibri" pitchFamily="34" charset="-120"/>
              </a:rPr>
              <a:t>Latent / mixture / token-based sampling for diverse rollouts.</a:t>
            </a:r>
            <a:endParaRPr lang="en-US" sz="1600" dirty="0"/>
          </a:p>
        </p:txBody>
      </p:sp>
      <p:pic>
        <p:nvPicPr>
          <p:cNvPr id="39" name="图片 38">
            <a:extLst>
              <a:ext uri="{FF2B5EF4-FFF2-40B4-BE49-F238E27FC236}">
                <a16:creationId xmlns:a16="http://schemas.microsoft.com/office/drawing/2014/main" id="{A7693F2B-E149-F4AD-8F47-2C5742464A22}"/>
              </a:ext>
            </a:extLst>
          </p:cNvPr>
          <p:cNvPicPr>
            <a:picLocks noChangeAspect="1"/>
          </p:cNvPicPr>
          <p:nvPr/>
        </p:nvPicPr>
        <p:blipFill>
          <a:blip r:embed="rId3"/>
          <a:stretch>
            <a:fillRect/>
          </a:stretch>
        </p:blipFill>
        <p:spPr>
          <a:xfrm>
            <a:off x="10985315" y="117279"/>
            <a:ext cx="1048895" cy="294202"/>
          </a:xfrm>
          <a:prstGeom prst="rect">
            <a:avLst/>
          </a:prstGeom>
        </p:spPr>
      </p:pic>
      <p:cxnSp>
        <p:nvCxnSpPr>
          <p:cNvPr id="40" name="直接连接符 39">
            <a:extLst>
              <a:ext uri="{FF2B5EF4-FFF2-40B4-BE49-F238E27FC236}">
                <a16:creationId xmlns:a16="http://schemas.microsoft.com/office/drawing/2014/main" id="{152F0FBD-5C3F-AF12-B4E7-E8C00F69C9F5}"/>
              </a:ext>
            </a:extLst>
          </p:cNvPr>
          <p:cNvCxnSpPr>
            <a:cxnSpLocks/>
          </p:cNvCxnSpPr>
          <p:nvPr/>
        </p:nvCxnSpPr>
        <p:spPr>
          <a:xfrm>
            <a:off x="548640" y="1105176"/>
            <a:ext cx="10545775" cy="0"/>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00778"/>
          </a:solidFill>
          <a:ln/>
        </p:spPr>
        <p:txBody>
          <a:bodyPr/>
          <a:lstStyle/>
          <a:p>
            <a:endParaRPr lang="zh-CN" altLang="en-US"/>
          </a:p>
        </p:txBody>
      </p:sp>
      <p:sp>
        <p:nvSpPr>
          <p:cNvPr id="3" name="Text 1"/>
          <p:cNvSpPr/>
          <p:nvPr/>
        </p:nvSpPr>
        <p:spPr>
          <a:xfrm>
            <a:off x="548640" y="411480"/>
            <a:ext cx="11094415" cy="685800"/>
          </a:xfrm>
          <a:prstGeom prst="rect">
            <a:avLst/>
          </a:prstGeom>
          <a:noFill/>
          <a:ln/>
        </p:spPr>
        <p:txBody>
          <a:bodyPr wrap="square" lIns="0" tIns="0" rIns="0" bIns="0" rtlCol="0" anchor="ctr"/>
          <a:lstStyle/>
          <a:p>
            <a:pPr marL="0" indent="0" algn="l">
              <a:buNone/>
            </a:pPr>
            <a:r>
              <a:rPr lang="en-US" sz="3000" b="1" dirty="0">
                <a:solidFill>
                  <a:srgbClr val="500778"/>
                </a:solidFill>
                <a:latin typeface="Calibri" pitchFamily="34" charset="0"/>
                <a:ea typeface="Calibri" pitchFamily="34" charset="-122"/>
                <a:cs typeface="Calibri" pitchFamily="34" charset="-120"/>
              </a:rPr>
              <a:t>Proposed initial focus: stable, interaction-aware sim agents</a:t>
            </a:r>
            <a:endParaRPr lang="en-US" sz="3000" dirty="0"/>
          </a:p>
        </p:txBody>
      </p:sp>
      <p:sp>
        <p:nvSpPr>
          <p:cNvPr id="5" name="Text 3"/>
          <p:cNvSpPr/>
          <p:nvPr/>
        </p:nvSpPr>
        <p:spPr>
          <a:xfrm>
            <a:off x="11094415" y="6492240"/>
            <a:ext cx="548640" cy="274320"/>
          </a:xfrm>
          <a:prstGeom prst="rect">
            <a:avLst/>
          </a:prstGeom>
          <a:noFill/>
          <a:ln/>
        </p:spPr>
        <p:txBody>
          <a:bodyPr wrap="square" lIns="0" tIns="0" rIns="0" bIns="0" rtlCol="0" anchor="ctr"/>
          <a:lstStyle/>
          <a:p>
            <a:pPr marL="0" indent="0" algn="r">
              <a:buNone/>
            </a:pPr>
            <a:r>
              <a:rPr lang="en-US" sz="1000" b="1" dirty="0">
                <a:solidFill>
                  <a:srgbClr val="500778"/>
                </a:solidFill>
                <a:latin typeface="Calibri" pitchFamily="34" charset="0"/>
                <a:ea typeface="Calibri" pitchFamily="34" charset="-122"/>
                <a:cs typeface="Calibri" pitchFamily="34" charset="-120"/>
              </a:rPr>
              <a:t>08</a:t>
            </a:r>
            <a:endParaRPr lang="en-US" sz="1000" dirty="0"/>
          </a:p>
        </p:txBody>
      </p:sp>
      <p:sp>
        <p:nvSpPr>
          <p:cNvPr id="6" name="Shape 4"/>
          <p:cNvSpPr/>
          <p:nvPr/>
        </p:nvSpPr>
        <p:spPr>
          <a:xfrm>
            <a:off x="548640" y="1280160"/>
            <a:ext cx="11094415" cy="1280160"/>
          </a:xfrm>
          <a:prstGeom prst="rect">
            <a:avLst/>
          </a:prstGeom>
          <a:solidFill>
            <a:srgbClr val="500778"/>
          </a:solidFill>
          <a:ln/>
          <a:effectLst>
            <a:outerShdw blurRad="101600" dist="25400" dir="5400000" algn="bl" rotWithShape="0">
              <a:srgbClr val="000000">
                <a:alpha val="10000"/>
              </a:srgbClr>
            </a:outerShdw>
          </a:effectLst>
        </p:spPr>
        <p:txBody>
          <a:bodyPr/>
          <a:lstStyle/>
          <a:p>
            <a:endParaRPr lang="zh-CN" altLang="en-US"/>
          </a:p>
        </p:txBody>
      </p:sp>
      <p:sp>
        <p:nvSpPr>
          <p:cNvPr id="7" name="Text 5"/>
          <p:cNvSpPr/>
          <p:nvPr/>
        </p:nvSpPr>
        <p:spPr>
          <a:xfrm>
            <a:off x="822960" y="1417320"/>
            <a:ext cx="10545775" cy="100584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A good sim agent must remain stable and socially plausible across an 80-step closed-loop rollout — not just predict the next position accurately.</a:t>
            </a:r>
            <a:endParaRPr lang="en-US" sz="1800" dirty="0"/>
          </a:p>
        </p:txBody>
      </p:sp>
      <p:sp>
        <p:nvSpPr>
          <p:cNvPr id="8" name="Shape 6"/>
          <p:cNvSpPr/>
          <p:nvPr/>
        </p:nvSpPr>
        <p:spPr>
          <a:xfrm>
            <a:off x="548640" y="2926080"/>
            <a:ext cx="2567864" cy="1554480"/>
          </a:xfrm>
          <a:prstGeom prst="rect">
            <a:avLst/>
          </a:prstGeom>
          <a:solidFill>
            <a:srgbClr val="F2EEF7"/>
          </a:solidFill>
          <a:ln/>
          <a:effectLst>
            <a:outerShdw blurRad="101600" dist="25400" dir="5400000" algn="bl" rotWithShape="0">
              <a:srgbClr val="000000">
                <a:alpha val="10000"/>
              </a:srgbClr>
            </a:outerShdw>
          </a:effectLst>
        </p:spPr>
        <p:txBody>
          <a:bodyPr/>
          <a:lstStyle/>
          <a:p>
            <a:endParaRPr lang="zh-CN" altLang="en-US"/>
          </a:p>
        </p:txBody>
      </p:sp>
      <p:sp>
        <p:nvSpPr>
          <p:cNvPr id="9" name="Shape 7"/>
          <p:cNvSpPr/>
          <p:nvPr/>
        </p:nvSpPr>
        <p:spPr>
          <a:xfrm>
            <a:off x="777240" y="3154680"/>
            <a:ext cx="411480" cy="411480"/>
          </a:xfrm>
          <a:prstGeom prst="ellipse">
            <a:avLst/>
          </a:prstGeom>
          <a:solidFill>
            <a:srgbClr val="500778"/>
          </a:solidFill>
          <a:ln/>
        </p:spPr>
        <p:txBody>
          <a:bodyPr/>
          <a:lstStyle/>
          <a:p>
            <a:endParaRPr lang="zh-CN" altLang="en-US"/>
          </a:p>
        </p:txBody>
      </p:sp>
      <p:sp>
        <p:nvSpPr>
          <p:cNvPr id="10" name="Text 8"/>
          <p:cNvSpPr/>
          <p:nvPr/>
        </p:nvSpPr>
        <p:spPr>
          <a:xfrm>
            <a:off x="777240" y="315468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p:nvPr/>
        </p:nvSpPr>
        <p:spPr>
          <a:xfrm>
            <a:off x="777240" y="3703320"/>
            <a:ext cx="2110664" cy="73152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Adversarial Agents model</a:t>
            </a:r>
            <a:endParaRPr lang="en-US" sz="1400" dirty="0"/>
          </a:p>
        </p:txBody>
      </p:sp>
      <p:sp>
        <p:nvSpPr>
          <p:cNvPr id="12" name="Shape 10"/>
          <p:cNvSpPr/>
          <p:nvPr/>
        </p:nvSpPr>
        <p:spPr>
          <a:xfrm>
            <a:off x="3390824" y="2926080"/>
            <a:ext cx="2567864" cy="1554480"/>
          </a:xfrm>
          <a:prstGeom prst="rect">
            <a:avLst/>
          </a:prstGeom>
          <a:solidFill>
            <a:srgbClr val="F2EEF7"/>
          </a:solidFill>
          <a:ln/>
          <a:effectLst>
            <a:outerShdw blurRad="101600" dist="25400" dir="5400000" algn="bl" rotWithShape="0">
              <a:srgbClr val="000000">
                <a:alpha val="10000"/>
              </a:srgbClr>
            </a:outerShdw>
          </a:effectLst>
        </p:spPr>
        <p:txBody>
          <a:bodyPr/>
          <a:lstStyle/>
          <a:p>
            <a:endParaRPr lang="zh-CN" altLang="en-US"/>
          </a:p>
        </p:txBody>
      </p:sp>
      <p:sp>
        <p:nvSpPr>
          <p:cNvPr id="13" name="Shape 11"/>
          <p:cNvSpPr/>
          <p:nvPr/>
        </p:nvSpPr>
        <p:spPr>
          <a:xfrm>
            <a:off x="3619424" y="3154680"/>
            <a:ext cx="411480" cy="411480"/>
          </a:xfrm>
          <a:prstGeom prst="ellipse">
            <a:avLst/>
          </a:prstGeom>
          <a:solidFill>
            <a:srgbClr val="500778"/>
          </a:solidFill>
          <a:ln/>
        </p:spPr>
        <p:txBody>
          <a:bodyPr/>
          <a:lstStyle/>
          <a:p>
            <a:endParaRPr lang="zh-CN" altLang="en-US"/>
          </a:p>
        </p:txBody>
      </p:sp>
      <p:sp>
        <p:nvSpPr>
          <p:cNvPr id="14" name="Text 12"/>
          <p:cNvSpPr/>
          <p:nvPr/>
        </p:nvSpPr>
        <p:spPr>
          <a:xfrm>
            <a:off x="3619424" y="315468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3619424" y="3703320"/>
            <a:ext cx="2110664" cy="73152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Reinforcement Learning</a:t>
            </a:r>
          </a:p>
          <a:p>
            <a:pPr marL="0" indent="0">
              <a:buNone/>
            </a:pPr>
            <a:r>
              <a:rPr lang="en-US" sz="1400" b="1" dirty="0"/>
              <a:t>Latent Variable Modeling</a:t>
            </a:r>
          </a:p>
        </p:txBody>
      </p:sp>
      <p:sp>
        <p:nvSpPr>
          <p:cNvPr id="16" name="Shape 14"/>
          <p:cNvSpPr/>
          <p:nvPr/>
        </p:nvSpPr>
        <p:spPr>
          <a:xfrm>
            <a:off x="6233008" y="2926080"/>
            <a:ext cx="2567864" cy="1554480"/>
          </a:xfrm>
          <a:prstGeom prst="rect">
            <a:avLst/>
          </a:prstGeom>
          <a:solidFill>
            <a:srgbClr val="F2EEF7"/>
          </a:solidFill>
          <a:ln/>
          <a:effectLst>
            <a:outerShdw blurRad="101600" dist="25400" dir="5400000" algn="bl" rotWithShape="0">
              <a:srgbClr val="000000">
                <a:alpha val="10000"/>
              </a:srgbClr>
            </a:outerShdw>
          </a:effectLst>
        </p:spPr>
        <p:txBody>
          <a:bodyPr/>
          <a:lstStyle/>
          <a:p>
            <a:endParaRPr lang="zh-CN" altLang="en-US"/>
          </a:p>
        </p:txBody>
      </p:sp>
      <p:sp>
        <p:nvSpPr>
          <p:cNvPr id="17" name="Shape 15"/>
          <p:cNvSpPr/>
          <p:nvPr/>
        </p:nvSpPr>
        <p:spPr>
          <a:xfrm>
            <a:off x="6461608" y="3154680"/>
            <a:ext cx="411480" cy="411480"/>
          </a:xfrm>
          <a:prstGeom prst="ellipse">
            <a:avLst/>
          </a:prstGeom>
          <a:solidFill>
            <a:srgbClr val="500778"/>
          </a:solidFill>
          <a:ln/>
        </p:spPr>
        <p:txBody>
          <a:bodyPr/>
          <a:lstStyle/>
          <a:p>
            <a:endParaRPr lang="zh-CN" altLang="en-US"/>
          </a:p>
        </p:txBody>
      </p:sp>
      <p:sp>
        <p:nvSpPr>
          <p:cNvPr id="18" name="Text 16"/>
          <p:cNvSpPr/>
          <p:nvPr/>
        </p:nvSpPr>
        <p:spPr>
          <a:xfrm>
            <a:off x="6461608" y="315468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6461608" y="3703320"/>
            <a:ext cx="2110664" cy="73152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Hidden Markov Models</a:t>
            </a:r>
          </a:p>
          <a:p>
            <a:pPr marL="0" indent="0">
              <a:buNone/>
            </a:pPr>
            <a:r>
              <a:rPr lang="en-US" sz="1400" b="1" dirty="0"/>
              <a:t>Probabilistic Modelling</a:t>
            </a:r>
          </a:p>
        </p:txBody>
      </p:sp>
      <p:sp>
        <p:nvSpPr>
          <p:cNvPr id="20" name="Shape 18"/>
          <p:cNvSpPr/>
          <p:nvPr/>
        </p:nvSpPr>
        <p:spPr>
          <a:xfrm>
            <a:off x="9075191" y="2926080"/>
            <a:ext cx="2567864" cy="1554480"/>
          </a:xfrm>
          <a:prstGeom prst="rect">
            <a:avLst/>
          </a:prstGeom>
          <a:solidFill>
            <a:srgbClr val="F2EEF7"/>
          </a:solidFill>
          <a:ln/>
          <a:effectLst>
            <a:outerShdw blurRad="101600" dist="25400" dir="5400000" algn="bl" rotWithShape="0">
              <a:srgbClr val="000000">
                <a:alpha val="10000"/>
              </a:srgbClr>
            </a:outerShdw>
          </a:effectLst>
        </p:spPr>
        <p:txBody>
          <a:bodyPr/>
          <a:lstStyle/>
          <a:p>
            <a:endParaRPr lang="zh-CN" altLang="en-US"/>
          </a:p>
        </p:txBody>
      </p:sp>
      <p:sp>
        <p:nvSpPr>
          <p:cNvPr id="21" name="Shape 19"/>
          <p:cNvSpPr/>
          <p:nvPr/>
        </p:nvSpPr>
        <p:spPr>
          <a:xfrm>
            <a:off x="9303791" y="3154680"/>
            <a:ext cx="411480" cy="411480"/>
          </a:xfrm>
          <a:prstGeom prst="ellipse">
            <a:avLst/>
          </a:prstGeom>
          <a:solidFill>
            <a:srgbClr val="500778"/>
          </a:solidFill>
          <a:ln/>
        </p:spPr>
        <p:txBody>
          <a:bodyPr/>
          <a:lstStyle/>
          <a:p>
            <a:endParaRPr lang="zh-CN" altLang="en-US"/>
          </a:p>
        </p:txBody>
      </p:sp>
      <p:sp>
        <p:nvSpPr>
          <p:cNvPr id="22" name="Text 20"/>
          <p:cNvSpPr/>
          <p:nvPr/>
        </p:nvSpPr>
        <p:spPr>
          <a:xfrm>
            <a:off x="9303791" y="315468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9303791" y="3703320"/>
            <a:ext cx="2110664" cy="73152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Loss terms: collision · off-road · smoothness</a:t>
            </a:r>
            <a:endParaRPr lang="en-US" sz="1400" dirty="0"/>
          </a:p>
        </p:txBody>
      </p:sp>
      <p:sp>
        <p:nvSpPr>
          <p:cNvPr id="24" name="Text 22"/>
          <p:cNvSpPr/>
          <p:nvPr/>
        </p:nvSpPr>
        <p:spPr>
          <a:xfrm>
            <a:off x="548640" y="4937760"/>
            <a:ext cx="10972800" cy="320040"/>
          </a:xfrm>
          <a:prstGeom prst="rect">
            <a:avLst/>
          </a:prstGeom>
          <a:noFill/>
          <a:ln/>
        </p:spPr>
        <p:txBody>
          <a:bodyPr wrap="square" lIns="0" tIns="0" rIns="0" bIns="0" rtlCol="0" anchor="ctr"/>
          <a:lstStyle/>
          <a:p>
            <a:pPr marL="0" indent="0">
              <a:buNone/>
            </a:pPr>
            <a:r>
              <a:rPr lang="en-US" b="1" kern="0" spc="200" dirty="0">
                <a:solidFill>
                  <a:srgbClr val="6B6B6B"/>
                </a:solidFill>
                <a:latin typeface="Calibri" pitchFamily="34" charset="0"/>
                <a:ea typeface="Calibri" pitchFamily="34" charset="-122"/>
                <a:cs typeface="Calibri" pitchFamily="34" charset="-120"/>
              </a:rPr>
              <a:t>First research goal</a:t>
            </a:r>
            <a:endParaRPr lang="en-US" dirty="0"/>
          </a:p>
        </p:txBody>
      </p:sp>
      <p:sp>
        <p:nvSpPr>
          <p:cNvPr id="25" name="Text 23"/>
          <p:cNvSpPr/>
          <p:nvPr/>
        </p:nvSpPr>
        <p:spPr>
          <a:xfrm>
            <a:off x="548640" y="5212080"/>
            <a:ext cx="10972800" cy="548640"/>
          </a:xfrm>
          <a:prstGeom prst="rect">
            <a:avLst/>
          </a:prstGeom>
          <a:noFill/>
          <a:ln/>
        </p:spPr>
        <p:txBody>
          <a:bodyPr wrap="square" lIns="0" tIns="0" rIns="0" bIns="0" rtlCol="0" anchor="ctr"/>
          <a:lstStyle/>
          <a:p>
            <a:pPr marL="0" indent="0">
              <a:buNone/>
            </a:pPr>
            <a:r>
              <a:rPr lang="en-US" sz="1600" b="1" i="1" dirty="0">
                <a:solidFill>
                  <a:srgbClr val="500778"/>
                </a:solidFill>
                <a:latin typeface="Calibri" pitchFamily="34" charset="0"/>
                <a:ea typeface="Calibri" pitchFamily="34" charset="-122"/>
                <a:cs typeface="Calibri" pitchFamily="34" charset="-120"/>
              </a:rPr>
              <a:t>Design a sim agent that improves closed-loop realism — not just open-loop prediction accuracy.</a:t>
            </a:r>
            <a:endParaRPr lang="en-US" sz="1600" dirty="0"/>
          </a:p>
        </p:txBody>
      </p:sp>
      <p:pic>
        <p:nvPicPr>
          <p:cNvPr id="26" name="图片 25">
            <a:extLst>
              <a:ext uri="{FF2B5EF4-FFF2-40B4-BE49-F238E27FC236}">
                <a16:creationId xmlns:a16="http://schemas.microsoft.com/office/drawing/2014/main" id="{CD622D3D-1F13-A9D0-2CDB-00F62ECF6966}"/>
              </a:ext>
            </a:extLst>
          </p:cNvPr>
          <p:cNvPicPr>
            <a:picLocks noChangeAspect="1"/>
          </p:cNvPicPr>
          <p:nvPr/>
        </p:nvPicPr>
        <p:blipFill>
          <a:blip r:embed="rId3"/>
          <a:stretch>
            <a:fillRect/>
          </a:stretch>
        </p:blipFill>
        <p:spPr>
          <a:xfrm>
            <a:off x="10985315" y="117279"/>
            <a:ext cx="1048895" cy="294202"/>
          </a:xfrm>
          <a:prstGeom prst="rect">
            <a:avLst/>
          </a:prstGeom>
        </p:spPr>
      </p:pic>
      <p:cxnSp>
        <p:nvCxnSpPr>
          <p:cNvPr id="27" name="直接连接符 26">
            <a:extLst>
              <a:ext uri="{FF2B5EF4-FFF2-40B4-BE49-F238E27FC236}">
                <a16:creationId xmlns:a16="http://schemas.microsoft.com/office/drawing/2014/main" id="{EAFB681D-4E71-1044-C4FC-BA4A5E518FBB}"/>
              </a:ext>
            </a:extLst>
          </p:cNvPr>
          <p:cNvCxnSpPr>
            <a:cxnSpLocks/>
          </p:cNvCxnSpPr>
          <p:nvPr/>
        </p:nvCxnSpPr>
        <p:spPr>
          <a:xfrm>
            <a:off x="548640" y="1105176"/>
            <a:ext cx="10545775" cy="0"/>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00778"/>
          </a:solidFill>
          <a:ln/>
        </p:spPr>
        <p:txBody>
          <a:bodyPr/>
          <a:lstStyle/>
          <a:p>
            <a:endParaRPr lang="zh-CN" altLang="en-US"/>
          </a:p>
        </p:txBody>
      </p:sp>
      <p:sp>
        <p:nvSpPr>
          <p:cNvPr id="3" name="Text 1"/>
          <p:cNvSpPr/>
          <p:nvPr/>
        </p:nvSpPr>
        <p:spPr>
          <a:xfrm>
            <a:off x="548640" y="411480"/>
            <a:ext cx="11094415" cy="685800"/>
          </a:xfrm>
          <a:prstGeom prst="rect">
            <a:avLst/>
          </a:prstGeom>
          <a:noFill/>
          <a:ln/>
        </p:spPr>
        <p:txBody>
          <a:bodyPr wrap="square" lIns="0" tIns="0" rIns="0" bIns="0" rtlCol="0" anchor="ctr"/>
          <a:lstStyle/>
          <a:p>
            <a:pPr marL="0" indent="0" algn="l">
              <a:buNone/>
            </a:pPr>
            <a:r>
              <a:rPr lang="en-US" sz="3000" b="1" dirty="0">
                <a:solidFill>
                  <a:srgbClr val="500778"/>
                </a:solidFill>
                <a:latin typeface="Calibri" pitchFamily="34" charset="0"/>
                <a:ea typeface="Calibri" pitchFamily="34" charset="-122"/>
                <a:cs typeface="Calibri" pitchFamily="34" charset="-120"/>
              </a:rPr>
              <a:t>Proposed roadmap</a:t>
            </a:r>
            <a:endParaRPr lang="en-US" sz="3000" dirty="0"/>
          </a:p>
        </p:txBody>
      </p:sp>
      <p:sp>
        <p:nvSpPr>
          <p:cNvPr id="5" name="Text 3"/>
          <p:cNvSpPr/>
          <p:nvPr/>
        </p:nvSpPr>
        <p:spPr>
          <a:xfrm>
            <a:off x="11094415" y="6492240"/>
            <a:ext cx="548640" cy="274320"/>
          </a:xfrm>
          <a:prstGeom prst="rect">
            <a:avLst/>
          </a:prstGeom>
          <a:noFill/>
          <a:ln/>
        </p:spPr>
        <p:txBody>
          <a:bodyPr wrap="square" lIns="0" tIns="0" rIns="0" bIns="0" rtlCol="0" anchor="ctr"/>
          <a:lstStyle/>
          <a:p>
            <a:pPr marL="0" indent="0" algn="r">
              <a:buNone/>
            </a:pPr>
            <a:r>
              <a:rPr lang="en-US" sz="1000" b="1" dirty="0">
                <a:solidFill>
                  <a:srgbClr val="500778"/>
                </a:solidFill>
                <a:latin typeface="Calibri" pitchFamily="34" charset="0"/>
                <a:ea typeface="Calibri" pitchFamily="34" charset="-122"/>
                <a:cs typeface="Calibri" pitchFamily="34" charset="-120"/>
              </a:rPr>
              <a:t>09</a:t>
            </a:r>
            <a:endParaRPr lang="en-US" sz="1000" dirty="0"/>
          </a:p>
        </p:txBody>
      </p:sp>
      <p:sp>
        <p:nvSpPr>
          <p:cNvPr id="6" name="Text 4"/>
          <p:cNvSpPr/>
          <p:nvPr/>
        </p:nvSpPr>
        <p:spPr>
          <a:xfrm>
            <a:off x="548640" y="1234440"/>
            <a:ext cx="10972800" cy="365760"/>
          </a:xfrm>
          <a:prstGeom prst="rect">
            <a:avLst/>
          </a:prstGeom>
          <a:noFill/>
          <a:ln/>
        </p:spPr>
        <p:txBody>
          <a:bodyPr wrap="square" lIns="0" tIns="0" rIns="0" bIns="0" rtlCol="0" anchor="ctr"/>
          <a:lstStyle/>
          <a:p>
            <a:pPr marL="0" indent="0">
              <a:buNone/>
            </a:pPr>
            <a:r>
              <a:rPr lang="en-US" sz="2000" dirty="0">
                <a:solidFill>
                  <a:srgbClr val="1A1A1A"/>
                </a:solidFill>
                <a:latin typeface="Calibri" pitchFamily="34" charset="0"/>
                <a:ea typeface="Calibri" pitchFamily="34" charset="-122"/>
                <a:cs typeface="Calibri" pitchFamily="34" charset="-120"/>
              </a:rPr>
              <a:t>Diagnosis-driven: understand failures first, then design a focused improvement.</a:t>
            </a:r>
            <a:endParaRPr lang="en-US" sz="2000" dirty="0"/>
          </a:p>
        </p:txBody>
      </p:sp>
      <p:sp>
        <p:nvSpPr>
          <p:cNvPr id="7" name="Shape 5"/>
          <p:cNvSpPr/>
          <p:nvPr/>
        </p:nvSpPr>
        <p:spPr>
          <a:xfrm>
            <a:off x="1051560" y="2514600"/>
            <a:ext cx="10088575" cy="36576"/>
          </a:xfrm>
          <a:prstGeom prst="rect">
            <a:avLst/>
          </a:prstGeom>
          <a:solidFill>
            <a:srgbClr val="C8B8D6"/>
          </a:solidFill>
          <a:ln/>
        </p:spPr>
        <p:txBody>
          <a:bodyPr/>
          <a:lstStyle/>
          <a:p>
            <a:endParaRPr lang="zh-CN" altLang="en-US"/>
          </a:p>
        </p:txBody>
      </p:sp>
      <p:sp>
        <p:nvSpPr>
          <p:cNvPr id="8" name="Shape 6"/>
          <p:cNvSpPr/>
          <p:nvPr/>
        </p:nvSpPr>
        <p:spPr>
          <a:xfrm>
            <a:off x="886968" y="2368296"/>
            <a:ext cx="329184" cy="329184"/>
          </a:xfrm>
          <a:prstGeom prst="ellipse">
            <a:avLst/>
          </a:prstGeom>
          <a:solidFill>
            <a:srgbClr val="500778"/>
          </a:solidFill>
          <a:ln/>
        </p:spPr>
        <p:txBody>
          <a:bodyPr/>
          <a:lstStyle/>
          <a:p>
            <a:endParaRPr lang="zh-CN" altLang="en-US"/>
          </a:p>
        </p:txBody>
      </p:sp>
      <p:sp>
        <p:nvSpPr>
          <p:cNvPr id="9" name="Text 7"/>
          <p:cNvSpPr/>
          <p:nvPr/>
        </p:nvSpPr>
        <p:spPr>
          <a:xfrm>
            <a:off x="886968" y="2368296"/>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361684" y="2880360"/>
            <a:ext cx="1467116" cy="1280160"/>
          </a:xfrm>
          <a:prstGeom prst="rect">
            <a:avLst/>
          </a:prstGeom>
          <a:noFill/>
          <a:ln/>
        </p:spPr>
        <p:txBody>
          <a:bodyPr wrap="square" lIns="0" tIns="0" rIns="0" bIns="0" rtlCol="0" anchor="t"/>
          <a:lstStyle/>
          <a:p>
            <a:pPr marL="0" indent="0" algn="ctr">
              <a:buNone/>
            </a:pPr>
            <a:r>
              <a:rPr lang="en-US" sz="1600" dirty="0">
                <a:solidFill>
                  <a:srgbClr val="1A1A1A"/>
                </a:solidFill>
                <a:latin typeface="Calibri" pitchFamily="34" charset="0"/>
                <a:ea typeface="Calibri" pitchFamily="34" charset="-122"/>
                <a:cs typeface="Calibri" pitchFamily="34" charset="-120"/>
              </a:rPr>
              <a:t>Understand data, metrics, rollout format</a:t>
            </a:r>
            <a:endParaRPr lang="en-US" sz="1600" dirty="0"/>
          </a:p>
        </p:txBody>
      </p:sp>
      <p:sp>
        <p:nvSpPr>
          <p:cNvPr id="11" name="Shape 9"/>
          <p:cNvSpPr/>
          <p:nvPr/>
        </p:nvSpPr>
        <p:spPr>
          <a:xfrm>
            <a:off x="2568397" y="2368296"/>
            <a:ext cx="329184" cy="329184"/>
          </a:xfrm>
          <a:prstGeom prst="ellipse">
            <a:avLst/>
          </a:prstGeom>
          <a:solidFill>
            <a:srgbClr val="500778"/>
          </a:solidFill>
          <a:ln/>
        </p:spPr>
        <p:txBody>
          <a:bodyPr/>
          <a:lstStyle/>
          <a:p>
            <a:endParaRPr lang="zh-CN" altLang="en-US"/>
          </a:p>
        </p:txBody>
      </p:sp>
      <p:sp>
        <p:nvSpPr>
          <p:cNvPr id="12" name="Text 10"/>
          <p:cNvSpPr/>
          <p:nvPr/>
        </p:nvSpPr>
        <p:spPr>
          <a:xfrm>
            <a:off x="2568397" y="2368296"/>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2043113" y="2880360"/>
            <a:ext cx="1467116" cy="1280160"/>
          </a:xfrm>
          <a:prstGeom prst="rect">
            <a:avLst/>
          </a:prstGeom>
          <a:noFill/>
          <a:ln/>
        </p:spPr>
        <p:txBody>
          <a:bodyPr wrap="square" lIns="0" tIns="0" rIns="0" bIns="0" rtlCol="0" anchor="t"/>
          <a:lstStyle/>
          <a:p>
            <a:pPr marL="0" indent="0" algn="ctr">
              <a:buNone/>
            </a:pPr>
            <a:r>
              <a:rPr lang="en-US" sz="1600" dirty="0">
                <a:solidFill>
                  <a:srgbClr val="1A1A1A"/>
                </a:solidFill>
                <a:latin typeface="Calibri" pitchFamily="34" charset="0"/>
                <a:ea typeface="Calibri" pitchFamily="34" charset="-122"/>
                <a:cs typeface="Calibri" pitchFamily="34" charset="-120"/>
              </a:rPr>
              <a:t>Reproduce Waymax baseline pipeline</a:t>
            </a:r>
            <a:endParaRPr lang="en-US" sz="1600" dirty="0"/>
          </a:p>
        </p:txBody>
      </p:sp>
      <p:sp>
        <p:nvSpPr>
          <p:cNvPr id="14" name="Shape 12"/>
          <p:cNvSpPr/>
          <p:nvPr/>
        </p:nvSpPr>
        <p:spPr>
          <a:xfrm>
            <a:off x="4249826" y="2368296"/>
            <a:ext cx="329184" cy="329184"/>
          </a:xfrm>
          <a:prstGeom prst="ellipse">
            <a:avLst/>
          </a:prstGeom>
          <a:solidFill>
            <a:srgbClr val="500778"/>
          </a:solidFill>
          <a:ln/>
        </p:spPr>
        <p:txBody>
          <a:bodyPr/>
          <a:lstStyle/>
          <a:p>
            <a:endParaRPr lang="zh-CN" altLang="en-US"/>
          </a:p>
        </p:txBody>
      </p:sp>
      <p:sp>
        <p:nvSpPr>
          <p:cNvPr id="15" name="Text 13"/>
          <p:cNvSpPr/>
          <p:nvPr/>
        </p:nvSpPr>
        <p:spPr>
          <a:xfrm>
            <a:off x="4249826" y="2368296"/>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3724542" y="2880360"/>
            <a:ext cx="1467116" cy="1280160"/>
          </a:xfrm>
          <a:prstGeom prst="rect">
            <a:avLst/>
          </a:prstGeom>
          <a:noFill/>
          <a:ln/>
        </p:spPr>
        <p:txBody>
          <a:bodyPr wrap="square" lIns="0" tIns="0" rIns="0" bIns="0" rtlCol="0" anchor="t"/>
          <a:lstStyle/>
          <a:p>
            <a:pPr marL="0" indent="0" algn="ctr">
              <a:buNone/>
            </a:pPr>
            <a:r>
              <a:rPr lang="en-US" sz="1600" dirty="0">
                <a:solidFill>
                  <a:srgbClr val="1A1A1A"/>
                </a:solidFill>
                <a:latin typeface="Calibri" pitchFamily="34" charset="0"/>
                <a:ea typeface="Calibri" pitchFamily="34" charset="-122"/>
                <a:cs typeface="Calibri" pitchFamily="34" charset="-120"/>
              </a:rPr>
              <a:t>Diagnose baseline failure modes</a:t>
            </a:r>
            <a:endParaRPr lang="en-US" sz="1600" dirty="0"/>
          </a:p>
        </p:txBody>
      </p:sp>
      <p:sp>
        <p:nvSpPr>
          <p:cNvPr id="17" name="Shape 15"/>
          <p:cNvSpPr/>
          <p:nvPr/>
        </p:nvSpPr>
        <p:spPr>
          <a:xfrm>
            <a:off x="5931256" y="2368296"/>
            <a:ext cx="329184" cy="329184"/>
          </a:xfrm>
          <a:prstGeom prst="ellipse">
            <a:avLst/>
          </a:prstGeom>
          <a:solidFill>
            <a:srgbClr val="500778"/>
          </a:solidFill>
          <a:ln/>
        </p:spPr>
        <p:txBody>
          <a:bodyPr/>
          <a:lstStyle/>
          <a:p>
            <a:endParaRPr lang="zh-CN" altLang="en-US"/>
          </a:p>
        </p:txBody>
      </p:sp>
      <p:sp>
        <p:nvSpPr>
          <p:cNvPr id="18" name="Text 16"/>
          <p:cNvSpPr/>
          <p:nvPr/>
        </p:nvSpPr>
        <p:spPr>
          <a:xfrm>
            <a:off x="5931256" y="2368296"/>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9" name="Text 17"/>
          <p:cNvSpPr/>
          <p:nvPr/>
        </p:nvSpPr>
        <p:spPr>
          <a:xfrm>
            <a:off x="5405972" y="2880360"/>
            <a:ext cx="1467116" cy="1280160"/>
          </a:xfrm>
          <a:prstGeom prst="rect">
            <a:avLst/>
          </a:prstGeom>
          <a:noFill/>
          <a:ln/>
        </p:spPr>
        <p:txBody>
          <a:bodyPr wrap="square" lIns="0" tIns="0" rIns="0" bIns="0" rtlCol="0" anchor="t"/>
          <a:lstStyle/>
          <a:p>
            <a:pPr marL="0" indent="0" algn="ctr">
              <a:buNone/>
            </a:pPr>
            <a:r>
              <a:rPr lang="en-US" sz="1600" dirty="0">
                <a:solidFill>
                  <a:srgbClr val="1A1A1A"/>
                </a:solidFill>
                <a:latin typeface="Calibri" pitchFamily="34" charset="0"/>
                <a:ea typeface="Calibri" pitchFamily="34" charset="-122"/>
                <a:cs typeface="Calibri" pitchFamily="34" charset="-120"/>
              </a:rPr>
              <a:t>Select one research focus</a:t>
            </a:r>
            <a:endParaRPr lang="en-US" sz="1600" dirty="0"/>
          </a:p>
        </p:txBody>
      </p:sp>
      <p:sp>
        <p:nvSpPr>
          <p:cNvPr id="20" name="Shape 18"/>
          <p:cNvSpPr/>
          <p:nvPr/>
        </p:nvSpPr>
        <p:spPr>
          <a:xfrm>
            <a:off x="7612685" y="2368296"/>
            <a:ext cx="329184" cy="329184"/>
          </a:xfrm>
          <a:prstGeom prst="ellipse">
            <a:avLst/>
          </a:prstGeom>
          <a:solidFill>
            <a:srgbClr val="500778"/>
          </a:solidFill>
          <a:ln/>
        </p:spPr>
        <p:txBody>
          <a:bodyPr/>
          <a:lstStyle/>
          <a:p>
            <a:endParaRPr lang="zh-CN" altLang="en-US"/>
          </a:p>
        </p:txBody>
      </p:sp>
      <p:sp>
        <p:nvSpPr>
          <p:cNvPr id="21" name="Text 19"/>
          <p:cNvSpPr/>
          <p:nvPr/>
        </p:nvSpPr>
        <p:spPr>
          <a:xfrm>
            <a:off x="7612685" y="2368296"/>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2" name="Text 20"/>
          <p:cNvSpPr/>
          <p:nvPr/>
        </p:nvSpPr>
        <p:spPr>
          <a:xfrm>
            <a:off x="7087401" y="2880360"/>
            <a:ext cx="1467116" cy="1280160"/>
          </a:xfrm>
          <a:prstGeom prst="rect">
            <a:avLst/>
          </a:prstGeom>
          <a:noFill/>
          <a:ln/>
        </p:spPr>
        <p:txBody>
          <a:bodyPr wrap="square" lIns="0" tIns="0" rIns="0" bIns="0" rtlCol="0" anchor="t"/>
          <a:lstStyle/>
          <a:p>
            <a:pPr marL="0" indent="0" algn="ctr">
              <a:buNone/>
            </a:pPr>
            <a:r>
              <a:rPr lang="en-US" sz="1600" dirty="0">
                <a:solidFill>
                  <a:srgbClr val="1A1A1A"/>
                </a:solidFill>
                <a:latin typeface="Calibri" pitchFamily="34" charset="0"/>
                <a:ea typeface="Calibri" pitchFamily="34" charset="-122"/>
                <a:cs typeface="Calibri" pitchFamily="34" charset="-120"/>
              </a:rPr>
              <a:t>Design improved sim-agent model</a:t>
            </a:r>
            <a:endParaRPr lang="en-US" sz="1600" dirty="0"/>
          </a:p>
        </p:txBody>
      </p:sp>
      <p:sp>
        <p:nvSpPr>
          <p:cNvPr id="23" name="Shape 21"/>
          <p:cNvSpPr/>
          <p:nvPr/>
        </p:nvSpPr>
        <p:spPr>
          <a:xfrm>
            <a:off x="9294114" y="2368296"/>
            <a:ext cx="329184" cy="329184"/>
          </a:xfrm>
          <a:prstGeom prst="ellipse">
            <a:avLst/>
          </a:prstGeom>
          <a:solidFill>
            <a:srgbClr val="500778"/>
          </a:solidFill>
          <a:ln/>
        </p:spPr>
        <p:txBody>
          <a:bodyPr/>
          <a:lstStyle/>
          <a:p>
            <a:endParaRPr lang="zh-CN" altLang="en-US"/>
          </a:p>
        </p:txBody>
      </p:sp>
      <p:sp>
        <p:nvSpPr>
          <p:cNvPr id="24" name="Text 22"/>
          <p:cNvSpPr/>
          <p:nvPr/>
        </p:nvSpPr>
        <p:spPr>
          <a:xfrm>
            <a:off x="9294114" y="2368296"/>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5" name="Text 23"/>
          <p:cNvSpPr/>
          <p:nvPr/>
        </p:nvSpPr>
        <p:spPr>
          <a:xfrm>
            <a:off x="8768830" y="2880360"/>
            <a:ext cx="1467116" cy="1280160"/>
          </a:xfrm>
          <a:prstGeom prst="rect">
            <a:avLst/>
          </a:prstGeom>
          <a:noFill/>
          <a:ln/>
        </p:spPr>
        <p:txBody>
          <a:bodyPr wrap="square" lIns="0" tIns="0" rIns="0" bIns="0" rtlCol="0" anchor="t"/>
          <a:lstStyle/>
          <a:p>
            <a:pPr marL="0" indent="0" algn="ctr">
              <a:buNone/>
            </a:pPr>
            <a:r>
              <a:rPr lang="en-US" sz="1600" dirty="0">
                <a:solidFill>
                  <a:srgbClr val="1A1A1A"/>
                </a:solidFill>
                <a:latin typeface="Calibri" pitchFamily="34" charset="0"/>
                <a:ea typeface="Calibri" pitchFamily="34" charset="-122"/>
                <a:cs typeface="Calibri" pitchFamily="34" charset="-120"/>
              </a:rPr>
              <a:t>Compare against simple baselines</a:t>
            </a:r>
            <a:endParaRPr lang="en-US" sz="1600" dirty="0"/>
          </a:p>
        </p:txBody>
      </p:sp>
      <p:sp>
        <p:nvSpPr>
          <p:cNvPr id="26" name="Shape 24"/>
          <p:cNvSpPr/>
          <p:nvPr/>
        </p:nvSpPr>
        <p:spPr>
          <a:xfrm>
            <a:off x="10975543" y="2368296"/>
            <a:ext cx="329184" cy="329184"/>
          </a:xfrm>
          <a:prstGeom prst="ellipse">
            <a:avLst/>
          </a:prstGeom>
          <a:solidFill>
            <a:srgbClr val="500778"/>
          </a:solidFill>
          <a:ln/>
        </p:spPr>
        <p:txBody>
          <a:bodyPr/>
          <a:lstStyle/>
          <a:p>
            <a:endParaRPr lang="zh-CN" altLang="en-US"/>
          </a:p>
        </p:txBody>
      </p:sp>
      <p:sp>
        <p:nvSpPr>
          <p:cNvPr id="27" name="Text 25"/>
          <p:cNvSpPr/>
          <p:nvPr/>
        </p:nvSpPr>
        <p:spPr>
          <a:xfrm>
            <a:off x="10975543" y="2368296"/>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8" name="Text 26"/>
          <p:cNvSpPr/>
          <p:nvPr/>
        </p:nvSpPr>
        <p:spPr>
          <a:xfrm>
            <a:off x="10450259" y="2880360"/>
            <a:ext cx="1467116" cy="1280160"/>
          </a:xfrm>
          <a:prstGeom prst="rect">
            <a:avLst/>
          </a:prstGeom>
          <a:noFill/>
          <a:ln/>
        </p:spPr>
        <p:txBody>
          <a:bodyPr wrap="square" lIns="0" tIns="0" rIns="0" bIns="0" rtlCol="0" anchor="t"/>
          <a:lstStyle/>
          <a:p>
            <a:pPr marL="0" indent="0" algn="ctr">
              <a:buNone/>
            </a:pPr>
            <a:r>
              <a:rPr lang="en-US" sz="1600" dirty="0">
                <a:solidFill>
                  <a:srgbClr val="1A1A1A"/>
                </a:solidFill>
                <a:latin typeface="Calibri" pitchFamily="34" charset="0"/>
                <a:ea typeface="Calibri" pitchFamily="34" charset="-122"/>
                <a:cs typeface="Calibri" pitchFamily="34" charset="-120"/>
              </a:rPr>
              <a:t>Analyse improvements and limitations</a:t>
            </a:r>
            <a:endParaRPr lang="en-US" sz="1600" dirty="0"/>
          </a:p>
        </p:txBody>
      </p:sp>
      <p:sp>
        <p:nvSpPr>
          <p:cNvPr id="29" name="Shape 27"/>
          <p:cNvSpPr/>
          <p:nvPr/>
        </p:nvSpPr>
        <p:spPr>
          <a:xfrm>
            <a:off x="548640" y="4297680"/>
            <a:ext cx="3515258" cy="1691640"/>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a:p>
        </p:txBody>
      </p:sp>
      <p:sp>
        <p:nvSpPr>
          <p:cNvPr id="30" name="Shape 28"/>
          <p:cNvSpPr/>
          <p:nvPr/>
        </p:nvSpPr>
        <p:spPr>
          <a:xfrm>
            <a:off x="548640" y="4297680"/>
            <a:ext cx="3515258" cy="411480"/>
          </a:xfrm>
          <a:prstGeom prst="rect">
            <a:avLst/>
          </a:prstGeom>
          <a:solidFill>
            <a:srgbClr val="500778"/>
          </a:solidFill>
          <a:ln/>
        </p:spPr>
        <p:txBody>
          <a:bodyPr/>
          <a:lstStyle/>
          <a:p>
            <a:endParaRPr lang="zh-CN" altLang="en-US"/>
          </a:p>
        </p:txBody>
      </p:sp>
      <p:sp>
        <p:nvSpPr>
          <p:cNvPr id="31" name="Text 29"/>
          <p:cNvSpPr/>
          <p:nvPr/>
        </p:nvSpPr>
        <p:spPr>
          <a:xfrm>
            <a:off x="731520" y="4297680"/>
            <a:ext cx="3149498" cy="411480"/>
          </a:xfrm>
          <a:prstGeom prst="rect">
            <a:avLst/>
          </a:prstGeom>
          <a:noFill/>
          <a:ln/>
        </p:spPr>
        <p:txBody>
          <a:bodyPr wrap="square" lIns="0" tIns="0" rIns="0" bIns="0" rtlCol="0" anchor="ctr"/>
          <a:lstStyle/>
          <a:p>
            <a:pPr marL="0" indent="0">
              <a:buNone/>
            </a:pPr>
            <a:r>
              <a:rPr lang="en-US" sz="2000" b="1" kern="0" spc="200" dirty="0">
                <a:solidFill>
                  <a:srgbClr val="FFFFFF"/>
                </a:solidFill>
                <a:latin typeface="Calibri" pitchFamily="34" charset="0"/>
                <a:ea typeface="Calibri" pitchFamily="34" charset="-122"/>
                <a:cs typeface="Calibri" pitchFamily="34" charset="-120"/>
              </a:rPr>
              <a:t>PHASE 1</a:t>
            </a:r>
            <a:endParaRPr lang="en-US" sz="2000" dirty="0"/>
          </a:p>
        </p:txBody>
      </p:sp>
      <p:sp>
        <p:nvSpPr>
          <p:cNvPr id="32" name="Text 30"/>
          <p:cNvSpPr/>
          <p:nvPr/>
        </p:nvSpPr>
        <p:spPr>
          <a:xfrm>
            <a:off x="731520" y="4297680"/>
            <a:ext cx="3149498" cy="411480"/>
          </a:xfrm>
          <a:prstGeom prst="rect">
            <a:avLst/>
          </a:prstGeom>
          <a:noFill/>
          <a:ln/>
        </p:spPr>
        <p:txBody>
          <a:bodyPr wrap="square" lIns="0" tIns="0" rIns="0" bIns="0" rtlCol="0" anchor="ctr"/>
          <a:lstStyle/>
          <a:p>
            <a:pPr marL="0" indent="0" algn="r">
              <a:buNone/>
            </a:pPr>
            <a:r>
              <a:rPr lang="en-US" sz="1100" i="1" dirty="0">
                <a:solidFill>
                  <a:srgbClr val="E0D0EE"/>
                </a:solidFill>
                <a:latin typeface="Calibri" pitchFamily="34" charset="0"/>
                <a:ea typeface="Calibri" pitchFamily="34" charset="-122"/>
                <a:cs typeface="Calibri" pitchFamily="34" charset="-120"/>
              </a:rPr>
              <a:t>weeks 1–3</a:t>
            </a:r>
            <a:endParaRPr lang="en-US" sz="1100" dirty="0"/>
          </a:p>
        </p:txBody>
      </p:sp>
      <p:sp>
        <p:nvSpPr>
          <p:cNvPr id="33" name="Text 31"/>
          <p:cNvSpPr/>
          <p:nvPr/>
        </p:nvSpPr>
        <p:spPr>
          <a:xfrm>
            <a:off x="731520" y="4800600"/>
            <a:ext cx="3149498" cy="365760"/>
          </a:xfrm>
          <a:prstGeom prst="rect">
            <a:avLst/>
          </a:prstGeom>
          <a:noFill/>
          <a:ln/>
        </p:spPr>
        <p:txBody>
          <a:bodyPr wrap="square" lIns="0" tIns="0" rIns="0" bIns="0" rtlCol="0" anchor="ctr"/>
          <a:lstStyle/>
          <a:p>
            <a:pPr marL="0" indent="0">
              <a:buNone/>
            </a:pPr>
            <a:r>
              <a:rPr lang="en-US" b="1" dirty="0">
                <a:solidFill>
                  <a:srgbClr val="500778"/>
                </a:solidFill>
                <a:latin typeface="Calibri" pitchFamily="34" charset="0"/>
                <a:ea typeface="Calibri" pitchFamily="34" charset="-122"/>
                <a:cs typeface="Calibri" pitchFamily="34" charset="-120"/>
              </a:rPr>
              <a:t>Reproduce + diagnose</a:t>
            </a:r>
            <a:endParaRPr lang="en-US" dirty="0"/>
          </a:p>
        </p:txBody>
      </p:sp>
      <p:sp>
        <p:nvSpPr>
          <p:cNvPr id="34" name="Text 32"/>
          <p:cNvSpPr/>
          <p:nvPr/>
        </p:nvSpPr>
        <p:spPr>
          <a:xfrm>
            <a:off x="731520" y="5166360"/>
            <a:ext cx="3149498" cy="274320"/>
          </a:xfrm>
          <a:prstGeom prst="rect">
            <a:avLst/>
          </a:prstGeom>
          <a:noFill/>
          <a:ln/>
        </p:spPr>
        <p:txBody>
          <a:bodyPr wrap="square" lIns="0" tIns="0" rIns="0" bIns="0" rtlCol="0" anchor="ctr"/>
          <a:lstStyle/>
          <a:p>
            <a:pPr marL="0" indent="0">
              <a:buNone/>
            </a:pPr>
            <a:r>
              <a:rPr lang="en-US" sz="1600" dirty="0">
                <a:solidFill>
                  <a:srgbClr val="6B6B6B"/>
                </a:solidFill>
                <a:latin typeface="Calibri" pitchFamily="34" charset="0"/>
                <a:ea typeface="Calibri" pitchFamily="34" charset="-122"/>
                <a:cs typeface="Calibri" pitchFamily="34" charset="-120"/>
              </a:rPr>
              <a:t>Stages 1–3</a:t>
            </a:r>
            <a:endParaRPr lang="en-US" sz="1600" dirty="0"/>
          </a:p>
        </p:txBody>
      </p:sp>
      <p:sp>
        <p:nvSpPr>
          <p:cNvPr id="35" name="Text 33"/>
          <p:cNvSpPr/>
          <p:nvPr/>
        </p:nvSpPr>
        <p:spPr>
          <a:xfrm>
            <a:off x="731520" y="5440680"/>
            <a:ext cx="3149498" cy="502920"/>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Understand data, run Waymax tutorial, score three baselines, characterise failure modes.</a:t>
            </a:r>
            <a:endParaRPr lang="en-US" sz="1200" dirty="0"/>
          </a:p>
        </p:txBody>
      </p:sp>
      <p:sp>
        <p:nvSpPr>
          <p:cNvPr id="36" name="Shape 34"/>
          <p:cNvSpPr/>
          <p:nvPr/>
        </p:nvSpPr>
        <p:spPr>
          <a:xfrm>
            <a:off x="4338218" y="4297680"/>
            <a:ext cx="3515258" cy="1691640"/>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a:p>
        </p:txBody>
      </p:sp>
      <p:sp>
        <p:nvSpPr>
          <p:cNvPr id="37" name="Shape 35"/>
          <p:cNvSpPr/>
          <p:nvPr/>
        </p:nvSpPr>
        <p:spPr>
          <a:xfrm>
            <a:off x="4338218" y="4297680"/>
            <a:ext cx="3515258" cy="411480"/>
          </a:xfrm>
          <a:prstGeom prst="rect">
            <a:avLst/>
          </a:prstGeom>
          <a:solidFill>
            <a:srgbClr val="500778"/>
          </a:solidFill>
          <a:ln/>
        </p:spPr>
        <p:txBody>
          <a:bodyPr/>
          <a:lstStyle/>
          <a:p>
            <a:endParaRPr lang="zh-CN" altLang="en-US"/>
          </a:p>
        </p:txBody>
      </p:sp>
      <p:sp>
        <p:nvSpPr>
          <p:cNvPr id="38" name="Text 36"/>
          <p:cNvSpPr/>
          <p:nvPr/>
        </p:nvSpPr>
        <p:spPr>
          <a:xfrm>
            <a:off x="4521098" y="4297680"/>
            <a:ext cx="3149498" cy="411480"/>
          </a:xfrm>
          <a:prstGeom prst="rect">
            <a:avLst/>
          </a:prstGeom>
          <a:noFill/>
          <a:ln/>
        </p:spPr>
        <p:txBody>
          <a:bodyPr wrap="square" lIns="0" tIns="0" rIns="0" bIns="0" rtlCol="0" anchor="ctr"/>
          <a:lstStyle/>
          <a:p>
            <a:pPr marL="0" indent="0">
              <a:buNone/>
            </a:pPr>
            <a:r>
              <a:rPr lang="en-US" sz="2000" b="1" kern="0" spc="200" dirty="0">
                <a:solidFill>
                  <a:srgbClr val="FFFFFF"/>
                </a:solidFill>
                <a:latin typeface="Calibri" pitchFamily="34" charset="0"/>
                <a:ea typeface="Calibri" pitchFamily="34" charset="-122"/>
                <a:cs typeface="Calibri" pitchFamily="34" charset="-120"/>
              </a:rPr>
              <a:t>PHASE 2</a:t>
            </a:r>
            <a:endParaRPr lang="en-US" sz="2000" dirty="0"/>
          </a:p>
        </p:txBody>
      </p:sp>
      <p:sp>
        <p:nvSpPr>
          <p:cNvPr id="39" name="Text 37"/>
          <p:cNvSpPr/>
          <p:nvPr/>
        </p:nvSpPr>
        <p:spPr>
          <a:xfrm>
            <a:off x="4521098" y="4297680"/>
            <a:ext cx="3149498" cy="411480"/>
          </a:xfrm>
          <a:prstGeom prst="rect">
            <a:avLst/>
          </a:prstGeom>
          <a:noFill/>
          <a:ln/>
        </p:spPr>
        <p:txBody>
          <a:bodyPr wrap="square" lIns="0" tIns="0" rIns="0" bIns="0" rtlCol="0" anchor="ctr"/>
          <a:lstStyle/>
          <a:p>
            <a:pPr marL="0" indent="0" algn="r">
              <a:buNone/>
            </a:pPr>
            <a:r>
              <a:rPr lang="en-US" sz="1100" i="1" dirty="0">
                <a:solidFill>
                  <a:srgbClr val="E0D0EE"/>
                </a:solidFill>
                <a:latin typeface="Calibri" pitchFamily="34" charset="0"/>
                <a:ea typeface="Calibri" pitchFamily="34" charset="-122"/>
                <a:cs typeface="Calibri" pitchFamily="34" charset="-120"/>
              </a:rPr>
              <a:t>weeks 4–7</a:t>
            </a:r>
            <a:endParaRPr lang="en-US" sz="1100" dirty="0"/>
          </a:p>
        </p:txBody>
      </p:sp>
      <p:sp>
        <p:nvSpPr>
          <p:cNvPr id="40" name="Text 38"/>
          <p:cNvSpPr/>
          <p:nvPr/>
        </p:nvSpPr>
        <p:spPr>
          <a:xfrm>
            <a:off x="4521098" y="4800600"/>
            <a:ext cx="3149498" cy="365760"/>
          </a:xfrm>
          <a:prstGeom prst="rect">
            <a:avLst/>
          </a:prstGeom>
          <a:noFill/>
          <a:ln/>
        </p:spPr>
        <p:txBody>
          <a:bodyPr wrap="square" lIns="0" tIns="0" rIns="0" bIns="0" rtlCol="0" anchor="ctr"/>
          <a:lstStyle/>
          <a:p>
            <a:pPr marL="0" indent="0">
              <a:buNone/>
            </a:pPr>
            <a:r>
              <a:rPr lang="en-US" b="1" dirty="0">
                <a:solidFill>
                  <a:srgbClr val="500778"/>
                </a:solidFill>
                <a:latin typeface="Calibri" pitchFamily="34" charset="0"/>
                <a:ea typeface="Calibri" pitchFamily="34" charset="-122"/>
                <a:cs typeface="Calibri" pitchFamily="34" charset="-120"/>
              </a:rPr>
              <a:t>Focused model design</a:t>
            </a:r>
            <a:endParaRPr lang="en-US" dirty="0"/>
          </a:p>
        </p:txBody>
      </p:sp>
      <p:sp>
        <p:nvSpPr>
          <p:cNvPr id="41" name="Text 39"/>
          <p:cNvSpPr/>
          <p:nvPr/>
        </p:nvSpPr>
        <p:spPr>
          <a:xfrm>
            <a:off x="4521098" y="5166360"/>
            <a:ext cx="3149498" cy="274320"/>
          </a:xfrm>
          <a:prstGeom prst="rect">
            <a:avLst/>
          </a:prstGeom>
          <a:noFill/>
          <a:ln/>
        </p:spPr>
        <p:txBody>
          <a:bodyPr wrap="square" lIns="0" tIns="0" rIns="0" bIns="0" rtlCol="0" anchor="ctr"/>
          <a:lstStyle/>
          <a:p>
            <a:pPr marL="0" indent="0">
              <a:buNone/>
            </a:pPr>
            <a:r>
              <a:rPr lang="en-US" sz="1600" dirty="0">
                <a:solidFill>
                  <a:srgbClr val="6B6B6B"/>
                </a:solidFill>
                <a:latin typeface="Calibri" pitchFamily="34" charset="0"/>
                <a:ea typeface="Calibri" pitchFamily="34" charset="-122"/>
                <a:cs typeface="Calibri" pitchFamily="34" charset="-120"/>
              </a:rPr>
              <a:t>Stages 4–5</a:t>
            </a:r>
            <a:endParaRPr lang="en-US" sz="1600" dirty="0"/>
          </a:p>
        </p:txBody>
      </p:sp>
      <p:sp>
        <p:nvSpPr>
          <p:cNvPr id="42" name="Text 40"/>
          <p:cNvSpPr/>
          <p:nvPr/>
        </p:nvSpPr>
        <p:spPr>
          <a:xfrm>
            <a:off x="4521098" y="5440680"/>
            <a:ext cx="3149498" cy="502920"/>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Pick one capability, build a sim-agent model around it (encoder, interaction, decoder, losses).</a:t>
            </a:r>
            <a:endParaRPr lang="en-US" sz="1200" dirty="0"/>
          </a:p>
        </p:txBody>
      </p:sp>
      <p:sp>
        <p:nvSpPr>
          <p:cNvPr id="43" name="Shape 41"/>
          <p:cNvSpPr/>
          <p:nvPr/>
        </p:nvSpPr>
        <p:spPr>
          <a:xfrm>
            <a:off x="8127797" y="4297680"/>
            <a:ext cx="3515258" cy="1691640"/>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a:p>
        </p:txBody>
      </p:sp>
      <p:sp>
        <p:nvSpPr>
          <p:cNvPr id="44" name="Shape 42"/>
          <p:cNvSpPr/>
          <p:nvPr/>
        </p:nvSpPr>
        <p:spPr>
          <a:xfrm>
            <a:off x="8127797" y="4297680"/>
            <a:ext cx="3515258" cy="411480"/>
          </a:xfrm>
          <a:prstGeom prst="rect">
            <a:avLst/>
          </a:prstGeom>
          <a:solidFill>
            <a:srgbClr val="500778"/>
          </a:solidFill>
          <a:ln/>
        </p:spPr>
        <p:txBody>
          <a:bodyPr/>
          <a:lstStyle/>
          <a:p>
            <a:endParaRPr lang="zh-CN" altLang="en-US"/>
          </a:p>
        </p:txBody>
      </p:sp>
      <p:sp>
        <p:nvSpPr>
          <p:cNvPr id="45" name="Text 43"/>
          <p:cNvSpPr/>
          <p:nvPr/>
        </p:nvSpPr>
        <p:spPr>
          <a:xfrm>
            <a:off x="8310677" y="4297680"/>
            <a:ext cx="3149498" cy="411480"/>
          </a:xfrm>
          <a:prstGeom prst="rect">
            <a:avLst/>
          </a:prstGeom>
          <a:noFill/>
          <a:ln/>
        </p:spPr>
        <p:txBody>
          <a:bodyPr wrap="square" lIns="0" tIns="0" rIns="0" bIns="0" rtlCol="0" anchor="ctr"/>
          <a:lstStyle/>
          <a:p>
            <a:pPr marL="0" indent="0">
              <a:buNone/>
            </a:pPr>
            <a:r>
              <a:rPr lang="en-US" sz="2000" b="1" kern="0" spc="200" dirty="0">
                <a:solidFill>
                  <a:srgbClr val="FFFFFF"/>
                </a:solidFill>
                <a:latin typeface="Calibri" pitchFamily="34" charset="0"/>
                <a:ea typeface="Calibri" pitchFamily="34" charset="-122"/>
                <a:cs typeface="Calibri" pitchFamily="34" charset="-120"/>
              </a:rPr>
              <a:t>PHASE 3</a:t>
            </a:r>
            <a:endParaRPr lang="en-US" sz="2000" dirty="0"/>
          </a:p>
        </p:txBody>
      </p:sp>
      <p:sp>
        <p:nvSpPr>
          <p:cNvPr id="46" name="Text 44"/>
          <p:cNvSpPr/>
          <p:nvPr/>
        </p:nvSpPr>
        <p:spPr>
          <a:xfrm>
            <a:off x="8310677" y="4297680"/>
            <a:ext cx="3149498" cy="411480"/>
          </a:xfrm>
          <a:prstGeom prst="rect">
            <a:avLst/>
          </a:prstGeom>
          <a:noFill/>
          <a:ln/>
        </p:spPr>
        <p:txBody>
          <a:bodyPr wrap="square" lIns="0" tIns="0" rIns="0" bIns="0" rtlCol="0" anchor="ctr"/>
          <a:lstStyle/>
          <a:p>
            <a:pPr marL="0" indent="0" algn="r">
              <a:buNone/>
            </a:pPr>
            <a:r>
              <a:rPr lang="en-US" sz="1100" i="1" dirty="0">
                <a:solidFill>
                  <a:srgbClr val="E0D0EE"/>
                </a:solidFill>
                <a:latin typeface="Calibri" pitchFamily="34" charset="0"/>
                <a:ea typeface="Calibri" pitchFamily="34" charset="-122"/>
                <a:cs typeface="Calibri" pitchFamily="34" charset="-120"/>
              </a:rPr>
              <a:t>weeks 8–10</a:t>
            </a:r>
            <a:endParaRPr lang="en-US" sz="1100" dirty="0"/>
          </a:p>
        </p:txBody>
      </p:sp>
      <p:sp>
        <p:nvSpPr>
          <p:cNvPr id="47" name="Text 45"/>
          <p:cNvSpPr/>
          <p:nvPr/>
        </p:nvSpPr>
        <p:spPr>
          <a:xfrm>
            <a:off x="8310677" y="4800600"/>
            <a:ext cx="3149498" cy="365760"/>
          </a:xfrm>
          <a:prstGeom prst="rect">
            <a:avLst/>
          </a:prstGeom>
          <a:noFill/>
          <a:ln/>
        </p:spPr>
        <p:txBody>
          <a:bodyPr wrap="square" lIns="0" tIns="0" rIns="0" bIns="0" rtlCol="0" anchor="ctr"/>
          <a:lstStyle/>
          <a:p>
            <a:pPr marL="0" indent="0">
              <a:buNone/>
            </a:pPr>
            <a:r>
              <a:rPr lang="en-US" b="1" dirty="0">
                <a:solidFill>
                  <a:srgbClr val="500778"/>
                </a:solidFill>
                <a:latin typeface="Calibri" pitchFamily="34" charset="0"/>
                <a:ea typeface="Calibri" pitchFamily="34" charset="-122"/>
                <a:cs typeface="Calibri" pitchFamily="34" charset="-120"/>
              </a:rPr>
              <a:t>Evaluate + analyse</a:t>
            </a:r>
            <a:endParaRPr lang="en-US" dirty="0"/>
          </a:p>
        </p:txBody>
      </p:sp>
      <p:sp>
        <p:nvSpPr>
          <p:cNvPr id="48" name="Text 46"/>
          <p:cNvSpPr/>
          <p:nvPr/>
        </p:nvSpPr>
        <p:spPr>
          <a:xfrm>
            <a:off x="8310677" y="5166360"/>
            <a:ext cx="3149498" cy="274320"/>
          </a:xfrm>
          <a:prstGeom prst="rect">
            <a:avLst/>
          </a:prstGeom>
          <a:noFill/>
          <a:ln/>
        </p:spPr>
        <p:txBody>
          <a:bodyPr wrap="square" lIns="0" tIns="0" rIns="0" bIns="0" rtlCol="0" anchor="ctr"/>
          <a:lstStyle/>
          <a:p>
            <a:pPr marL="0" indent="0">
              <a:buNone/>
            </a:pPr>
            <a:r>
              <a:rPr lang="en-US" sz="1600" dirty="0">
                <a:solidFill>
                  <a:srgbClr val="6B6B6B"/>
                </a:solidFill>
                <a:latin typeface="Calibri" pitchFamily="34" charset="0"/>
                <a:ea typeface="Calibri" pitchFamily="34" charset="-122"/>
                <a:cs typeface="Calibri" pitchFamily="34" charset="-120"/>
              </a:rPr>
              <a:t>Stages 6–7</a:t>
            </a:r>
            <a:endParaRPr lang="en-US" sz="1600" dirty="0"/>
          </a:p>
        </p:txBody>
      </p:sp>
      <p:sp>
        <p:nvSpPr>
          <p:cNvPr id="49" name="Text 47"/>
          <p:cNvSpPr/>
          <p:nvPr/>
        </p:nvSpPr>
        <p:spPr>
          <a:xfrm>
            <a:off x="8310677" y="5440680"/>
            <a:ext cx="3149498" cy="502920"/>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Compare against baselines, analyse where the design improves and where it still fails.</a:t>
            </a:r>
            <a:endParaRPr lang="en-US" sz="1200" dirty="0"/>
          </a:p>
        </p:txBody>
      </p:sp>
      <p:pic>
        <p:nvPicPr>
          <p:cNvPr id="50" name="图片 49">
            <a:extLst>
              <a:ext uri="{FF2B5EF4-FFF2-40B4-BE49-F238E27FC236}">
                <a16:creationId xmlns:a16="http://schemas.microsoft.com/office/drawing/2014/main" id="{94D433C7-2FF6-E0E9-D0C7-29C931ADE7B2}"/>
              </a:ext>
            </a:extLst>
          </p:cNvPr>
          <p:cNvPicPr>
            <a:picLocks noChangeAspect="1"/>
          </p:cNvPicPr>
          <p:nvPr/>
        </p:nvPicPr>
        <p:blipFill>
          <a:blip r:embed="rId3"/>
          <a:stretch>
            <a:fillRect/>
          </a:stretch>
        </p:blipFill>
        <p:spPr>
          <a:xfrm>
            <a:off x="10985315" y="117279"/>
            <a:ext cx="1048895" cy="294202"/>
          </a:xfrm>
          <a:prstGeom prst="rect">
            <a:avLst/>
          </a:prstGeom>
        </p:spPr>
      </p:pic>
      <p:cxnSp>
        <p:nvCxnSpPr>
          <p:cNvPr id="51" name="直接连接符 50">
            <a:extLst>
              <a:ext uri="{FF2B5EF4-FFF2-40B4-BE49-F238E27FC236}">
                <a16:creationId xmlns:a16="http://schemas.microsoft.com/office/drawing/2014/main" id="{3E58C6D7-484B-92B3-B4AB-2F0E4228D462}"/>
              </a:ext>
            </a:extLst>
          </p:cNvPr>
          <p:cNvCxnSpPr>
            <a:cxnSpLocks/>
          </p:cNvCxnSpPr>
          <p:nvPr/>
        </p:nvCxnSpPr>
        <p:spPr>
          <a:xfrm>
            <a:off x="548640" y="1105176"/>
            <a:ext cx="10545775" cy="0"/>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00778"/>
          </a:solidFill>
          <a:ln/>
        </p:spPr>
        <p:txBody>
          <a:bodyPr/>
          <a:lstStyle/>
          <a:p>
            <a:endParaRPr lang="zh-CN" altLang="en-US"/>
          </a:p>
        </p:txBody>
      </p:sp>
      <p:sp>
        <p:nvSpPr>
          <p:cNvPr id="3" name="Text 1"/>
          <p:cNvSpPr/>
          <p:nvPr/>
        </p:nvSpPr>
        <p:spPr>
          <a:xfrm>
            <a:off x="548640" y="411480"/>
            <a:ext cx="11094415" cy="685800"/>
          </a:xfrm>
          <a:prstGeom prst="rect">
            <a:avLst/>
          </a:prstGeom>
          <a:noFill/>
          <a:ln/>
        </p:spPr>
        <p:txBody>
          <a:bodyPr wrap="square" lIns="0" tIns="0" rIns="0" bIns="0" rtlCol="0" anchor="ctr"/>
          <a:lstStyle/>
          <a:p>
            <a:pPr marL="0" indent="0" algn="l">
              <a:buNone/>
            </a:pPr>
            <a:r>
              <a:rPr lang="en-US" sz="3000" b="1" dirty="0">
                <a:solidFill>
                  <a:srgbClr val="500778"/>
                </a:solidFill>
                <a:latin typeface="Calibri" pitchFamily="34" charset="0"/>
                <a:ea typeface="Calibri" pitchFamily="34" charset="-122"/>
                <a:cs typeface="Calibri" pitchFamily="34" charset="-120"/>
              </a:rPr>
              <a:t>Phase 1A · Steps 1–2: understand the data, run the official tutorial</a:t>
            </a:r>
            <a:endParaRPr lang="en-US" sz="3000" dirty="0"/>
          </a:p>
        </p:txBody>
      </p:sp>
      <p:sp>
        <p:nvSpPr>
          <p:cNvPr id="5" name="Text 3"/>
          <p:cNvSpPr/>
          <p:nvPr/>
        </p:nvSpPr>
        <p:spPr>
          <a:xfrm>
            <a:off x="11094415" y="6492240"/>
            <a:ext cx="548640" cy="274320"/>
          </a:xfrm>
          <a:prstGeom prst="rect">
            <a:avLst/>
          </a:prstGeom>
          <a:noFill/>
          <a:ln/>
        </p:spPr>
        <p:txBody>
          <a:bodyPr wrap="square" lIns="0" tIns="0" rIns="0" bIns="0" rtlCol="0" anchor="ctr"/>
          <a:lstStyle/>
          <a:p>
            <a:pPr marL="0" indent="0" algn="r">
              <a:buNone/>
            </a:pPr>
            <a:r>
              <a:rPr lang="en-US" sz="1000" b="1" dirty="0">
                <a:solidFill>
                  <a:srgbClr val="500778"/>
                </a:solidFill>
                <a:latin typeface="Calibri" pitchFamily="34" charset="0"/>
                <a:ea typeface="Calibri" pitchFamily="34" charset="-122"/>
                <a:cs typeface="Calibri" pitchFamily="34" charset="-120"/>
              </a:rPr>
              <a:t>10</a:t>
            </a:r>
            <a:endParaRPr lang="en-US" sz="1000" dirty="0"/>
          </a:p>
        </p:txBody>
      </p:sp>
      <p:sp>
        <p:nvSpPr>
          <p:cNvPr id="6" name="Shape 4"/>
          <p:cNvSpPr/>
          <p:nvPr/>
        </p:nvSpPr>
        <p:spPr>
          <a:xfrm>
            <a:off x="548945" y="1325880"/>
            <a:ext cx="5387188" cy="4434840"/>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a:p>
        </p:txBody>
      </p:sp>
      <p:sp>
        <p:nvSpPr>
          <p:cNvPr id="7" name="Shape 5"/>
          <p:cNvSpPr/>
          <p:nvPr/>
        </p:nvSpPr>
        <p:spPr>
          <a:xfrm>
            <a:off x="548640" y="1325880"/>
            <a:ext cx="109728" cy="4434840"/>
          </a:xfrm>
          <a:prstGeom prst="rect">
            <a:avLst/>
          </a:prstGeom>
          <a:solidFill>
            <a:srgbClr val="500778"/>
          </a:solidFill>
          <a:ln/>
        </p:spPr>
        <p:txBody>
          <a:bodyPr/>
          <a:lstStyle/>
          <a:p>
            <a:endParaRPr lang="zh-CN" altLang="en-US"/>
          </a:p>
        </p:txBody>
      </p:sp>
      <p:sp>
        <p:nvSpPr>
          <p:cNvPr id="8" name="Shape 6"/>
          <p:cNvSpPr/>
          <p:nvPr/>
        </p:nvSpPr>
        <p:spPr>
          <a:xfrm>
            <a:off x="777240" y="1554480"/>
            <a:ext cx="457200" cy="457200"/>
          </a:xfrm>
          <a:prstGeom prst="ellipse">
            <a:avLst/>
          </a:prstGeom>
          <a:solidFill>
            <a:srgbClr val="500778"/>
          </a:solidFill>
          <a:ln/>
        </p:spPr>
        <p:txBody>
          <a:bodyPr/>
          <a:lstStyle/>
          <a:p>
            <a:endParaRPr lang="zh-CN" altLang="en-US"/>
          </a:p>
        </p:txBody>
      </p:sp>
      <p:sp>
        <p:nvSpPr>
          <p:cNvPr id="9" name="Text 7"/>
          <p:cNvSpPr/>
          <p:nvPr/>
        </p:nvSpPr>
        <p:spPr>
          <a:xfrm>
            <a:off x="777240" y="15544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8"/>
          <p:cNvSpPr/>
          <p:nvPr/>
        </p:nvSpPr>
        <p:spPr>
          <a:xfrm>
            <a:off x="1325880" y="1572768"/>
            <a:ext cx="4472788" cy="457200"/>
          </a:xfrm>
          <a:prstGeom prst="rect">
            <a:avLst/>
          </a:prstGeom>
          <a:noFill/>
          <a:ln/>
        </p:spPr>
        <p:txBody>
          <a:bodyPr wrap="square" lIns="0" tIns="0" rIns="0" bIns="0" rtlCol="0" anchor="ctr"/>
          <a:lstStyle/>
          <a:p>
            <a:pPr marL="0" indent="0">
              <a:buNone/>
            </a:pPr>
            <a:r>
              <a:rPr lang="en-US" sz="1500" b="1" dirty="0">
                <a:solidFill>
                  <a:srgbClr val="500778"/>
                </a:solidFill>
                <a:latin typeface="Calibri" pitchFamily="34" charset="0"/>
                <a:ea typeface="Calibri" pitchFamily="34" charset="-122"/>
                <a:cs typeface="Calibri" pitchFamily="34" charset="-120"/>
              </a:rPr>
              <a:t>Understand the data and task format</a:t>
            </a:r>
            <a:endParaRPr lang="en-US" sz="1500" dirty="0"/>
          </a:p>
        </p:txBody>
      </p:sp>
      <p:sp>
        <p:nvSpPr>
          <p:cNvPr id="11" name="Text 9"/>
          <p:cNvSpPr/>
          <p:nvPr/>
        </p:nvSpPr>
        <p:spPr>
          <a:xfrm>
            <a:off x="868680" y="2194560"/>
            <a:ext cx="4929988" cy="274320"/>
          </a:xfrm>
          <a:prstGeom prst="rect">
            <a:avLst/>
          </a:prstGeom>
          <a:noFill/>
          <a:ln/>
        </p:spPr>
        <p:txBody>
          <a:bodyPr wrap="square" lIns="0" tIns="0" rIns="0" bIns="0" rtlCol="0" anchor="ctr"/>
          <a:lstStyle/>
          <a:p>
            <a:pPr marL="0" indent="0">
              <a:buNone/>
            </a:pPr>
            <a:r>
              <a:rPr lang="en-US" sz="1400" b="1" dirty="0">
                <a:solidFill>
                  <a:srgbClr val="6B6B6B"/>
                </a:solidFill>
                <a:latin typeface="Calibri" pitchFamily="34" charset="0"/>
                <a:ea typeface="Calibri" pitchFamily="34" charset="-122"/>
                <a:cs typeface="Calibri" pitchFamily="34" charset="-120"/>
              </a:rPr>
              <a:t>DATASET — WAYMO OPEN MOTION DATASET v1.2.0</a:t>
            </a:r>
            <a:endParaRPr lang="en-US" sz="1400" dirty="0"/>
          </a:p>
        </p:txBody>
      </p:sp>
      <p:sp>
        <p:nvSpPr>
          <p:cNvPr id="12" name="Text 10"/>
          <p:cNvSpPr/>
          <p:nvPr/>
        </p:nvSpPr>
        <p:spPr>
          <a:xfrm>
            <a:off x="823264" y="3036094"/>
            <a:ext cx="4884268" cy="1920240"/>
          </a:xfrm>
          <a:prstGeom prst="rect">
            <a:avLst/>
          </a:prstGeom>
          <a:noFill/>
          <a:ln/>
        </p:spPr>
        <p:txBody>
          <a:bodyPr wrap="square" lIns="0" tIns="0" rIns="0" bIns="0" rtlCol="0" anchor="ctr"/>
          <a:lstStyle/>
          <a:p>
            <a:pPr marL="342900" indent="-342900">
              <a:spcAft>
                <a:spcPts val="400"/>
              </a:spcAft>
              <a:buSzPct val="100000"/>
              <a:buChar char="•"/>
            </a:pPr>
            <a:r>
              <a:rPr lang="en-US" sz="2000" dirty="0">
                <a:solidFill>
                  <a:srgbClr val="1A1A1A"/>
                </a:solidFill>
                <a:latin typeface="Calibri" pitchFamily="34" charset="0"/>
                <a:ea typeface="Calibri" pitchFamily="34" charset="-122"/>
                <a:cs typeface="Calibri" pitchFamily="34" charset="-120"/>
              </a:rPr>
              <a:t>9.1 s scenario @ 10 Hz  →  ~1.1 s history + 8 s future</a:t>
            </a:r>
            <a:endParaRPr lang="en-US" sz="2000" dirty="0"/>
          </a:p>
          <a:p>
            <a:pPr marL="342900" indent="-342900">
              <a:spcAft>
                <a:spcPts val="400"/>
              </a:spcAft>
              <a:buSzPct val="100000"/>
              <a:buChar char="•"/>
            </a:pPr>
            <a:r>
              <a:rPr lang="en-US" sz="2000" dirty="0">
                <a:solidFill>
                  <a:srgbClr val="1A1A1A"/>
                </a:solidFill>
                <a:latin typeface="Calibri" pitchFamily="34" charset="0"/>
                <a:ea typeface="Calibri" pitchFamily="34" charset="-122"/>
                <a:cs typeface="Calibri" pitchFamily="34" charset="-120"/>
              </a:rPr>
              <a:t>Future = 80 simulation steps</a:t>
            </a:r>
            <a:endParaRPr lang="en-US" sz="2000" dirty="0"/>
          </a:p>
          <a:p>
            <a:pPr marL="342900" indent="-342900">
              <a:spcAft>
                <a:spcPts val="400"/>
              </a:spcAft>
              <a:buSzPct val="100000"/>
              <a:buChar char="•"/>
            </a:pPr>
            <a:r>
              <a:rPr lang="en-US" sz="2000" dirty="0">
                <a:solidFill>
                  <a:srgbClr val="1A1A1A"/>
                </a:solidFill>
                <a:latin typeface="Calibri" pitchFamily="34" charset="0"/>
                <a:ea typeface="Calibri" pitchFamily="34" charset="-122"/>
                <a:cs typeface="Calibri" pitchFamily="34" charset="-120"/>
              </a:rPr>
              <a:t>Up to 128 agents per scenario; 1 is the AV / ADV</a:t>
            </a:r>
            <a:endParaRPr lang="en-US" sz="2000" dirty="0"/>
          </a:p>
          <a:p>
            <a:pPr marL="342900" indent="-342900">
              <a:spcAft>
                <a:spcPts val="400"/>
              </a:spcAft>
              <a:buSzPct val="100000"/>
              <a:buChar char="•"/>
            </a:pPr>
            <a:r>
              <a:rPr lang="en-US" sz="2000" dirty="0">
                <a:solidFill>
                  <a:srgbClr val="1A1A1A"/>
                </a:solidFill>
                <a:latin typeface="Calibri" pitchFamily="34" charset="0"/>
                <a:ea typeface="Calibri" pitchFamily="34" charset="-122"/>
                <a:cs typeface="Calibri" pitchFamily="34" charset="-120"/>
              </a:rPr>
              <a:t>Object types: vehicle · pedestrian · cyclist</a:t>
            </a:r>
            <a:endParaRPr lang="en-US" sz="2000" dirty="0"/>
          </a:p>
          <a:p>
            <a:pPr marL="342900" indent="-342900">
              <a:spcAft>
                <a:spcPts val="400"/>
              </a:spcAft>
              <a:buSzPct val="100000"/>
              <a:buChar char="•"/>
            </a:pPr>
            <a:r>
              <a:rPr lang="en-US" sz="2000" dirty="0">
                <a:solidFill>
                  <a:srgbClr val="1A1A1A"/>
                </a:solidFill>
                <a:latin typeface="Calibri" pitchFamily="34" charset="0"/>
                <a:ea typeface="Calibri" pitchFamily="34" charset="-122"/>
                <a:cs typeface="Calibri" pitchFamily="34" charset="-120"/>
              </a:rPr>
              <a:t>Per scenario: trajectories, current state, map, traffic lights</a:t>
            </a:r>
            <a:endParaRPr lang="en-US" sz="2000" dirty="0"/>
          </a:p>
        </p:txBody>
      </p:sp>
      <p:sp>
        <p:nvSpPr>
          <p:cNvPr id="15" name="Text 13"/>
          <p:cNvSpPr/>
          <p:nvPr/>
        </p:nvSpPr>
        <p:spPr>
          <a:xfrm>
            <a:off x="1005840" y="4800600"/>
            <a:ext cx="4701388" cy="731520"/>
          </a:xfrm>
          <a:prstGeom prst="rect">
            <a:avLst/>
          </a:prstGeom>
          <a:noFill/>
          <a:ln/>
        </p:spPr>
        <p:txBody>
          <a:bodyPr wrap="square" lIns="0" tIns="0" rIns="0" bIns="0" rtlCol="0" anchor="ctr"/>
          <a:lstStyle/>
          <a:p>
            <a:pPr marL="0" indent="0">
              <a:buNone/>
            </a:pPr>
            <a:endParaRPr lang="en-US" sz="1600" dirty="0"/>
          </a:p>
        </p:txBody>
      </p:sp>
      <p:sp>
        <p:nvSpPr>
          <p:cNvPr id="16" name="Shape 14"/>
          <p:cNvSpPr/>
          <p:nvPr/>
        </p:nvSpPr>
        <p:spPr>
          <a:xfrm>
            <a:off x="6255868" y="1325880"/>
            <a:ext cx="5387188" cy="4434840"/>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a:p>
        </p:txBody>
      </p:sp>
      <p:sp>
        <p:nvSpPr>
          <p:cNvPr id="17" name="Shape 15"/>
          <p:cNvSpPr/>
          <p:nvPr/>
        </p:nvSpPr>
        <p:spPr>
          <a:xfrm>
            <a:off x="6255868" y="1325880"/>
            <a:ext cx="109728" cy="4434840"/>
          </a:xfrm>
          <a:prstGeom prst="rect">
            <a:avLst/>
          </a:prstGeom>
          <a:solidFill>
            <a:srgbClr val="500778"/>
          </a:solidFill>
          <a:ln/>
        </p:spPr>
        <p:txBody>
          <a:bodyPr/>
          <a:lstStyle/>
          <a:p>
            <a:endParaRPr lang="zh-CN" altLang="en-US"/>
          </a:p>
        </p:txBody>
      </p:sp>
      <p:sp>
        <p:nvSpPr>
          <p:cNvPr id="18" name="Shape 16"/>
          <p:cNvSpPr/>
          <p:nvPr/>
        </p:nvSpPr>
        <p:spPr>
          <a:xfrm>
            <a:off x="6484468" y="1554480"/>
            <a:ext cx="457200" cy="457200"/>
          </a:xfrm>
          <a:prstGeom prst="ellipse">
            <a:avLst/>
          </a:prstGeom>
          <a:solidFill>
            <a:srgbClr val="500778"/>
          </a:solidFill>
          <a:ln/>
        </p:spPr>
        <p:txBody>
          <a:bodyPr/>
          <a:lstStyle/>
          <a:p>
            <a:endParaRPr lang="zh-CN" altLang="en-US"/>
          </a:p>
        </p:txBody>
      </p:sp>
      <p:sp>
        <p:nvSpPr>
          <p:cNvPr id="19" name="Text 17"/>
          <p:cNvSpPr/>
          <p:nvPr/>
        </p:nvSpPr>
        <p:spPr>
          <a:xfrm>
            <a:off x="6484468" y="15544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Text 18"/>
          <p:cNvSpPr/>
          <p:nvPr/>
        </p:nvSpPr>
        <p:spPr>
          <a:xfrm>
            <a:off x="7033108" y="1572768"/>
            <a:ext cx="4472788" cy="457200"/>
          </a:xfrm>
          <a:prstGeom prst="rect">
            <a:avLst/>
          </a:prstGeom>
          <a:noFill/>
          <a:ln/>
        </p:spPr>
        <p:txBody>
          <a:bodyPr wrap="square" lIns="0" tIns="0" rIns="0" bIns="0" rtlCol="0" anchor="ctr"/>
          <a:lstStyle/>
          <a:p>
            <a:pPr marL="0" indent="0">
              <a:buNone/>
            </a:pPr>
            <a:r>
              <a:rPr lang="en-US" sz="1500" b="1" dirty="0">
                <a:solidFill>
                  <a:srgbClr val="500778"/>
                </a:solidFill>
                <a:latin typeface="Calibri" pitchFamily="34" charset="0"/>
                <a:ea typeface="Calibri" pitchFamily="34" charset="-122"/>
                <a:cs typeface="Calibri" pitchFamily="34" charset="-120"/>
              </a:rPr>
              <a:t>Run the official Waymax tutorial → first valid submission</a:t>
            </a:r>
            <a:endParaRPr lang="en-US" sz="1500" dirty="0"/>
          </a:p>
        </p:txBody>
      </p:sp>
      <p:sp>
        <p:nvSpPr>
          <p:cNvPr id="21" name="Text 19"/>
          <p:cNvSpPr/>
          <p:nvPr/>
        </p:nvSpPr>
        <p:spPr>
          <a:xfrm>
            <a:off x="6575908" y="2194560"/>
            <a:ext cx="4929988" cy="274320"/>
          </a:xfrm>
          <a:prstGeom prst="rect">
            <a:avLst/>
          </a:prstGeom>
          <a:noFill/>
          <a:ln/>
        </p:spPr>
        <p:txBody>
          <a:bodyPr wrap="square" lIns="0" tIns="0" rIns="0" bIns="0" rtlCol="0" anchor="ctr"/>
          <a:lstStyle/>
          <a:p>
            <a:pPr marL="0" indent="0">
              <a:buNone/>
            </a:pPr>
            <a:r>
              <a:rPr lang="en-US" sz="1400" b="1" dirty="0">
                <a:solidFill>
                  <a:srgbClr val="6B6B6B"/>
                </a:solidFill>
                <a:latin typeface="Calibri" pitchFamily="34" charset="0"/>
                <a:ea typeface="Calibri" pitchFamily="34" charset="-122"/>
                <a:cs typeface="Calibri" pitchFamily="34" charset="-120"/>
              </a:rPr>
              <a:t>THE TUTORIAL HANDLES</a:t>
            </a:r>
            <a:endParaRPr lang="en-US" sz="1400" dirty="0"/>
          </a:p>
        </p:txBody>
      </p:sp>
      <p:sp>
        <p:nvSpPr>
          <p:cNvPr id="22" name="Text 20"/>
          <p:cNvSpPr/>
          <p:nvPr/>
        </p:nvSpPr>
        <p:spPr>
          <a:xfrm>
            <a:off x="6667348" y="2468880"/>
            <a:ext cx="4884268" cy="1143000"/>
          </a:xfrm>
          <a:prstGeom prst="rect">
            <a:avLst/>
          </a:prstGeom>
          <a:noFill/>
          <a:ln/>
        </p:spPr>
        <p:txBody>
          <a:bodyPr wrap="square" lIns="0" tIns="0" rIns="0" bIns="0" rtlCol="0" anchor="ctr"/>
          <a:lstStyle/>
          <a:p>
            <a:pPr marL="342900" indent="-342900">
              <a:spcAft>
                <a:spcPts val="400"/>
              </a:spcAft>
              <a:buSzPct val="100000"/>
              <a:buChar char="•"/>
            </a:pPr>
            <a:r>
              <a:rPr lang="en-US" sz="2000" dirty="0">
                <a:solidFill>
                  <a:srgbClr val="1A1A1A"/>
                </a:solidFill>
                <a:latin typeface="Calibri" pitchFamily="34" charset="0"/>
                <a:ea typeface="Calibri" pitchFamily="34" charset="-122"/>
                <a:cs typeface="Calibri" pitchFamily="34" charset="-120"/>
              </a:rPr>
              <a:t>Scenario id and Waymax dataloader</a:t>
            </a:r>
            <a:endParaRPr lang="en-US" sz="2000" dirty="0"/>
          </a:p>
          <a:p>
            <a:pPr marL="342900" indent="-342900">
              <a:spcAft>
                <a:spcPts val="400"/>
              </a:spcAft>
              <a:buSzPct val="100000"/>
              <a:buChar char="•"/>
            </a:pPr>
            <a:r>
              <a:rPr lang="en-US" sz="2000" dirty="0">
                <a:solidFill>
                  <a:srgbClr val="1A1A1A"/>
                </a:solidFill>
                <a:latin typeface="Calibri" pitchFamily="34" charset="0"/>
                <a:ea typeface="Calibri" pitchFamily="34" charset="-122"/>
                <a:cs typeface="Calibri" pitchFamily="34" charset="-120"/>
              </a:rPr>
              <a:t>Proto format and binary sharding</a:t>
            </a:r>
            <a:endParaRPr lang="en-US" sz="2000" dirty="0"/>
          </a:p>
          <a:p>
            <a:pPr marL="342900" indent="-342900">
              <a:spcAft>
                <a:spcPts val="400"/>
              </a:spcAft>
              <a:buSzPct val="100000"/>
              <a:buChar char="•"/>
            </a:pPr>
            <a:r>
              <a:rPr lang="en-US" sz="2000" dirty="0">
                <a:solidFill>
                  <a:srgbClr val="1A1A1A"/>
                </a:solidFill>
                <a:latin typeface="Calibri" pitchFamily="34" charset="0"/>
                <a:ea typeface="Calibri" pitchFamily="34" charset="-122"/>
                <a:cs typeface="Calibri" pitchFamily="34" charset="-120"/>
              </a:rPr>
              <a:t>SimAgentsChallengeSubmission packaging</a:t>
            </a:r>
            <a:endParaRPr lang="en-US" sz="2000" dirty="0"/>
          </a:p>
        </p:txBody>
      </p:sp>
      <p:sp>
        <p:nvSpPr>
          <p:cNvPr id="23" name="Text 21"/>
          <p:cNvSpPr/>
          <p:nvPr/>
        </p:nvSpPr>
        <p:spPr>
          <a:xfrm>
            <a:off x="6575908" y="3657600"/>
            <a:ext cx="4929988" cy="274320"/>
          </a:xfrm>
          <a:prstGeom prst="rect">
            <a:avLst/>
          </a:prstGeom>
          <a:noFill/>
          <a:ln/>
        </p:spPr>
        <p:txBody>
          <a:bodyPr wrap="square" lIns="0" tIns="0" rIns="0" bIns="0" rtlCol="0" anchor="ctr"/>
          <a:lstStyle/>
          <a:p>
            <a:pPr marL="0" indent="0">
              <a:buNone/>
            </a:pPr>
            <a:r>
              <a:rPr lang="en-US" sz="1400" b="1" dirty="0">
                <a:solidFill>
                  <a:srgbClr val="6B6B6B"/>
                </a:solidFill>
                <a:latin typeface="Calibri" pitchFamily="34" charset="0"/>
                <a:ea typeface="Calibri" pitchFamily="34" charset="-122"/>
                <a:cs typeface="Calibri" pitchFamily="34" charset="-120"/>
              </a:rPr>
              <a:t>OUTPUT PER SCENARIO</a:t>
            </a:r>
            <a:endParaRPr lang="en-US" sz="1400" dirty="0"/>
          </a:p>
        </p:txBody>
      </p:sp>
      <p:sp>
        <p:nvSpPr>
          <p:cNvPr id="24" name="Text 22"/>
          <p:cNvSpPr/>
          <p:nvPr/>
        </p:nvSpPr>
        <p:spPr>
          <a:xfrm>
            <a:off x="6667348" y="3931920"/>
            <a:ext cx="4884268" cy="868680"/>
          </a:xfrm>
          <a:prstGeom prst="rect">
            <a:avLst/>
          </a:prstGeom>
          <a:noFill/>
          <a:ln/>
        </p:spPr>
        <p:txBody>
          <a:bodyPr wrap="square" lIns="0" tIns="0" rIns="0" bIns="0" rtlCol="0" anchor="ctr"/>
          <a:lstStyle/>
          <a:p>
            <a:pPr marL="342900" indent="-342900">
              <a:spcAft>
                <a:spcPts val="400"/>
              </a:spcAft>
              <a:buSzPct val="100000"/>
              <a:buChar char="•"/>
            </a:pPr>
            <a:r>
              <a:rPr lang="en-US" sz="2000" dirty="0">
                <a:solidFill>
                  <a:srgbClr val="1A1A1A"/>
                </a:solidFill>
                <a:latin typeface="Calibri" pitchFamily="34" charset="0"/>
                <a:ea typeface="Calibri" pitchFamily="34" charset="-122"/>
                <a:cs typeface="Calibri" pitchFamily="34" charset="-120"/>
              </a:rPr>
              <a:t>32 rollouts × 80 steps × all valid agents</a:t>
            </a:r>
            <a:endParaRPr lang="en-US" sz="2000" dirty="0"/>
          </a:p>
          <a:p>
            <a:pPr marL="342900" indent="-342900">
              <a:spcAft>
                <a:spcPts val="400"/>
              </a:spcAft>
              <a:buSzPct val="100000"/>
              <a:buChar char="•"/>
            </a:pPr>
            <a:r>
              <a:rPr lang="en-US" sz="2000" dirty="0">
                <a:solidFill>
                  <a:srgbClr val="1A1A1A"/>
                </a:solidFill>
                <a:latin typeface="Calibri" pitchFamily="34" charset="0"/>
                <a:ea typeface="Calibri" pitchFamily="34" charset="-122"/>
                <a:cs typeface="Calibri" pitchFamily="34" charset="-120"/>
              </a:rPr>
              <a:t>(x, y, z, heading) per (agent, step)</a:t>
            </a:r>
            <a:endParaRPr lang="en-US" sz="2000" dirty="0"/>
          </a:p>
        </p:txBody>
      </p:sp>
      <p:sp>
        <p:nvSpPr>
          <p:cNvPr id="25" name="Shape 23"/>
          <p:cNvSpPr/>
          <p:nvPr/>
        </p:nvSpPr>
        <p:spPr>
          <a:xfrm>
            <a:off x="6575908" y="4846320"/>
            <a:ext cx="4884268" cy="731520"/>
          </a:xfrm>
          <a:prstGeom prst="rect">
            <a:avLst/>
          </a:prstGeom>
          <a:solidFill>
            <a:srgbClr val="500778"/>
          </a:solidFill>
          <a:ln/>
          <a:effectLst>
            <a:outerShdw blurRad="101600" dist="25400" dir="5400000" algn="bl" rotWithShape="0">
              <a:srgbClr val="000000">
                <a:alpha val="10000"/>
              </a:srgbClr>
            </a:outerShdw>
          </a:effectLst>
        </p:spPr>
        <p:txBody>
          <a:bodyPr/>
          <a:lstStyle/>
          <a:p>
            <a:endParaRPr lang="zh-CN" altLang="en-US"/>
          </a:p>
        </p:txBody>
      </p:sp>
      <p:sp>
        <p:nvSpPr>
          <p:cNvPr id="26" name="Text 24"/>
          <p:cNvSpPr/>
          <p:nvPr/>
        </p:nvSpPr>
        <p:spPr>
          <a:xfrm>
            <a:off x="6667348" y="4846320"/>
            <a:ext cx="4701388" cy="7315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Final artefact:  150 protos  ·  .tar.gz  ·  legal submission</a:t>
            </a:r>
            <a:endParaRPr lang="en-US" sz="1600" dirty="0"/>
          </a:p>
        </p:txBody>
      </p:sp>
      <p:sp>
        <p:nvSpPr>
          <p:cNvPr id="27" name="Text 25"/>
          <p:cNvSpPr/>
          <p:nvPr/>
        </p:nvSpPr>
        <p:spPr>
          <a:xfrm>
            <a:off x="548640" y="5989320"/>
            <a:ext cx="10972800" cy="365760"/>
          </a:xfrm>
          <a:prstGeom prst="rect">
            <a:avLst/>
          </a:prstGeom>
          <a:noFill/>
          <a:ln/>
        </p:spPr>
        <p:txBody>
          <a:bodyPr wrap="square" lIns="0" tIns="0" rIns="0" bIns="0" rtlCol="0" anchor="ctr"/>
          <a:lstStyle/>
          <a:p>
            <a:pPr marL="0" indent="0">
              <a:buNone/>
            </a:pPr>
            <a:r>
              <a:rPr lang="en-US" sz="1600" b="1" i="1" dirty="0">
                <a:solidFill>
                  <a:srgbClr val="500778"/>
                </a:solidFill>
                <a:latin typeface="Calibri" pitchFamily="34" charset="0"/>
                <a:ea typeface="Calibri" pitchFamily="34" charset="-122"/>
                <a:cs typeface="Calibri" pitchFamily="34" charset="-120"/>
              </a:rPr>
              <a:t>For Phase 1A — a working pipeline that produces a legal submission, not a high score.</a:t>
            </a:r>
          </a:p>
        </p:txBody>
      </p:sp>
      <p:pic>
        <p:nvPicPr>
          <p:cNvPr id="28" name="图片 27">
            <a:extLst>
              <a:ext uri="{FF2B5EF4-FFF2-40B4-BE49-F238E27FC236}">
                <a16:creationId xmlns:a16="http://schemas.microsoft.com/office/drawing/2014/main" id="{689066D0-1CB7-EFD0-29F1-D063120DC983}"/>
              </a:ext>
            </a:extLst>
          </p:cNvPr>
          <p:cNvPicPr>
            <a:picLocks noChangeAspect="1"/>
          </p:cNvPicPr>
          <p:nvPr/>
        </p:nvPicPr>
        <p:blipFill>
          <a:blip r:embed="rId3"/>
          <a:stretch>
            <a:fillRect/>
          </a:stretch>
        </p:blipFill>
        <p:spPr>
          <a:xfrm>
            <a:off x="10985315" y="117279"/>
            <a:ext cx="1048895" cy="294202"/>
          </a:xfrm>
          <a:prstGeom prst="rect">
            <a:avLst/>
          </a:prstGeom>
        </p:spPr>
      </p:pic>
      <p:cxnSp>
        <p:nvCxnSpPr>
          <p:cNvPr id="29" name="直接连接符 28">
            <a:extLst>
              <a:ext uri="{FF2B5EF4-FFF2-40B4-BE49-F238E27FC236}">
                <a16:creationId xmlns:a16="http://schemas.microsoft.com/office/drawing/2014/main" id="{BEAFF979-C0CC-F737-00AF-9D662479B68A}"/>
              </a:ext>
            </a:extLst>
          </p:cNvPr>
          <p:cNvCxnSpPr>
            <a:cxnSpLocks/>
          </p:cNvCxnSpPr>
          <p:nvPr/>
        </p:nvCxnSpPr>
        <p:spPr>
          <a:xfrm>
            <a:off x="548640" y="1105176"/>
            <a:ext cx="10545775" cy="0"/>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00778"/>
          </a:solidFill>
          <a:ln/>
        </p:spPr>
        <p:txBody>
          <a:bodyPr/>
          <a:lstStyle/>
          <a:p>
            <a:endParaRPr lang="zh-CN" altLang="en-US"/>
          </a:p>
        </p:txBody>
      </p:sp>
      <p:sp>
        <p:nvSpPr>
          <p:cNvPr id="3" name="Text 1"/>
          <p:cNvSpPr/>
          <p:nvPr/>
        </p:nvSpPr>
        <p:spPr>
          <a:xfrm>
            <a:off x="548640" y="411480"/>
            <a:ext cx="11094415" cy="685800"/>
          </a:xfrm>
          <a:prstGeom prst="rect">
            <a:avLst/>
          </a:prstGeom>
          <a:noFill/>
          <a:ln/>
        </p:spPr>
        <p:txBody>
          <a:bodyPr wrap="square" lIns="0" tIns="0" rIns="0" bIns="0" rtlCol="0" anchor="ctr"/>
          <a:lstStyle/>
          <a:p>
            <a:pPr marL="0" indent="0" algn="l">
              <a:buNone/>
            </a:pPr>
            <a:r>
              <a:rPr lang="en-US" sz="3000" b="1" dirty="0">
                <a:solidFill>
                  <a:srgbClr val="500778"/>
                </a:solidFill>
                <a:latin typeface="Calibri" pitchFamily="34" charset="0"/>
                <a:ea typeface="Calibri" pitchFamily="34" charset="-122"/>
                <a:cs typeface="Calibri" pitchFamily="34" charset="-120"/>
              </a:rPr>
              <a:t>Phase 1A · Step 2 — current status: pipeline running on a validation shard</a:t>
            </a:r>
            <a:endParaRPr lang="en-US" sz="3000" dirty="0"/>
          </a:p>
        </p:txBody>
      </p:sp>
      <p:sp>
        <p:nvSpPr>
          <p:cNvPr id="5" name="Text 3"/>
          <p:cNvSpPr/>
          <p:nvPr/>
        </p:nvSpPr>
        <p:spPr>
          <a:xfrm>
            <a:off x="11094415" y="6492240"/>
            <a:ext cx="548640" cy="274320"/>
          </a:xfrm>
          <a:prstGeom prst="rect">
            <a:avLst/>
          </a:prstGeom>
          <a:noFill/>
          <a:ln/>
        </p:spPr>
        <p:txBody>
          <a:bodyPr wrap="square" lIns="0" tIns="0" rIns="0" bIns="0" rtlCol="0" anchor="ctr"/>
          <a:lstStyle/>
          <a:p>
            <a:pPr marL="0" indent="0" algn="r">
              <a:buNone/>
            </a:pPr>
            <a:r>
              <a:rPr lang="en-US" sz="1000" b="1" dirty="0">
                <a:solidFill>
                  <a:srgbClr val="500778"/>
                </a:solidFill>
                <a:latin typeface="Calibri" pitchFamily="34" charset="0"/>
                <a:ea typeface="Calibri" pitchFamily="34" charset="-122"/>
                <a:cs typeface="Calibri" pitchFamily="34" charset="-120"/>
              </a:rPr>
              <a:t>11</a:t>
            </a:r>
            <a:endParaRPr lang="en-US" sz="1000" dirty="0"/>
          </a:p>
        </p:txBody>
      </p:sp>
      <p:sp>
        <p:nvSpPr>
          <p:cNvPr id="6" name="Text 4"/>
          <p:cNvSpPr/>
          <p:nvPr/>
        </p:nvSpPr>
        <p:spPr>
          <a:xfrm>
            <a:off x="548640" y="1270160"/>
            <a:ext cx="10972800" cy="274320"/>
          </a:xfrm>
          <a:prstGeom prst="rect">
            <a:avLst/>
          </a:prstGeom>
          <a:noFill/>
          <a:ln/>
        </p:spPr>
        <p:txBody>
          <a:bodyPr wrap="square" lIns="0" tIns="0" rIns="0" bIns="0" rtlCol="0" anchor="ctr"/>
          <a:lstStyle/>
          <a:p>
            <a:pPr marL="0" indent="0">
              <a:buNone/>
            </a:pPr>
            <a:r>
              <a:rPr lang="en-US" sz="2000" b="1" dirty="0">
                <a:solidFill>
                  <a:srgbClr val="6B6B6B"/>
                </a:solidFill>
                <a:latin typeface="Calibri" pitchFamily="34" charset="0"/>
                <a:ea typeface="Calibri" pitchFamily="34" charset="-122"/>
                <a:cs typeface="Calibri" pitchFamily="34" charset="-120"/>
              </a:rPr>
              <a:t>WHERE I AM RIGHT NOW</a:t>
            </a:r>
            <a:endParaRPr lang="en-US" sz="2000" dirty="0"/>
          </a:p>
        </p:txBody>
      </p:sp>
      <p:sp>
        <p:nvSpPr>
          <p:cNvPr id="7" name="Shape 5"/>
          <p:cNvSpPr/>
          <p:nvPr/>
        </p:nvSpPr>
        <p:spPr>
          <a:xfrm>
            <a:off x="548640" y="1600200"/>
            <a:ext cx="5486400" cy="777240"/>
          </a:xfrm>
          <a:prstGeom prst="rect">
            <a:avLst/>
          </a:prstGeom>
          <a:solidFill>
            <a:srgbClr val="500778"/>
          </a:solidFill>
          <a:ln/>
          <a:effectLst>
            <a:outerShdw blurRad="101600" dist="25400" dir="5400000" algn="bl" rotWithShape="0">
              <a:srgbClr val="000000">
                <a:alpha val="10000"/>
              </a:srgbClr>
            </a:outerShdw>
          </a:effectLst>
        </p:spPr>
        <p:txBody>
          <a:bodyPr/>
          <a:lstStyle/>
          <a:p>
            <a:endParaRPr lang="zh-CN" altLang="en-US"/>
          </a:p>
        </p:txBody>
      </p:sp>
      <p:sp>
        <p:nvSpPr>
          <p:cNvPr id="8" name="Text 6"/>
          <p:cNvSpPr/>
          <p:nvPr/>
        </p:nvSpPr>
        <p:spPr>
          <a:xfrm>
            <a:off x="822960" y="1600200"/>
            <a:ext cx="4937760" cy="77724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Step 1 done   </a:t>
            </a:r>
            <a:r>
              <a:rPr lang="en-US" dirty="0">
                <a:solidFill>
                  <a:srgbClr val="C8B8D6"/>
                </a:solidFill>
                <a:latin typeface="Calibri" pitchFamily="34" charset="0"/>
                <a:ea typeface="Calibri" pitchFamily="34" charset="-122"/>
                <a:cs typeface="Calibri" pitchFamily="34" charset="-120"/>
              </a:rPr>
              <a:t>·   </a:t>
            </a:r>
            <a:r>
              <a:rPr lang="en-US" b="1" dirty="0">
                <a:solidFill>
                  <a:srgbClr val="FFFFFF"/>
                </a:solidFill>
                <a:latin typeface="Calibri" pitchFamily="34" charset="0"/>
                <a:ea typeface="Calibri" pitchFamily="34" charset="-122"/>
                <a:cs typeface="Calibri" pitchFamily="34" charset="-120"/>
              </a:rPr>
              <a:t>Step 2 </a:t>
            </a:r>
            <a:r>
              <a:rPr lang="en-US" dirty="0">
                <a:solidFill>
                  <a:srgbClr val="E0D0EE"/>
                </a:solidFill>
                <a:latin typeface="Calibri" pitchFamily="34" charset="0"/>
                <a:ea typeface="Calibri" pitchFamily="34" charset="-122"/>
                <a:cs typeface="Calibri" pitchFamily="34" charset="-120"/>
              </a:rPr>
              <a:t>running on 1 validation shard</a:t>
            </a:r>
            <a:endParaRPr lang="en-US" dirty="0"/>
          </a:p>
        </p:txBody>
      </p:sp>
      <p:sp>
        <p:nvSpPr>
          <p:cNvPr id="9" name="Shape 7"/>
          <p:cNvSpPr/>
          <p:nvPr/>
        </p:nvSpPr>
        <p:spPr>
          <a:xfrm>
            <a:off x="548640" y="2560320"/>
            <a:ext cx="2651760" cy="1508760"/>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a:p>
        </p:txBody>
      </p:sp>
      <p:sp>
        <p:nvSpPr>
          <p:cNvPr id="10" name="Shape 8"/>
          <p:cNvSpPr/>
          <p:nvPr/>
        </p:nvSpPr>
        <p:spPr>
          <a:xfrm>
            <a:off x="548640" y="2560320"/>
            <a:ext cx="91440" cy="1508760"/>
          </a:xfrm>
          <a:prstGeom prst="rect">
            <a:avLst/>
          </a:prstGeom>
          <a:solidFill>
            <a:srgbClr val="500778"/>
          </a:solidFill>
          <a:ln/>
        </p:spPr>
        <p:txBody>
          <a:bodyPr/>
          <a:lstStyle/>
          <a:p>
            <a:endParaRPr lang="zh-CN" altLang="en-US"/>
          </a:p>
        </p:txBody>
      </p:sp>
      <p:sp>
        <p:nvSpPr>
          <p:cNvPr id="11" name="Text 9"/>
          <p:cNvSpPr/>
          <p:nvPr/>
        </p:nvSpPr>
        <p:spPr>
          <a:xfrm>
            <a:off x="777240" y="2724912"/>
            <a:ext cx="2286000" cy="685800"/>
          </a:xfrm>
          <a:prstGeom prst="rect">
            <a:avLst/>
          </a:prstGeom>
          <a:noFill/>
          <a:ln/>
        </p:spPr>
        <p:txBody>
          <a:bodyPr wrap="square" lIns="0" tIns="0" rIns="0" bIns="0" rtlCol="0" anchor="ctr"/>
          <a:lstStyle/>
          <a:p>
            <a:pPr marL="0" indent="0">
              <a:buNone/>
            </a:pPr>
            <a:r>
              <a:rPr lang="en-US" sz="2800" b="1" dirty="0">
                <a:solidFill>
                  <a:srgbClr val="500778"/>
                </a:solidFill>
                <a:latin typeface="Calibri" pitchFamily="34" charset="0"/>
                <a:ea typeface="Calibri" pitchFamily="34" charset="-122"/>
                <a:cs typeface="Calibri" pitchFamily="34" charset="-120"/>
              </a:rPr>
              <a:t>286</a:t>
            </a:r>
            <a:endParaRPr lang="en-US" sz="2800" dirty="0"/>
          </a:p>
        </p:txBody>
      </p:sp>
      <p:sp>
        <p:nvSpPr>
          <p:cNvPr id="12" name="Text 10"/>
          <p:cNvSpPr/>
          <p:nvPr/>
        </p:nvSpPr>
        <p:spPr>
          <a:xfrm>
            <a:off x="777240" y="3474720"/>
            <a:ext cx="2377440" cy="54864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scenarios processed (1 of 150 shards)</a:t>
            </a:r>
            <a:endParaRPr lang="en-US" sz="1600" dirty="0"/>
          </a:p>
        </p:txBody>
      </p:sp>
      <p:sp>
        <p:nvSpPr>
          <p:cNvPr id="13" name="Shape 11"/>
          <p:cNvSpPr/>
          <p:nvPr/>
        </p:nvSpPr>
        <p:spPr>
          <a:xfrm>
            <a:off x="3383280" y="2560320"/>
            <a:ext cx="2651760" cy="1508760"/>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a:p>
        </p:txBody>
      </p:sp>
      <p:sp>
        <p:nvSpPr>
          <p:cNvPr id="14" name="Shape 12"/>
          <p:cNvSpPr/>
          <p:nvPr/>
        </p:nvSpPr>
        <p:spPr>
          <a:xfrm>
            <a:off x="3383280" y="2560320"/>
            <a:ext cx="91440" cy="1508760"/>
          </a:xfrm>
          <a:prstGeom prst="rect">
            <a:avLst/>
          </a:prstGeom>
          <a:solidFill>
            <a:srgbClr val="500778"/>
          </a:solidFill>
          <a:ln/>
        </p:spPr>
        <p:txBody>
          <a:bodyPr/>
          <a:lstStyle/>
          <a:p>
            <a:endParaRPr lang="zh-CN" altLang="en-US"/>
          </a:p>
        </p:txBody>
      </p:sp>
      <p:sp>
        <p:nvSpPr>
          <p:cNvPr id="15" name="Text 13"/>
          <p:cNvSpPr/>
          <p:nvPr/>
        </p:nvSpPr>
        <p:spPr>
          <a:xfrm>
            <a:off x="3611880" y="2724912"/>
            <a:ext cx="2286000" cy="685800"/>
          </a:xfrm>
          <a:prstGeom prst="rect">
            <a:avLst/>
          </a:prstGeom>
          <a:noFill/>
          <a:ln/>
        </p:spPr>
        <p:txBody>
          <a:bodyPr wrap="square" lIns="0" tIns="0" rIns="0" bIns="0" rtlCol="0" anchor="ctr"/>
          <a:lstStyle/>
          <a:p>
            <a:pPr marL="0" indent="0">
              <a:buNone/>
            </a:pPr>
            <a:r>
              <a:rPr lang="en-US" sz="2800" b="1" dirty="0">
                <a:solidFill>
                  <a:srgbClr val="500778"/>
                </a:solidFill>
                <a:latin typeface="Calibri" pitchFamily="34" charset="0"/>
                <a:ea typeface="Calibri" pitchFamily="34" charset="-122"/>
                <a:cs typeface="Calibri" pitchFamily="34" charset="-120"/>
              </a:rPr>
              <a:t>32 × 80</a:t>
            </a:r>
            <a:endParaRPr lang="en-US" sz="2800" dirty="0"/>
          </a:p>
        </p:txBody>
      </p:sp>
      <p:sp>
        <p:nvSpPr>
          <p:cNvPr id="16" name="Text 14"/>
          <p:cNvSpPr/>
          <p:nvPr/>
        </p:nvSpPr>
        <p:spPr>
          <a:xfrm>
            <a:off x="3611880" y="3474720"/>
            <a:ext cx="2377440" cy="54864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rollouts × steps per scenario</a:t>
            </a:r>
            <a:endParaRPr lang="en-US" sz="1600" dirty="0"/>
          </a:p>
        </p:txBody>
      </p:sp>
      <p:sp>
        <p:nvSpPr>
          <p:cNvPr id="17" name="Shape 15"/>
          <p:cNvSpPr/>
          <p:nvPr/>
        </p:nvSpPr>
        <p:spPr>
          <a:xfrm>
            <a:off x="548640" y="4251960"/>
            <a:ext cx="2651760" cy="1508760"/>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a:p>
        </p:txBody>
      </p:sp>
      <p:sp>
        <p:nvSpPr>
          <p:cNvPr id="18" name="Shape 16"/>
          <p:cNvSpPr/>
          <p:nvPr/>
        </p:nvSpPr>
        <p:spPr>
          <a:xfrm>
            <a:off x="548640" y="4251960"/>
            <a:ext cx="91440" cy="1508760"/>
          </a:xfrm>
          <a:prstGeom prst="rect">
            <a:avLst/>
          </a:prstGeom>
          <a:solidFill>
            <a:srgbClr val="500778"/>
          </a:solidFill>
          <a:ln/>
        </p:spPr>
        <p:txBody>
          <a:bodyPr/>
          <a:lstStyle/>
          <a:p>
            <a:endParaRPr lang="zh-CN" altLang="en-US"/>
          </a:p>
        </p:txBody>
      </p:sp>
      <p:sp>
        <p:nvSpPr>
          <p:cNvPr id="19" name="Text 17"/>
          <p:cNvSpPr/>
          <p:nvPr/>
        </p:nvSpPr>
        <p:spPr>
          <a:xfrm>
            <a:off x="777240" y="4416552"/>
            <a:ext cx="2286000" cy="685800"/>
          </a:xfrm>
          <a:prstGeom prst="rect">
            <a:avLst/>
          </a:prstGeom>
          <a:noFill/>
          <a:ln/>
        </p:spPr>
        <p:txBody>
          <a:bodyPr wrap="square" lIns="0" tIns="0" rIns="0" bIns="0" rtlCol="0" anchor="ctr"/>
          <a:lstStyle/>
          <a:p>
            <a:pPr marL="0" indent="0">
              <a:buNone/>
            </a:pPr>
            <a:r>
              <a:rPr lang="en-US" sz="2800" b="1" dirty="0">
                <a:solidFill>
                  <a:srgbClr val="500778"/>
                </a:solidFill>
                <a:latin typeface="Calibri" pitchFamily="34" charset="0"/>
                <a:ea typeface="Calibri" pitchFamily="34" charset="-122"/>
                <a:cs typeface="Calibri" pitchFamily="34" charset="-120"/>
              </a:rPr>
              <a:t>≈ 0.29</a:t>
            </a:r>
            <a:endParaRPr lang="en-US" sz="2800" dirty="0"/>
          </a:p>
        </p:txBody>
      </p:sp>
      <p:sp>
        <p:nvSpPr>
          <p:cNvPr id="20" name="Text 18"/>
          <p:cNvSpPr/>
          <p:nvPr/>
        </p:nvSpPr>
        <p:spPr>
          <a:xfrm>
            <a:off x="731520" y="5105596"/>
            <a:ext cx="2651760" cy="54864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metametric (matches WOSAC paper's CV ref of 0.287)</a:t>
            </a:r>
            <a:endParaRPr lang="en-US" sz="1600" dirty="0"/>
          </a:p>
        </p:txBody>
      </p:sp>
      <p:sp>
        <p:nvSpPr>
          <p:cNvPr id="21" name="Shape 19"/>
          <p:cNvSpPr/>
          <p:nvPr/>
        </p:nvSpPr>
        <p:spPr>
          <a:xfrm>
            <a:off x="3383280" y="4251960"/>
            <a:ext cx="2651760" cy="1508760"/>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a:p>
        </p:txBody>
      </p:sp>
      <p:sp>
        <p:nvSpPr>
          <p:cNvPr id="22" name="Shape 20"/>
          <p:cNvSpPr/>
          <p:nvPr/>
        </p:nvSpPr>
        <p:spPr>
          <a:xfrm>
            <a:off x="3383280" y="4251960"/>
            <a:ext cx="91440" cy="1508760"/>
          </a:xfrm>
          <a:prstGeom prst="rect">
            <a:avLst/>
          </a:prstGeom>
          <a:solidFill>
            <a:srgbClr val="500778"/>
          </a:solidFill>
          <a:ln/>
        </p:spPr>
        <p:txBody>
          <a:bodyPr/>
          <a:lstStyle/>
          <a:p>
            <a:endParaRPr lang="zh-CN" altLang="en-US"/>
          </a:p>
        </p:txBody>
      </p:sp>
      <p:sp>
        <p:nvSpPr>
          <p:cNvPr id="23" name="Text 21"/>
          <p:cNvSpPr/>
          <p:nvPr/>
        </p:nvSpPr>
        <p:spPr>
          <a:xfrm>
            <a:off x="3611880" y="4416552"/>
            <a:ext cx="2286000" cy="685800"/>
          </a:xfrm>
          <a:prstGeom prst="rect">
            <a:avLst/>
          </a:prstGeom>
          <a:noFill/>
          <a:ln/>
        </p:spPr>
        <p:txBody>
          <a:bodyPr wrap="square" lIns="0" tIns="0" rIns="0" bIns="0" rtlCol="0" anchor="ctr"/>
          <a:lstStyle/>
          <a:p>
            <a:pPr marL="0" indent="0">
              <a:buNone/>
            </a:pPr>
            <a:r>
              <a:rPr lang="en-US" sz="2800" b="1" dirty="0">
                <a:solidFill>
                  <a:srgbClr val="500778"/>
                </a:solidFill>
                <a:latin typeface="Calibri" pitchFamily="34" charset="0"/>
                <a:ea typeface="Calibri" pitchFamily="34" charset="-122"/>
                <a:cs typeface="Calibri" pitchFamily="34" charset="-120"/>
              </a:rPr>
              <a:t>660 KB</a:t>
            </a:r>
            <a:endParaRPr lang="en-US" sz="2800" dirty="0"/>
          </a:p>
        </p:txBody>
      </p:sp>
      <p:sp>
        <p:nvSpPr>
          <p:cNvPr id="24" name="Text 22"/>
          <p:cNvSpPr/>
          <p:nvPr/>
        </p:nvSpPr>
        <p:spPr>
          <a:xfrm>
            <a:off x="3611880" y="5166360"/>
            <a:ext cx="2377440" cy="54864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submission .tar.gz — proto-validated for this shard</a:t>
            </a:r>
            <a:endParaRPr lang="en-US" sz="1600" dirty="0"/>
          </a:p>
        </p:txBody>
      </p:sp>
      <p:sp>
        <p:nvSpPr>
          <p:cNvPr id="25" name="Text 23"/>
          <p:cNvSpPr/>
          <p:nvPr/>
        </p:nvSpPr>
        <p:spPr>
          <a:xfrm>
            <a:off x="6309360" y="1554480"/>
            <a:ext cx="5333695" cy="274320"/>
          </a:xfrm>
          <a:prstGeom prst="rect">
            <a:avLst/>
          </a:prstGeom>
          <a:noFill/>
          <a:ln/>
        </p:spPr>
        <p:txBody>
          <a:bodyPr wrap="square" lIns="0" tIns="0" rIns="0" bIns="0" rtlCol="0" anchor="ctr"/>
          <a:lstStyle/>
          <a:p>
            <a:pPr marL="0" indent="0">
              <a:buNone/>
            </a:pPr>
            <a:r>
              <a:rPr lang="en-US" sz="1600" b="1" dirty="0">
                <a:solidFill>
                  <a:srgbClr val="6B6B6B"/>
                </a:solidFill>
                <a:latin typeface="Calibri" pitchFamily="34" charset="0"/>
                <a:ea typeface="Calibri" pitchFamily="34" charset="-122"/>
                <a:cs typeface="Calibri" pitchFamily="34" charset="-120"/>
              </a:rPr>
              <a:t>EXAMPLE ROLLOUT — 32 SIMULATED FUTURES</a:t>
            </a:r>
            <a:endParaRPr lang="en-US" sz="1600" dirty="0"/>
          </a:p>
        </p:txBody>
      </p:sp>
      <p:sp>
        <p:nvSpPr>
          <p:cNvPr id="26" name="Shape 24"/>
          <p:cNvSpPr/>
          <p:nvPr/>
        </p:nvSpPr>
        <p:spPr>
          <a:xfrm>
            <a:off x="6263640" y="1828800"/>
            <a:ext cx="5425135" cy="3749040"/>
          </a:xfrm>
          <a:prstGeom prst="rect">
            <a:avLst/>
          </a:prstGeom>
          <a:solidFill>
            <a:srgbClr val="500778"/>
          </a:solidFill>
          <a:ln/>
        </p:spPr>
        <p:txBody>
          <a:bodyPr/>
          <a:lstStyle/>
          <a:p>
            <a:endParaRPr lang="zh-CN" altLang="en-US"/>
          </a:p>
        </p:txBody>
      </p:sp>
      <p:pic>
        <p:nvPicPr>
          <p:cNvPr id="27" name="Image 0" descr="/home/uceems7/SimAgents/slides/assets/step2_simulated_trajectories.png"/>
          <p:cNvPicPr>
            <a:picLocks noChangeAspect="1"/>
          </p:cNvPicPr>
          <p:nvPr/>
        </p:nvPicPr>
        <p:blipFill>
          <a:blip r:embed="rId3"/>
          <a:srcRect/>
          <a:stretch/>
        </p:blipFill>
        <p:spPr>
          <a:xfrm>
            <a:off x="6309360" y="1874520"/>
            <a:ext cx="5333695" cy="3657600"/>
          </a:xfrm>
          <a:prstGeom prst="rect">
            <a:avLst/>
          </a:prstGeom>
        </p:spPr>
      </p:pic>
      <p:sp>
        <p:nvSpPr>
          <p:cNvPr id="28" name="Text 25"/>
          <p:cNvSpPr/>
          <p:nvPr/>
        </p:nvSpPr>
        <p:spPr>
          <a:xfrm>
            <a:off x="6309360" y="5623560"/>
            <a:ext cx="5333695" cy="365760"/>
          </a:xfrm>
          <a:prstGeom prst="rect">
            <a:avLst/>
          </a:prstGeom>
          <a:noFill/>
          <a:ln/>
        </p:spPr>
        <p:txBody>
          <a:bodyPr wrap="square" lIns="0" tIns="0" rIns="0" bIns="0"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Constant-velocity rollouts overlaid on the real road network for one scenario.</a:t>
            </a:r>
            <a:endParaRPr lang="en-US" sz="1000" dirty="0"/>
          </a:p>
        </p:txBody>
      </p:sp>
      <p:sp>
        <p:nvSpPr>
          <p:cNvPr id="29" name="Text 26"/>
          <p:cNvSpPr/>
          <p:nvPr/>
        </p:nvSpPr>
        <p:spPr>
          <a:xfrm>
            <a:off x="548640" y="5989320"/>
            <a:ext cx="10972800" cy="365760"/>
          </a:xfrm>
          <a:prstGeom prst="rect">
            <a:avLst/>
          </a:prstGeom>
          <a:noFill/>
          <a:ln/>
        </p:spPr>
        <p:txBody>
          <a:bodyPr wrap="square" lIns="0" tIns="0" rIns="0" bIns="0" rtlCol="0" anchor="ctr"/>
          <a:lstStyle/>
          <a:p>
            <a:pPr marL="0" indent="0">
              <a:buNone/>
            </a:pPr>
            <a:r>
              <a:rPr lang="en-US" sz="1600" b="1" i="1" dirty="0">
                <a:solidFill>
                  <a:srgbClr val="500778"/>
                </a:solidFill>
                <a:latin typeface="Calibri" pitchFamily="34" charset="0"/>
                <a:ea typeface="Calibri" pitchFamily="34" charset="-122"/>
                <a:cs typeface="Calibri" pitchFamily="34" charset="-120"/>
              </a:rPr>
              <a:t>Pipeline + WOSAC-metric implementation verified — same harness will score the next baselines and the learned model.</a:t>
            </a:r>
          </a:p>
        </p:txBody>
      </p:sp>
      <p:pic>
        <p:nvPicPr>
          <p:cNvPr id="30" name="图片 29">
            <a:extLst>
              <a:ext uri="{FF2B5EF4-FFF2-40B4-BE49-F238E27FC236}">
                <a16:creationId xmlns:a16="http://schemas.microsoft.com/office/drawing/2014/main" id="{3AD9D0BE-9646-FF28-AF9F-6D10E57D6999}"/>
              </a:ext>
            </a:extLst>
          </p:cNvPr>
          <p:cNvPicPr>
            <a:picLocks noChangeAspect="1"/>
          </p:cNvPicPr>
          <p:nvPr/>
        </p:nvPicPr>
        <p:blipFill>
          <a:blip r:embed="rId4"/>
          <a:stretch>
            <a:fillRect/>
          </a:stretch>
        </p:blipFill>
        <p:spPr>
          <a:xfrm>
            <a:off x="10985315" y="117279"/>
            <a:ext cx="1048895" cy="294202"/>
          </a:xfrm>
          <a:prstGeom prst="rect">
            <a:avLst/>
          </a:prstGeom>
        </p:spPr>
      </p:pic>
      <p:cxnSp>
        <p:nvCxnSpPr>
          <p:cNvPr id="31" name="直接连接符 30">
            <a:extLst>
              <a:ext uri="{FF2B5EF4-FFF2-40B4-BE49-F238E27FC236}">
                <a16:creationId xmlns:a16="http://schemas.microsoft.com/office/drawing/2014/main" id="{6A18C855-BC08-50CE-B7B7-9F91E873FA40}"/>
              </a:ext>
            </a:extLst>
          </p:cNvPr>
          <p:cNvCxnSpPr>
            <a:cxnSpLocks/>
          </p:cNvCxnSpPr>
          <p:nvPr/>
        </p:nvCxnSpPr>
        <p:spPr>
          <a:xfrm>
            <a:off x="548640" y="1219480"/>
            <a:ext cx="10545775" cy="0"/>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00778"/>
          </a:solidFill>
          <a:ln/>
        </p:spPr>
        <p:txBody>
          <a:bodyPr/>
          <a:lstStyle/>
          <a:p>
            <a:endParaRPr lang="zh-CN" altLang="en-US"/>
          </a:p>
        </p:txBody>
      </p:sp>
      <p:sp>
        <p:nvSpPr>
          <p:cNvPr id="3" name="Text 1"/>
          <p:cNvSpPr/>
          <p:nvPr/>
        </p:nvSpPr>
        <p:spPr>
          <a:xfrm>
            <a:off x="548640" y="411480"/>
            <a:ext cx="11094415" cy="685800"/>
          </a:xfrm>
          <a:prstGeom prst="rect">
            <a:avLst/>
          </a:prstGeom>
          <a:noFill/>
          <a:ln/>
        </p:spPr>
        <p:txBody>
          <a:bodyPr wrap="square" lIns="0" tIns="0" rIns="0" bIns="0" rtlCol="0" anchor="ctr"/>
          <a:lstStyle/>
          <a:p>
            <a:pPr marL="0" indent="0" algn="l">
              <a:buNone/>
            </a:pPr>
            <a:r>
              <a:rPr lang="en-US" sz="3000" b="1" dirty="0">
                <a:solidFill>
                  <a:srgbClr val="500778"/>
                </a:solidFill>
                <a:latin typeface="Calibri" pitchFamily="34" charset="0"/>
                <a:ea typeface="Calibri" pitchFamily="34" charset="-122"/>
                <a:cs typeface="Calibri" pitchFamily="34" charset="-120"/>
              </a:rPr>
              <a:t>Phase 1B · Steps 3–4: three baselines + first learned model</a:t>
            </a:r>
            <a:endParaRPr lang="en-US" sz="3000" dirty="0"/>
          </a:p>
        </p:txBody>
      </p:sp>
      <p:sp>
        <p:nvSpPr>
          <p:cNvPr id="5" name="Text 3"/>
          <p:cNvSpPr/>
          <p:nvPr/>
        </p:nvSpPr>
        <p:spPr>
          <a:xfrm>
            <a:off x="11094415" y="6492240"/>
            <a:ext cx="548640" cy="274320"/>
          </a:xfrm>
          <a:prstGeom prst="rect">
            <a:avLst/>
          </a:prstGeom>
          <a:noFill/>
          <a:ln/>
        </p:spPr>
        <p:txBody>
          <a:bodyPr wrap="square" lIns="0" tIns="0" rIns="0" bIns="0" rtlCol="0" anchor="ctr"/>
          <a:lstStyle/>
          <a:p>
            <a:pPr marL="0" indent="0" algn="r">
              <a:buNone/>
            </a:pPr>
            <a:r>
              <a:rPr lang="en-US" sz="1000" b="1" dirty="0">
                <a:solidFill>
                  <a:srgbClr val="500778"/>
                </a:solidFill>
                <a:latin typeface="Calibri" pitchFamily="34" charset="0"/>
                <a:ea typeface="Calibri" pitchFamily="34" charset="-122"/>
                <a:cs typeface="Calibri" pitchFamily="34" charset="-120"/>
              </a:rPr>
              <a:t>12</a:t>
            </a:r>
            <a:endParaRPr lang="en-US" sz="1000" dirty="0"/>
          </a:p>
        </p:txBody>
      </p:sp>
      <p:sp>
        <p:nvSpPr>
          <p:cNvPr id="6" name="Shape 4"/>
          <p:cNvSpPr/>
          <p:nvPr/>
        </p:nvSpPr>
        <p:spPr>
          <a:xfrm>
            <a:off x="548640" y="1325880"/>
            <a:ext cx="5387188" cy="4434840"/>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sz="1600"/>
          </a:p>
        </p:txBody>
      </p:sp>
      <p:sp>
        <p:nvSpPr>
          <p:cNvPr id="7" name="Shape 5"/>
          <p:cNvSpPr/>
          <p:nvPr/>
        </p:nvSpPr>
        <p:spPr>
          <a:xfrm>
            <a:off x="548640" y="1325880"/>
            <a:ext cx="109728" cy="4434840"/>
          </a:xfrm>
          <a:prstGeom prst="rect">
            <a:avLst/>
          </a:prstGeom>
          <a:solidFill>
            <a:srgbClr val="500778"/>
          </a:solidFill>
          <a:ln/>
        </p:spPr>
        <p:txBody>
          <a:bodyPr/>
          <a:lstStyle/>
          <a:p>
            <a:endParaRPr lang="zh-CN" altLang="en-US"/>
          </a:p>
        </p:txBody>
      </p:sp>
      <p:sp>
        <p:nvSpPr>
          <p:cNvPr id="8" name="Shape 6"/>
          <p:cNvSpPr/>
          <p:nvPr/>
        </p:nvSpPr>
        <p:spPr>
          <a:xfrm>
            <a:off x="777240" y="1554480"/>
            <a:ext cx="457200" cy="457200"/>
          </a:xfrm>
          <a:prstGeom prst="ellipse">
            <a:avLst/>
          </a:prstGeom>
          <a:solidFill>
            <a:srgbClr val="500778"/>
          </a:solidFill>
          <a:ln/>
        </p:spPr>
        <p:txBody>
          <a:bodyPr/>
          <a:lstStyle/>
          <a:p>
            <a:endParaRPr lang="zh-CN" altLang="en-US"/>
          </a:p>
        </p:txBody>
      </p:sp>
      <p:sp>
        <p:nvSpPr>
          <p:cNvPr id="9" name="Text 7"/>
          <p:cNvSpPr/>
          <p:nvPr/>
        </p:nvSpPr>
        <p:spPr>
          <a:xfrm>
            <a:off x="777240" y="15544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0" name="Text 8"/>
          <p:cNvSpPr/>
          <p:nvPr/>
        </p:nvSpPr>
        <p:spPr>
          <a:xfrm>
            <a:off x="1325880" y="1572768"/>
            <a:ext cx="4472788" cy="457200"/>
          </a:xfrm>
          <a:prstGeom prst="rect">
            <a:avLst/>
          </a:prstGeom>
          <a:noFill/>
          <a:ln/>
        </p:spPr>
        <p:txBody>
          <a:bodyPr wrap="square" lIns="0" tIns="0" rIns="0" bIns="0" rtlCol="0" anchor="ctr"/>
          <a:lstStyle/>
          <a:p>
            <a:pPr marL="0" indent="0">
              <a:buNone/>
            </a:pPr>
            <a:r>
              <a:rPr lang="en-US" sz="2000" b="1" dirty="0">
                <a:solidFill>
                  <a:srgbClr val="500778"/>
                </a:solidFill>
                <a:latin typeface="Calibri" pitchFamily="34" charset="0"/>
                <a:ea typeface="Calibri" pitchFamily="34" charset="-122"/>
                <a:cs typeface="Calibri" pitchFamily="34" charset="-120"/>
              </a:rPr>
              <a:t>Three simple baselines</a:t>
            </a:r>
            <a:endParaRPr lang="en-US" sz="2000" dirty="0"/>
          </a:p>
        </p:txBody>
      </p:sp>
      <p:sp>
        <p:nvSpPr>
          <p:cNvPr id="11" name="Shape 9"/>
          <p:cNvSpPr/>
          <p:nvPr/>
        </p:nvSpPr>
        <p:spPr>
          <a:xfrm>
            <a:off x="868680" y="2240280"/>
            <a:ext cx="274320" cy="274320"/>
          </a:xfrm>
          <a:prstGeom prst="ellipse">
            <a:avLst/>
          </a:prstGeom>
          <a:solidFill>
            <a:srgbClr val="F2EEF7"/>
          </a:solidFill>
          <a:ln/>
        </p:spPr>
        <p:txBody>
          <a:bodyPr/>
          <a:lstStyle/>
          <a:p>
            <a:endParaRPr lang="zh-CN" altLang="en-US"/>
          </a:p>
        </p:txBody>
      </p:sp>
      <p:sp>
        <p:nvSpPr>
          <p:cNvPr id="12" name="Text 10"/>
          <p:cNvSpPr/>
          <p:nvPr/>
        </p:nvSpPr>
        <p:spPr>
          <a:xfrm>
            <a:off x="868680" y="2240280"/>
            <a:ext cx="274320" cy="274320"/>
          </a:xfrm>
          <a:prstGeom prst="rect">
            <a:avLst/>
          </a:prstGeom>
          <a:noFill/>
          <a:ln/>
        </p:spPr>
        <p:txBody>
          <a:bodyPr wrap="square" lIns="0" tIns="0" rIns="0" bIns="0" rtlCol="0" anchor="ctr"/>
          <a:lstStyle/>
          <a:p>
            <a:pPr marL="0" indent="0" algn="ctr">
              <a:buNone/>
            </a:pPr>
            <a:r>
              <a:rPr lang="en-US" sz="1100" b="1" dirty="0">
                <a:solidFill>
                  <a:srgbClr val="500778"/>
                </a:solidFill>
                <a:latin typeface="Calibri" pitchFamily="34" charset="0"/>
                <a:ea typeface="Calibri" pitchFamily="34" charset="-122"/>
                <a:cs typeface="Calibri" pitchFamily="34" charset="-120"/>
              </a:rPr>
              <a:t>A</a:t>
            </a:r>
            <a:endParaRPr lang="en-US" sz="1100" dirty="0"/>
          </a:p>
        </p:txBody>
      </p:sp>
      <p:sp>
        <p:nvSpPr>
          <p:cNvPr id="13" name="Text 11"/>
          <p:cNvSpPr/>
          <p:nvPr/>
        </p:nvSpPr>
        <p:spPr>
          <a:xfrm>
            <a:off x="1234440" y="2194560"/>
            <a:ext cx="4609948" cy="320040"/>
          </a:xfrm>
          <a:prstGeom prst="rect">
            <a:avLst/>
          </a:prstGeom>
          <a:noFill/>
          <a:ln/>
        </p:spPr>
        <p:txBody>
          <a:bodyPr wrap="square" lIns="0" tIns="0" rIns="0" bIns="0" rtlCol="0" anchor="ctr"/>
          <a:lstStyle/>
          <a:p>
            <a:pPr marL="0" indent="0">
              <a:buNone/>
            </a:pPr>
            <a:r>
              <a:rPr lang="en-US" sz="2000" b="1" dirty="0">
                <a:solidFill>
                  <a:srgbClr val="500778"/>
                </a:solidFill>
                <a:latin typeface="Calibri" pitchFamily="34" charset="0"/>
                <a:ea typeface="Calibri" pitchFamily="34" charset="-122"/>
                <a:cs typeface="Calibri" pitchFamily="34" charset="-120"/>
              </a:rPr>
              <a:t>Log replay</a:t>
            </a:r>
            <a:endParaRPr lang="en-US" sz="2000" dirty="0"/>
          </a:p>
        </p:txBody>
      </p:sp>
      <p:sp>
        <p:nvSpPr>
          <p:cNvPr id="14" name="Text 12"/>
          <p:cNvSpPr/>
          <p:nvPr/>
        </p:nvSpPr>
        <p:spPr>
          <a:xfrm>
            <a:off x="1234440" y="2514600"/>
            <a:ext cx="4609948" cy="457200"/>
          </a:xfrm>
          <a:prstGeom prst="rect">
            <a:avLst/>
          </a:prstGeom>
          <a:noFill/>
          <a:ln/>
        </p:spPr>
        <p:txBody>
          <a:bodyPr wrap="square" lIns="0" tIns="0" rIns="0" bIns="0" rtlCol="0" anchor="ctr"/>
          <a:lstStyle/>
          <a:p>
            <a:pPr marL="0" indent="0">
              <a:buNone/>
            </a:pPr>
            <a:r>
              <a:rPr lang="en-US" dirty="0">
                <a:solidFill>
                  <a:srgbClr val="1A1A1A"/>
                </a:solidFill>
                <a:latin typeface="Calibri" pitchFamily="34" charset="0"/>
                <a:ea typeface="Calibri" pitchFamily="34" charset="-122"/>
                <a:cs typeface="Calibri" pitchFamily="34" charset="-120"/>
              </a:rPr>
              <a:t>Copy the recorded future. Sanity-checks pipeline; invalid for the test set.</a:t>
            </a:r>
            <a:endParaRPr lang="en-US" dirty="0"/>
          </a:p>
        </p:txBody>
      </p:sp>
      <p:sp>
        <p:nvSpPr>
          <p:cNvPr id="15" name="Shape 13"/>
          <p:cNvSpPr/>
          <p:nvPr/>
        </p:nvSpPr>
        <p:spPr>
          <a:xfrm>
            <a:off x="868680" y="3108960"/>
            <a:ext cx="274320" cy="274320"/>
          </a:xfrm>
          <a:prstGeom prst="ellipse">
            <a:avLst/>
          </a:prstGeom>
          <a:solidFill>
            <a:srgbClr val="F2EEF7"/>
          </a:solidFill>
          <a:ln/>
        </p:spPr>
        <p:txBody>
          <a:bodyPr/>
          <a:lstStyle/>
          <a:p>
            <a:endParaRPr lang="zh-CN" altLang="en-US"/>
          </a:p>
        </p:txBody>
      </p:sp>
      <p:sp>
        <p:nvSpPr>
          <p:cNvPr id="16" name="Text 14"/>
          <p:cNvSpPr/>
          <p:nvPr/>
        </p:nvSpPr>
        <p:spPr>
          <a:xfrm>
            <a:off x="868680" y="3108960"/>
            <a:ext cx="274320" cy="274320"/>
          </a:xfrm>
          <a:prstGeom prst="rect">
            <a:avLst/>
          </a:prstGeom>
          <a:noFill/>
          <a:ln/>
        </p:spPr>
        <p:txBody>
          <a:bodyPr wrap="square" lIns="0" tIns="0" rIns="0" bIns="0" rtlCol="0" anchor="ctr"/>
          <a:lstStyle/>
          <a:p>
            <a:pPr marL="0" indent="0" algn="ctr">
              <a:buNone/>
            </a:pPr>
            <a:r>
              <a:rPr lang="en-US" sz="1100" b="1" dirty="0">
                <a:solidFill>
                  <a:srgbClr val="500778"/>
                </a:solidFill>
                <a:latin typeface="Calibri" pitchFamily="34" charset="0"/>
                <a:ea typeface="Calibri" pitchFamily="34" charset="-122"/>
                <a:cs typeface="Calibri" pitchFamily="34" charset="-120"/>
              </a:rPr>
              <a:t>B</a:t>
            </a:r>
            <a:endParaRPr lang="en-US" sz="1100" dirty="0"/>
          </a:p>
        </p:txBody>
      </p:sp>
      <p:sp>
        <p:nvSpPr>
          <p:cNvPr id="17" name="Text 15"/>
          <p:cNvSpPr/>
          <p:nvPr/>
        </p:nvSpPr>
        <p:spPr>
          <a:xfrm>
            <a:off x="1234440" y="3063240"/>
            <a:ext cx="4609948" cy="320040"/>
          </a:xfrm>
          <a:prstGeom prst="rect">
            <a:avLst/>
          </a:prstGeom>
          <a:noFill/>
          <a:ln/>
        </p:spPr>
        <p:txBody>
          <a:bodyPr wrap="square" lIns="0" tIns="0" rIns="0" bIns="0" rtlCol="0" anchor="ctr"/>
          <a:lstStyle/>
          <a:p>
            <a:pPr marL="0" indent="0">
              <a:buNone/>
            </a:pPr>
            <a:r>
              <a:rPr lang="en-US" sz="2000" b="1" dirty="0">
                <a:solidFill>
                  <a:srgbClr val="500778"/>
                </a:solidFill>
                <a:latin typeface="Calibri" pitchFamily="34" charset="0"/>
                <a:ea typeface="Calibri" pitchFamily="34" charset="-122"/>
                <a:cs typeface="Calibri" pitchFamily="34" charset="-120"/>
              </a:rPr>
              <a:t>Constant velocity</a:t>
            </a:r>
            <a:endParaRPr lang="en-US" sz="2000" dirty="0"/>
          </a:p>
        </p:txBody>
      </p:sp>
      <p:sp>
        <p:nvSpPr>
          <p:cNvPr id="18" name="Text 16"/>
          <p:cNvSpPr/>
          <p:nvPr/>
        </p:nvSpPr>
        <p:spPr>
          <a:xfrm>
            <a:off x="1234440" y="3383280"/>
            <a:ext cx="4609948" cy="457200"/>
          </a:xfrm>
          <a:prstGeom prst="rect">
            <a:avLst/>
          </a:prstGeom>
          <a:noFill/>
          <a:ln/>
        </p:spPr>
        <p:txBody>
          <a:bodyPr wrap="square" lIns="0" tIns="0" rIns="0" bIns="0" rtlCol="0" anchor="ctr"/>
          <a:lstStyle/>
          <a:p>
            <a:pPr marL="0" indent="0">
              <a:buNone/>
            </a:pPr>
            <a:r>
              <a:rPr lang="en-US" dirty="0">
                <a:solidFill>
                  <a:srgbClr val="1A1A1A"/>
                </a:solidFill>
                <a:latin typeface="Calibri" pitchFamily="34" charset="0"/>
                <a:ea typeface="Calibri" pitchFamily="34" charset="-122"/>
                <a:cs typeface="Calibri" pitchFamily="34" charset="-120"/>
              </a:rPr>
              <a:t>Each agent extrapolates current speed in a straight line.</a:t>
            </a:r>
            <a:endParaRPr lang="en-US" dirty="0"/>
          </a:p>
        </p:txBody>
      </p:sp>
      <p:sp>
        <p:nvSpPr>
          <p:cNvPr id="19" name="Shape 17"/>
          <p:cNvSpPr/>
          <p:nvPr/>
        </p:nvSpPr>
        <p:spPr>
          <a:xfrm>
            <a:off x="868680" y="3977640"/>
            <a:ext cx="274320" cy="274320"/>
          </a:xfrm>
          <a:prstGeom prst="ellipse">
            <a:avLst/>
          </a:prstGeom>
          <a:solidFill>
            <a:srgbClr val="F2EEF7"/>
          </a:solidFill>
          <a:ln/>
        </p:spPr>
        <p:txBody>
          <a:bodyPr/>
          <a:lstStyle/>
          <a:p>
            <a:endParaRPr lang="zh-CN" altLang="en-US"/>
          </a:p>
        </p:txBody>
      </p:sp>
      <p:sp>
        <p:nvSpPr>
          <p:cNvPr id="20" name="Text 18"/>
          <p:cNvSpPr/>
          <p:nvPr/>
        </p:nvSpPr>
        <p:spPr>
          <a:xfrm>
            <a:off x="868680" y="3977640"/>
            <a:ext cx="274320" cy="274320"/>
          </a:xfrm>
          <a:prstGeom prst="rect">
            <a:avLst/>
          </a:prstGeom>
          <a:noFill/>
          <a:ln/>
        </p:spPr>
        <p:txBody>
          <a:bodyPr wrap="square" lIns="0" tIns="0" rIns="0" bIns="0" rtlCol="0" anchor="ctr"/>
          <a:lstStyle/>
          <a:p>
            <a:pPr marL="0" indent="0" algn="ctr">
              <a:buNone/>
            </a:pPr>
            <a:r>
              <a:rPr lang="en-US" sz="1100" b="1" dirty="0">
                <a:solidFill>
                  <a:srgbClr val="500778"/>
                </a:solidFill>
                <a:latin typeface="Calibri" pitchFamily="34" charset="0"/>
                <a:ea typeface="Calibri" pitchFamily="34" charset="-122"/>
                <a:cs typeface="Calibri" pitchFamily="34" charset="-120"/>
              </a:rPr>
              <a:t>C</a:t>
            </a:r>
            <a:endParaRPr lang="en-US" sz="1100" dirty="0"/>
          </a:p>
        </p:txBody>
      </p:sp>
      <p:sp>
        <p:nvSpPr>
          <p:cNvPr id="21" name="Text 19"/>
          <p:cNvSpPr/>
          <p:nvPr/>
        </p:nvSpPr>
        <p:spPr>
          <a:xfrm>
            <a:off x="1234440" y="3931920"/>
            <a:ext cx="4609948" cy="320040"/>
          </a:xfrm>
          <a:prstGeom prst="rect">
            <a:avLst/>
          </a:prstGeom>
          <a:noFill/>
          <a:ln/>
        </p:spPr>
        <p:txBody>
          <a:bodyPr wrap="square" lIns="0" tIns="0" rIns="0" bIns="0" rtlCol="0" anchor="ctr"/>
          <a:lstStyle/>
          <a:p>
            <a:pPr marL="0" indent="0">
              <a:buNone/>
            </a:pPr>
            <a:r>
              <a:rPr lang="en-US" sz="2000" b="1" dirty="0">
                <a:solidFill>
                  <a:srgbClr val="500778"/>
                </a:solidFill>
                <a:latin typeface="Calibri" pitchFamily="34" charset="0"/>
                <a:ea typeface="Calibri" pitchFamily="34" charset="-122"/>
                <a:cs typeface="Calibri" pitchFamily="34" charset="-120"/>
              </a:rPr>
              <a:t>Simple interaction rules</a:t>
            </a:r>
            <a:endParaRPr lang="en-US" sz="2000" dirty="0"/>
          </a:p>
        </p:txBody>
      </p:sp>
      <p:sp>
        <p:nvSpPr>
          <p:cNvPr id="22" name="Text 20"/>
          <p:cNvSpPr/>
          <p:nvPr/>
        </p:nvSpPr>
        <p:spPr>
          <a:xfrm>
            <a:off x="1234440" y="4251960"/>
            <a:ext cx="4609948" cy="457200"/>
          </a:xfrm>
          <a:prstGeom prst="rect">
            <a:avLst/>
          </a:prstGeom>
          <a:noFill/>
          <a:ln/>
        </p:spPr>
        <p:txBody>
          <a:bodyPr wrap="square" lIns="0" tIns="0" rIns="0" bIns="0" rtlCol="0" anchor="ctr"/>
          <a:lstStyle/>
          <a:p>
            <a:pPr marL="0" indent="0">
              <a:buNone/>
            </a:pPr>
            <a:r>
              <a:rPr lang="en-US" dirty="0">
                <a:solidFill>
                  <a:srgbClr val="1A1A1A"/>
                </a:solidFill>
                <a:latin typeface="Calibri" pitchFamily="34" charset="0"/>
                <a:ea typeface="Calibri" pitchFamily="34" charset="-122"/>
                <a:cs typeface="Calibri" pitchFamily="34" charset="-120"/>
              </a:rPr>
              <a:t>Lane-keep + brake on lead car; basic ped/cyclist motion.</a:t>
            </a:r>
            <a:endParaRPr lang="en-US" dirty="0"/>
          </a:p>
        </p:txBody>
      </p:sp>
      <p:sp>
        <p:nvSpPr>
          <p:cNvPr id="23" name="Shape 21"/>
          <p:cNvSpPr/>
          <p:nvPr/>
        </p:nvSpPr>
        <p:spPr>
          <a:xfrm>
            <a:off x="868680" y="4937760"/>
            <a:ext cx="4975708" cy="731520"/>
          </a:xfrm>
          <a:prstGeom prst="rect">
            <a:avLst/>
          </a:prstGeom>
          <a:solidFill>
            <a:srgbClr val="F2EEF7"/>
          </a:solidFill>
          <a:ln/>
          <a:effectLst>
            <a:outerShdw blurRad="101600" dist="25400" dir="5400000" algn="bl" rotWithShape="0">
              <a:srgbClr val="000000">
                <a:alpha val="10000"/>
              </a:srgbClr>
            </a:outerShdw>
          </a:effectLst>
        </p:spPr>
        <p:txBody>
          <a:bodyPr/>
          <a:lstStyle/>
          <a:p>
            <a:endParaRPr lang="zh-CN" altLang="en-US"/>
          </a:p>
        </p:txBody>
      </p:sp>
      <p:sp>
        <p:nvSpPr>
          <p:cNvPr id="24" name="Text 22"/>
          <p:cNvSpPr/>
          <p:nvPr/>
        </p:nvSpPr>
        <p:spPr>
          <a:xfrm>
            <a:off x="1005840" y="4937760"/>
            <a:ext cx="4701388" cy="731520"/>
          </a:xfrm>
          <a:prstGeom prst="rect">
            <a:avLst/>
          </a:prstGeom>
          <a:noFill/>
          <a:ln/>
        </p:spPr>
        <p:txBody>
          <a:bodyPr wrap="square" lIns="0" tIns="0" rIns="0" bIns="0" rtlCol="0" anchor="ctr"/>
          <a:lstStyle/>
          <a:p>
            <a:pPr marL="0" indent="0">
              <a:buNone/>
            </a:pPr>
            <a:r>
              <a:rPr lang="en-US" sz="1600" i="1" dirty="0">
                <a:solidFill>
                  <a:srgbClr val="1A1A1A"/>
                </a:solidFill>
                <a:latin typeface="Calibri" pitchFamily="34" charset="0"/>
                <a:ea typeface="Calibri" pitchFamily="34" charset="-122"/>
                <a:cs typeface="Calibri" pitchFamily="34" charset="-120"/>
              </a:rPr>
              <a:t>Purpose: not to build a model— to read the metric (e.g. const-vel is fine on motion, fails on off-road / red light).</a:t>
            </a:r>
            <a:endParaRPr lang="en-US" sz="1600" dirty="0"/>
          </a:p>
        </p:txBody>
      </p:sp>
      <p:sp>
        <p:nvSpPr>
          <p:cNvPr id="25" name="Shape 23"/>
          <p:cNvSpPr/>
          <p:nvPr/>
        </p:nvSpPr>
        <p:spPr>
          <a:xfrm>
            <a:off x="6255868" y="1325880"/>
            <a:ext cx="5387188" cy="4434840"/>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a:p>
        </p:txBody>
      </p:sp>
      <p:sp>
        <p:nvSpPr>
          <p:cNvPr id="26" name="Shape 24"/>
          <p:cNvSpPr/>
          <p:nvPr/>
        </p:nvSpPr>
        <p:spPr>
          <a:xfrm>
            <a:off x="6255868" y="1325880"/>
            <a:ext cx="109728" cy="4434840"/>
          </a:xfrm>
          <a:prstGeom prst="rect">
            <a:avLst/>
          </a:prstGeom>
          <a:solidFill>
            <a:srgbClr val="500778"/>
          </a:solidFill>
          <a:ln/>
        </p:spPr>
        <p:txBody>
          <a:bodyPr/>
          <a:lstStyle/>
          <a:p>
            <a:endParaRPr lang="zh-CN" altLang="en-US"/>
          </a:p>
        </p:txBody>
      </p:sp>
      <p:sp>
        <p:nvSpPr>
          <p:cNvPr id="27" name="Shape 25"/>
          <p:cNvSpPr/>
          <p:nvPr/>
        </p:nvSpPr>
        <p:spPr>
          <a:xfrm>
            <a:off x="6484468" y="1554480"/>
            <a:ext cx="457200" cy="457200"/>
          </a:xfrm>
          <a:prstGeom prst="ellipse">
            <a:avLst/>
          </a:prstGeom>
          <a:solidFill>
            <a:srgbClr val="500778"/>
          </a:solidFill>
          <a:ln/>
        </p:spPr>
        <p:txBody>
          <a:bodyPr/>
          <a:lstStyle/>
          <a:p>
            <a:endParaRPr lang="zh-CN" altLang="en-US"/>
          </a:p>
        </p:txBody>
      </p:sp>
      <p:sp>
        <p:nvSpPr>
          <p:cNvPr id="28" name="Text 26"/>
          <p:cNvSpPr/>
          <p:nvPr/>
        </p:nvSpPr>
        <p:spPr>
          <a:xfrm>
            <a:off x="6484468" y="15544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Text 27"/>
          <p:cNvSpPr/>
          <p:nvPr/>
        </p:nvSpPr>
        <p:spPr>
          <a:xfrm>
            <a:off x="7033108" y="1572768"/>
            <a:ext cx="4472788" cy="457200"/>
          </a:xfrm>
          <a:prstGeom prst="rect">
            <a:avLst/>
          </a:prstGeom>
          <a:noFill/>
          <a:ln/>
        </p:spPr>
        <p:txBody>
          <a:bodyPr wrap="square" lIns="0" tIns="0" rIns="0" bIns="0" rtlCol="0" anchor="ctr"/>
          <a:lstStyle/>
          <a:p>
            <a:pPr marL="0" indent="0">
              <a:buNone/>
            </a:pPr>
            <a:r>
              <a:rPr lang="en-US" sz="2000" b="1" dirty="0">
                <a:solidFill>
                  <a:srgbClr val="500778"/>
                </a:solidFill>
                <a:latin typeface="Calibri" pitchFamily="34" charset="0"/>
                <a:ea typeface="Calibri" pitchFamily="34" charset="-122"/>
                <a:cs typeface="Calibri" pitchFamily="34" charset="-120"/>
              </a:rPr>
              <a:t>First learned model</a:t>
            </a:r>
            <a:endParaRPr lang="en-US" sz="2000" dirty="0"/>
          </a:p>
        </p:txBody>
      </p:sp>
      <p:sp>
        <p:nvSpPr>
          <p:cNvPr id="30" name="Text 28"/>
          <p:cNvSpPr/>
          <p:nvPr/>
        </p:nvSpPr>
        <p:spPr>
          <a:xfrm>
            <a:off x="6575908" y="2194560"/>
            <a:ext cx="4929988" cy="274320"/>
          </a:xfrm>
          <a:prstGeom prst="rect">
            <a:avLst/>
          </a:prstGeom>
          <a:noFill/>
          <a:ln/>
        </p:spPr>
        <p:txBody>
          <a:bodyPr wrap="square" lIns="0" tIns="0" rIns="0" bIns="0" rtlCol="0" anchor="ctr"/>
          <a:lstStyle/>
          <a:p>
            <a:r>
              <a:rPr lang="en-US" sz="2000" b="1" dirty="0">
                <a:solidFill>
                  <a:srgbClr val="500778"/>
                </a:solidFill>
                <a:latin typeface="Calibri" pitchFamily="34" charset="0"/>
                <a:ea typeface="Calibri" pitchFamily="34" charset="-122"/>
                <a:cs typeface="Calibri" pitchFamily="34" charset="-120"/>
              </a:rPr>
              <a:t>INPUT</a:t>
            </a:r>
          </a:p>
        </p:txBody>
      </p:sp>
      <p:sp>
        <p:nvSpPr>
          <p:cNvPr id="31" name="Text 29"/>
          <p:cNvSpPr/>
          <p:nvPr/>
        </p:nvSpPr>
        <p:spPr>
          <a:xfrm>
            <a:off x="6667348" y="2423160"/>
            <a:ext cx="4884268" cy="1417320"/>
          </a:xfrm>
          <a:prstGeom prst="rect">
            <a:avLst/>
          </a:prstGeom>
          <a:noFill/>
          <a:ln/>
        </p:spPr>
        <p:txBody>
          <a:bodyPr wrap="square" lIns="0" tIns="0" rIns="0" bIns="0" rtlCol="0" anchor="ctr"/>
          <a:lstStyle/>
          <a:p>
            <a:pPr marL="342900" indent="-342900">
              <a:spcAft>
                <a:spcPts val="300"/>
              </a:spcAft>
              <a:buSzPct val="100000"/>
              <a:buChar char="•"/>
            </a:pPr>
            <a:r>
              <a:rPr lang="en-US" sz="2000" dirty="0">
                <a:solidFill>
                  <a:srgbClr val="1A1A1A"/>
                </a:solidFill>
                <a:latin typeface="Calibri" pitchFamily="34" charset="0"/>
                <a:ea typeface="Calibri" pitchFamily="34" charset="-122"/>
                <a:cs typeface="Calibri" pitchFamily="34" charset="-120"/>
              </a:rPr>
              <a:t>past 1 s agent states</a:t>
            </a:r>
            <a:endParaRPr lang="en-US" sz="2000" dirty="0"/>
          </a:p>
          <a:p>
            <a:pPr marL="342900" indent="-342900">
              <a:spcAft>
                <a:spcPts val="300"/>
              </a:spcAft>
              <a:buSzPct val="100000"/>
              <a:buChar char="•"/>
            </a:pPr>
            <a:r>
              <a:rPr lang="en-US" sz="2000" dirty="0">
                <a:solidFill>
                  <a:srgbClr val="1A1A1A"/>
                </a:solidFill>
                <a:latin typeface="Calibri" pitchFamily="34" charset="0"/>
                <a:ea typeface="Calibri" pitchFamily="34" charset="-122"/>
                <a:cs typeface="Calibri" pitchFamily="34" charset="-120"/>
              </a:rPr>
              <a:t>vector map features</a:t>
            </a:r>
            <a:endParaRPr lang="en-US" sz="2000" dirty="0"/>
          </a:p>
          <a:p>
            <a:pPr marL="342900" indent="-342900">
              <a:spcAft>
                <a:spcPts val="300"/>
              </a:spcAft>
              <a:buSzPct val="100000"/>
              <a:buChar char="•"/>
            </a:pPr>
            <a:r>
              <a:rPr lang="en-US" sz="2000" dirty="0">
                <a:solidFill>
                  <a:srgbClr val="1A1A1A"/>
                </a:solidFill>
                <a:latin typeface="Calibri" pitchFamily="34" charset="0"/>
                <a:ea typeface="Calibri" pitchFamily="34" charset="-122"/>
                <a:cs typeface="Calibri" pitchFamily="34" charset="-120"/>
              </a:rPr>
              <a:t>agent type + relative positions</a:t>
            </a:r>
            <a:endParaRPr lang="en-US" sz="2000" dirty="0"/>
          </a:p>
          <a:p>
            <a:pPr marL="342900" indent="-342900">
              <a:spcAft>
                <a:spcPts val="300"/>
              </a:spcAft>
              <a:buSzPct val="100000"/>
              <a:buChar char="•"/>
            </a:pPr>
            <a:r>
              <a:rPr lang="en-US" sz="2000" dirty="0">
                <a:solidFill>
                  <a:srgbClr val="1A1A1A"/>
                </a:solidFill>
                <a:latin typeface="Calibri" pitchFamily="34" charset="0"/>
                <a:ea typeface="Calibri" pitchFamily="34" charset="-122"/>
                <a:cs typeface="Calibri" pitchFamily="34" charset="-120"/>
              </a:rPr>
              <a:t>traffic-light state</a:t>
            </a:r>
            <a:endParaRPr lang="en-US" sz="2000" dirty="0"/>
          </a:p>
        </p:txBody>
      </p:sp>
      <p:sp>
        <p:nvSpPr>
          <p:cNvPr id="32" name="Text 30"/>
          <p:cNvSpPr/>
          <p:nvPr/>
        </p:nvSpPr>
        <p:spPr>
          <a:xfrm>
            <a:off x="6575908" y="3886200"/>
            <a:ext cx="4929988" cy="274320"/>
          </a:xfrm>
          <a:prstGeom prst="rect">
            <a:avLst/>
          </a:prstGeom>
          <a:noFill/>
          <a:ln/>
        </p:spPr>
        <p:txBody>
          <a:bodyPr wrap="square" lIns="0" tIns="0" rIns="0" bIns="0" rtlCol="0" anchor="ctr"/>
          <a:lstStyle/>
          <a:p>
            <a:pPr marL="0" indent="0">
              <a:buNone/>
            </a:pPr>
            <a:r>
              <a:rPr lang="en-US" sz="2000" b="1" dirty="0">
                <a:solidFill>
                  <a:srgbClr val="500778"/>
                </a:solidFill>
                <a:latin typeface="Calibri" pitchFamily="34" charset="0"/>
                <a:ea typeface="Calibri" pitchFamily="34" charset="-122"/>
                <a:cs typeface="Calibri" pitchFamily="34" charset="-120"/>
              </a:rPr>
              <a:t>OUTPUT  →  next-step, Δx, Δy, Δheading</a:t>
            </a:r>
            <a:endParaRPr lang="en-US" sz="2000" dirty="0"/>
          </a:p>
        </p:txBody>
      </p:sp>
      <p:sp>
        <p:nvSpPr>
          <p:cNvPr id="34" name="Text 32"/>
          <p:cNvSpPr/>
          <p:nvPr/>
        </p:nvSpPr>
        <p:spPr>
          <a:xfrm>
            <a:off x="9829572" y="4680585"/>
            <a:ext cx="4609948" cy="228600"/>
          </a:xfrm>
          <a:prstGeom prst="rect">
            <a:avLst/>
          </a:prstGeom>
          <a:noFill/>
          <a:ln/>
        </p:spPr>
        <p:txBody>
          <a:bodyPr wrap="square" lIns="0" tIns="0" rIns="0" bIns="0" rtlCol="0" anchor="ctr"/>
          <a:lstStyle/>
          <a:p>
            <a:pPr marL="0" indent="0">
              <a:buNone/>
            </a:pPr>
            <a:r>
              <a:rPr lang="en-US" sz="1400" b="1" dirty="0">
                <a:solidFill>
                  <a:srgbClr val="6B6B6B"/>
                </a:solidFill>
                <a:latin typeface="Calibri" pitchFamily="34" charset="0"/>
                <a:ea typeface="Calibri" pitchFamily="34" charset="-122"/>
                <a:cs typeface="Calibri" pitchFamily="34" charset="-120"/>
              </a:rPr>
              <a:t>REPEAT 80 TIMES</a:t>
            </a:r>
            <a:endParaRPr lang="en-US" sz="1400" dirty="0"/>
          </a:p>
        </p:txBody>
      </p:sp>
      <p:sp>
        <p:nvSpPr>
          <p:cNvPr id="35" name="Text 33"/>
          <p:cNvSpPr/>
          <p:nvPr/>
        </p:nvSpPr>
        <p:spPr>
          <a:xfrm>
            <a:off x="6667348" y="4357687"/>
            <a:ext cx="4609948" cy="1005840"/>
          </a:xfrm>
          <a:prstGeom prst="rect">
            <a:avLst/>
          </a:prstGeom>
          <a:noFill/>
          <a:ln/>
        </p:spPr>
        <p:txBody>
          <a:bodyPr wrap="square" lIns="0" tIns="0" rIns="0" bIns="0" rtlCol="0" anchor="ctr"/>
          <a:lstStyle/>
          <a:p>
            <a:pPr marL="342900" indent="-342900">
              <a:spcAft>
                <a:spcPts val="300"/>
              </a:spcAft>
              <a:buSzPct val="100000"/>
              <a:buChar char="•"/>
            </a:pPr>
            <a:r>
              <a:rPr lang="en-US" sz="2000" dirty="0">
                <a:solidFill>
                  <a:srgbClr val="1A1A1A"/>
                </a:solidFill>
                <a:latin typeface="Calibri" pitchFamily="34" charset="0"/>
                <a:ea typeface="Calibri" pitchFamily="34" charset="-122"/>
                <a:cs typeface="Calibri" pitchFamily="34" charset="-120"/>
              </a:rPr>
              <a:t>observe simulated scene</a:t>
            </a:r>
          </a:p>
          <a:p>
            <a:pPr marL="342900" indent="-342900">
              <a:spcAft>
                <a:spcPts val="300"/>
              </a:spcAft>
              <a:buSzPct val="100000"/>
              <a:buChar char="•"/>
            </a:pPr>
            <a:r>
              <a:rPr lang="en-US" sz="2000" dirty="0">
                <a:solidFill>
                  <a:srgbClr val="1A1A1A"/>
                </a:solidFill>
                <a:latin typeface="Calibri" pitchFamily="34" charset="0"/>
                <a:ea typeface="Calibri" pitchFamily="34" charset="-122"/>
                <a:cs typeface="Calibri" pitchFamily="34" charset="-120"/>
              </a:rPr>
              <a:t>predict ADV next state         </a:t>
            </a:r>
          </a:p>
          <a:p>
            <a:pPr marL="342900" indent="-342900">
              <a:spcAft>
                <a:spcPts val="300"/>
              </a:spcAft>
              <a:buSzPct val="100000"/>
              <a:buChar char="•"/>
            </a:pPr>
            <a:r>
              <a:rPr lang="en-US" sz="2000" dirty="0">
                <a:solidFill>
                  <a:srgbClr val="1A1A1A"/>
                </a:solidFill>
                <a:latin typeface="Calibri" pitchFamily="34" charset="0"/>
                <a:ea typeface="Calibri" pitchFamily="34" charset="-122"/>
                <a:cs typeface="Calibri" pitchFamily="34" charset="-120"/>
              </a:rPr>
              <a:t>predict world next state          
update scene</a:t>
            </a:r>
          </a:p>
        </p:txBody>
      </p:sp>
      <p:sp>
        <p:nvSpPr>
          <p:cNvPr id="36" name="Text 34"/>
          <p:cNvSpPr/>
          <p:nvPr/>
        </p:nvSpPr>
        <p:spPr>
          <a:xfrm>
            <a:off x="548640" y="5989320"/>
            <a:ext cx="10972800" cy="365760"/>
          </a:xfrm>
          <a:prstGeom prst="rect">
            <a:avLst/>
          </a:prstGeom>
          <a:noFill/>
          <a:ln/>
        </p:spPr>
        <p:txBody>
          <a:bodyPr wrap="square" lIns="0" tIns="0" rIns="0" bIns="0" rtlCol="0" anchor="ctr"/>
          <a:lstStyle/>
          <a:p>
            <a:pPr marL="0" indent="0">
              <a:buNone/>
            </a:pPr>
            <a:r>
              <a:rPr lang="en-US" sz="1600" b="1" i="1" dirty="0">
                <a:solidFill>
                  <a:srgbClr val="500778"/>
                </a:solidFill>
                <a:latin typeface="Calibri" pitchFamily="34" charset="0"/>
                <a:ea typeface="Calibri" pitchFamily="34" charset="-122"/>
                <a:cs typeface="Calibri" pitchFamily="34" charset="-120"/>
              </a:rPr>
              <a:t>By end of Phase 1: working pipeline · 3 baselines scored · 1 learned model trained · failure modes </a:t>
            </a:r>
            <a:r>
              <a:rPr lang="en-US" sz="1600" b="1" i="1" dirty="0" err="1">
                <a:solidFill>
                  <a:srgbClr val="500778"/>
                </a:solidFill>
                <a:latin typeface="Calibri" pitchFamily="34" charset="0"/>
                <a:ea typeface="Calibri" pitchFamily="34" charset="-122"/>
                <a:cs typeface="Calibri" pitchFamily="34" charset="-120"/>
              </a:rPr>
              <a:t>characterised</a:t>
            </a:r>
            <a:r>
              <a:rPr lang="en-US" sz="1600" b="1" i="1" dirty="0">
                <a:solidFill>
                  <a:srgbClr val="500778"/>
                </a:solidFill>
                <a:latin typeface="Calibri" pitchFamily="34" charset="0"/>
                <a:ea typeface="Calibri" pitchFamily="34" charset="-122"/>
                <a:cs typeface="Calibri" pitchFamily="34" charset="-120"/>
              </a:rPr>
              <a:t>.</a:t>
            </a:r>
          </a:p>
        </p:txBody>
      </p:sp>
      <p:pic>
        <p:nvPicPr>
          <p:cNvPr id="37" name="图片 36">
            <a:extLst>
              <a:ext uri="{FF2B5EF4-FFF2-40B4-BE49-F238E27FC236}">
                <a16:creationId xmlns:a16="http://schemas.microsoft.com/office/drawing/2014/main" id="{F8180996-6F56-6759-184A-8267E066944D}"/>
              </a:ext>
            </a:extLst>
          </p:cNvPr>
          <p:cNvPicPr>
            <a:picLocks noChangeAspect="1"/>
          </p:cNvPicPr>
          <p:nvPr/>
        </p:nvPicPr>
        <p:blipFill>
          <a:blip r:embed="rId3"/>
          <a:stretch>
            <a:fillRect/>
          </a:stretch>
        </p:blipFill>
        <p:spPr>
          <a:xfrm>
            <a:off x="10985315" y="117279"/>
            <a:ext cx="1048895" cy="294202"/>
          </a:xfrm>
          <a:prstGeom prst="rect">
            <a:avLst/>
          </a:prstGeom>
        </p:spPr>
      </p:pic>
      <p:cxnSp>
        <p:nvCxnSpPr>
          <p:cNvPr id="38" name="直接连接符 37">
            <a:extLst>
              <a:ext uri="{FF2B5EF4-FFF2-40B4-BE49-F238E27FC236}">
                <a16:creationId xmlns:a16="http://schemas.microsoft.com/office/drawing/2014/main" id="{258633A6-1738-1F2B-FF41-7B0CB5099E2C}"/>
              </a:ext>
            </a:extLst>
          </p:cNvPr>
          <p:cNvCxnSpPr>
            <a:cxnSpLocks/>
          </p:cNvCxnSpPr>
          <p:nvPr/>
        </p:nvCxnSpPr>
        <p:spPr>
          <a:xfrm>
            <a:off x="548640" y="1105176"/>
            <a:ext cx="10545775" cy="0"/>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00778"/>
          </a:solidFill>
          <a:ln/>
        </p:spPr>
        <p:txBody>
          <a:bodyPr/>
          <a:lstStyle/>
          <a:p>
            <a:endParaRPr lang="zh-CN" altLang="en-US"/>
          </a:p>
        </p:txBody>
      </p:sp>
      <p:sp>
        <p:nvSpPr>
          <p:cNvPr id="3" name="Text 1"/>
          <p:cNvSpPr/>
          <p:nvPr/>
        </p:nvSpPr>
        <p:spPr>
          <a:xfrm>
            <a:off x="548640" y="411480"/>
            <a:ext cx="11094415" cy="685800"/>
          </a:xfrm>
          <a:prstGeom prst="rect">
            <a:avLst/>
          </a:prstGeom>
          <a:noFill/>
          <a:ln/>
        </p:spPr>
        <p:txBody>
          <a:bodyPr wrap="square" lIns="0" tIns="0" rIns="0" bIns="0" rtlCol="0" anchor="ctr"/>
          <a:lstStyle/>
          <a:p>
            <a:pPr marL="0" indent="0" algn="l">
              <a:buNone/>
            </a:pPr>
            <a:r>
              <a:rPr lang="en-US" sz="3000" b="1" dirty="0">
                <a:solidFill>
                  <a:srgbClr val="500778"/>
                </a:solidFill>
                <a:latin typeface="Calibri" pitchFamily="34" charset="0"/>
                <a:ea typeface="Calibri" pitchFamily="34" charset="-122"/>
                <a:cs typeface="Calibri" pitchFamily="34" charset="-120"/>
              </a:rPr>
              <a:t>Phase 2: from single-agent prediction to joint multi-agent simulation</a:t>
            </a:r>
            <a:endParaRPr lang="en-US" sz="3000" dirty="0"/>
          </a:p>
        </p:txBody>
      </p:sp>
      <p:sp>
        <p:nvSpPr>
          <p:cNvPr id="5" name="Text 3"/>
          <p:cNvSpPr/>
          <p:nvPr/>
        </p:nvSpPr>
        <p:spPr>
          <a:xfrm>
            <a:off x="11094415" y="6492240"/>
            <a:ext cx="548640" cy="274320"/>
          </a:xfrm>
          <a:prstGeom prst="rect">
            <a:avLst/>
          </a:prstGeom>
          <a:noFill/>
          <a:ln/>
        </p:spPr>
        <p:txBody>
          <a:bodyPr wrap="square" lIns="0" tIns="0" rIns="0" bIns="0" rtlCol="0" anchor="ctr"/>
          <a:lstStyle/>
          <a:p>
            <a:pPr marL="0" indent="0" algn="r">
              <a:buNone/>
            </a:pPr>
            <a:r>
              <a:rPr lang="en-US" sz="1000" b="1" dirty="0">
                <a:solidFill>
                  <a:srgbClr val="500778"/>
                </a:solidFill>
                <a:latin typeface="Calibri" pitchFamily="34" charset="0"/>
                <a:ea typeface="Calibri" pitchFamily="34" charset="-122"/>
                <a:cs typeface="Calibri" pitchFamily="34" charset="-120"/>
              </a:rPr>
              <a:t>13</a:t>
            </a:r>
            <a:endParaRPr lang="en-US" sz="1000" dirty="0"/>
          </a:p>
        </p:txBody>
      </p:sp>
      <p:sp>
        <p:nvSpPr>
          <p:cNvPr id="6" name="Shape 4"/>
          <p:cNvSpPr/>
          <p:nvPr/>
        </p:nvSpPr>
        <p:spPr>
          <a:xfrm>
            <a:off x="548640" y="1280160"/>
            <a:ext cx="11094415" cy="868680"/>
          </a:xfrm>
          <a:prstGeom prst="rect">
            <a:avLst/>
          </a:prstGeom>
          <a:solidFill>
            <a:srgbClr val="500778"/>
          </a:solidFill>
          <a:ln/>
          <a:effectLst>
            <a:outerShdw blurRad="101600" dist="25400" dir="5400000" algn="bl" rotWithShape="0">
              <a:srgbClr val="000000">
                <a:alpha val="10000"/>
              </a:srgbClr>
            </a:outerShdw>
          </a:effectLst>
        </p:spPr>
        <p:txBody>
          <a:bodyPr/>
          <a:lstStyle/>
          <a:p>
            <a:endParaRPr lang="zh-CN" altLang="en-US" dirty="0"/>
          </a:p>
        </p:txBody>
      </p:sp>
      <p:sp>
        <p:nvSpPr>
          <p:cNvPr id="7" name="Text 5"/>
          <p:cNvSpPr/>
          <p:nvPr/>
        </p:nvSpPr>
        <p:spPr>
          <a:xfrm>
            <a:off x="777240" y="1371600"/>
            <a:ext cx="10637215" cy="7315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The hard part is not predicting one car — it is making all agents jointly plausible.</a:t>
            </a:r>
            <a:endParaRPr lang="en-US" sz="2000" dirty="0"/>
          </a:p>
        </p:txBody>
      </p:sp>
      <p:sp>
        <p:nvSpPr>
          <p:cNvPr id="8" name="Shape 6"/>
          <p:cNvSpPr/>
          <p:nvPr/>
        </p:nvSpPr>
        <p:spPr>
          <a:xfrm>
            <a:off x="548640" y="2331720"/>
            <a:ext cx="1711909" cy="960120"/>
          </a:xfrm>
          <a:prstGeom prst="rect">
            <a:avLst/>
          </a:prstGeom>
          <a:solidFill>
            <a:srgbClr val="F2EEF7"/>
          </a:solidFill>
          <a:ln/>
          <a:effectLst>
            <a:outerShdw blurRad="101600" dist="25400" dir="5400000" algn="bl" rotWithShape="0">
              <a:srgbClr val="000000">
                <a:alpha val="10000"/>
              </a:srgbClr>
            </a:outerShdw>
          </a:effectLst>
        </p:spPr>
        <p:txBody>
          <a:bodyPr/>
          <a:lstStyle/>
          <a:p>
            <a:endParaRPr lang="zh-CN" altLang="en-US"/>
          </a:p>
        </p:txBody>
      </p:sp>
      <p:sp>
        <p:nvSpPr>
          <p:cNvPr id="9" name="Text 7"/>
          <p:cNvSpPr/>
          <p:nvPr/>
        </p:nvSpPr>
        <p:spPr>
          <a:xfrm>
            <a:off x="640080" y="2423160"/>
            <a:ext cx="1529029" cy="777240"/>
          </a:xfrm>
          <a:prstGeom prst="rect">
            <a:avLst/>
          </a:prstGeom>
          <a:noFill/>
          <a:ln/>
        </p:spPr>
        <p:txBody>
          <a:bodyPr wrap="square" lIns="0" tIns="0" rIns="0" bIns="0" rtlCol="0" anchor="ctr"/>
          <a:lstStyle/>
          <a:p>
            <a:pPr marL="0" indent="0" algn="ctr">
              <a:buNone/>
            </a:pPr>
            <a:r>
              <a:rPr lang="en-US" b="1" dirty="0">
                <a:solidFill>
                  <a:srgbClr val="500778"/>
                </a:solidFill>
                <a:latin typeface="Calibri" pitchFamily="34" charset="0"/>
                <a:ea typeface="Calibri" pitchFamily="34" charset="-122"/>
                <a:cs typeface="Calibri" pitchFamily="34" charset="-120"/>
              </a:rPr>
              <a:t>Agent–agent</a:t>
            </a:r>
            <a:endParaRPr lang="en-US" dirty="0"/>
          </a:p>
          <a:p>
            <a:pPr marL="0" indent="0" algn="ctr">
              <a:buNone/>
            </a:pPr>
            <a:r>
              <a:rPr lang="en-US" b="1" dirty="0">
                <a:solidFill>
                  <a:srgbClr val="500778"/>
                </a:solidFill>
                <a:latin typeface="Calibri" pitchFamily="34" charset="0"/>
                <a:ea typeface="Calibri" pitchFamily="34" charset="-122"/>
                <a:cs typeface="Calibri" pitchFamily="34" charset="-120"/>
              </a:rPr>
              <a:t>interaction</a:t>
            </a:r>
            <a:endParaRPr lang="en-US" dirty="0"/>
          </a:p>
        </p:txBody>
      </p:sp>
      <p:sp>
        <p:nvSpPr>
          <p:cNvPr id="10" name="Shape 8"/>
          <p:cNvSpPr/>
          <p:nvPr/>
        </p:nvSpPr>
        <p:spPr>
          <a:xfrm>
            <a:off x="2425141" y="2331720"/>
            <a:ext cx="1711909" cy="960120"/>
          </a:xfrm>
          <a:prstGeom prst="rect">
            <a:avLst/>
          </a:prstGeom>
          <a:solidFill>
            <a:srgbClr val="F2EEF7"/>
          </a:solidFill>
          <a:ln/>
          <a:effectLst>
            <a:outerShdw blurRad="101600" dist="25400" dir="5400000" algn="bl" rotWithShape="0">
              <a:srgbClr val="000000">
                <a:alpha val="10000"/>
              </a:srgbClr>
            </a:outerShdw>
          </a:effectLst>
        </p:spPr>
        <p:txBody>
          <a:bodyPr/>
          <a:lstStyle/>
          <a:p>
            <a:endParaRPr lang="zh-CN" altLang="en-US"/>
          </a:p>
        </p:txBody>
      </p:sp>
      <p:sp>
        <p:nvSpPr>
          <p:cNvPr id="11" name="Text 9"/>
          <p:cNvSpPr/>
          <p:nvPr/>
        </p:nvSpPr>
        <p:spPr>
          <a:xfrm>
            <a:off x="2516581" y="2423160"/>
            <a:ext cx="1529029" cy="777240"/>
          </a:xfrm>
          <a:prstGeom prst="rect">
            <a:avLst/>
          </a:prstGeom>
          <a:noFill/>
          <a:ln/>
        </p:spPr>
        <p:txBody>
          <a:bodyPr wrap="square" lIns="0" tIns="0" rIns="0" bIns="0" rtlCol="0" anchor="ctr"/>
          <a:lstStyle/>
          <a:p>
            <a:pPr marL="0" indent="0" algn="ctr">
              <a:buNone/>
            </a:pPr>
            <a:r>
              <a:rPr lang="en-US" b="1" dirty="0">
                <a:solidFill>
                  <a:srgbClr val="500778"/>
                </a:solidFill>
                <a:latin typeface="Calibri" pitchFamily="34" charset="0"/>
                <a:ea typeface="Calibri" pitchFamily="34" charset="-122"/>
                <a:cs typeface="Calibri" pitchFamily="34" charset="-120"/>
              </a:rPr>
              <a:t>Vehicle ↔ pedestrian</a:t>
            </a:r>
            <a:endParaRPr lang="en-US" dirty="0"/>
          </a:p>
          <a:p>
            <a:pPr marL="0" indent="0" algn="ctr">
              <a:buNone/>
            </a:pPr>
            <a:r>
              <a:rPr lang="en-US" b="1" dirty="0">
                <a:solidFill>
                  <a:srgbClr val="500778"/>
                </a:solidFill>
                <a:latin typeface="Calibri" pitchFamily="34" charset="0"/>
                <a:ea typeface="Calibri" pitchFamily="34" charset="-122"/>
                <a:cs typeface="Calibri" pitchFamily="34" charset="-120"/>
              </a:rPr>
              <a:t>yielding</a:t>
            </a:r>
            <a:endParaRPr lang="en-US" dirty="0"/>
          </a:p>
        </p:txBody>
      </p:sp>
      <p:sp>
        <p:nvSpPr>
          <p:cNvPr id="12" name="Shape 10"/>
          <p:cNvSpPr/>
          <p:nvPr/>
        </p:nvSpPr>
        <p:spPr>
          <a:xfrm>
            <a:off x="4301642" y="2331720"/>
            <a:ext cx="1711909" cy="960120"/>
          </a:xfrm>
          <a:prstGeom prst="rect">
            <a:avLst/>
          </a:prstGeom>
          <a:solidFill>
            <a:srgbClr val="F2EEF7"/>
          </a:solidFill>
          <a:ln/>
          <a:effectLst>
            <a:outerShdw blurRad="101600" dist="25400" dir="5400000" algn="bl" rotWithShape="0">
              <a:srgbClr val="000000">
                <a:alpha val="10000"/>
              </a:srgbClr>
            </a:outerShdw>
          </a:effectLst>
        </p:spPr>
        <p:txBody>
          <a:bodyPr/>
          <a:lstStyle/>
          <a:p>
            <a:endParaRPr lang="zh-CN" altLang="en-US"/>
          </a:p>
        </p:txBody>
      </p:sp>
      <p:sp>
        <p:nvSpPr>
          <p:cNvPr id="13" name="Text 11"/>
          <p:cNvSpPr/>
          <p:nvPr/>
        </p:nvSpPr>
        <p:spPr>
          <a:xfrm>
            <a:off x="4393082" y="2423160"/>
            <a:ext cx="1529029" cy="777240"/>
          </a:xfrm>
          <a:prstGeom prst="rect">
            <a:avLst/>
          </a:prstGeom>
          <a:noFill/>
          <a:ln/>
        </p:spPr>
        <p:txBody>
          <a:bodyPr wrap="square" lIns="0" tIns="0" rIns="0" bIns="0" rtlCol="0" anchor="ctr"/>
          <a:lstStyle/>
          <a:p>
            <a:pPr marL="0" indent="0" algn="ctr">
              <a:buNone/>
            </a:pPr>
            <a:r>
              <a:rPr lang="en-US" b="1" dirty="0">
                <a:solidFill>
                  <a:srgbClr val="500778"/>
                </a:solidFill>
                <a:latin typeface="Calibri" pitchFamily="34" charset="0"/>
                <a:ea typeface="Calibri" pitchFamily="34" charset="-122"/>
                <a:cs typeface="Calibri" pitchFamily="34" charset="-120"/>
              </a:rPr>
              <a:t>Car following</a:t>
            </a:r>
            <a:endParaRPr lang="en-US" dirty="0"/>
          </a:p>
        </p:txBody>
      </p:sp>
      <p:sp>
        <p:nvSpPr>
          <p:cNvPr id="14" name="Shape 12"/>
          <p:cNvSpPr/>
          <p:nvPr/>
        </p:nvSpPr>
        <p:spPr>
          <a:xfrm>
            <a:off x="6178144" y="2331720"/>
            <a:ext cx="1711909" cy="960120"/>
          </a:xfrm>
          <a:prstGeom prst="rect">
            <a:avLst/>
          </a:prstGeom>
          <a:solidFill>
            <a:srgbClr val="F2EEF7"/>
          </a:solidFill>
          <a:ln/>
          <a:effectLst>
            <a:outerShdw blurRad="101600" dist="25400" dir="5400000" algn="bl" rotWithShape="0">
              <a:srgbClr val="000000">
                <a:alpha val="10000"/>
              </a:srgbClr>
            </a:outerShdw>
          </a:effectLst>
        </p:spPr>
        <p:txBody>
          <a:bodyPr/>
          <a:lstStyle/>
          <a:p>
            <a:endParaRPr lang="zh-CN" altLang="en-US"/>
          </a:p>
        </p:txBody>
      </p:sp>
      <p:sp>
        <p:nvSpPr>
          <p:cNvPr id="15" name="Text 13"/>
          <p:cNvSpPr/>
          <p:nvPr/>
        </p:nvSpPr>
        <p:spPr>
          <a:xfrm>
            <a:off x="6269584" y="2423160"/>
            <a:ext cx="1529029" cy="777240"/>
          </a:xfrm>
          <a:prstGeom prst="rect">
            <a:avLst/>
          </a:prstGeom>
          <a:noFill/>
          <a:ln/>
        </p:spPr>
        <p:txBody>
          <a:bodyPr wrap="square" lIns="0" tIns="0" rIns="0" bIns="0" rtlCol="0" anchor="ctr"/>
          <a:lstStyle/>
          <a:p>
            <a:pPr marL="0" indent="0" algn="ctr">
              <a:buNone/>
            </a:pPr>
            <a:r>
              <a:rPr lang="en-US" b="1" dirty="0">
                <a:solidFill>
                  <a:srgbClr val="500778"/>
                </a:solidFill>
                <a:latin typeface="Calibri" pitchFamily="34" charset="0"/>
                <a:ea typeface="Calibri" pitchFamily="34" charset="-122"/>
                <a:cs typeface="Calibri" pitchFamily="34" charset="-120"/>
              </a:rPr>
              <a:t>Lane keeping</a:t>
            </a:r>
            <a:endParaRPr lang="en-US" dirty="0"/>
          </a:p>
        </p:txBody>
      </p:sp>
      <p:sp>
        <p:nvSpPr>
          <p:cNvPr id="16" name="Shape 14"/>
          <p:cNvSpPr/>
          <p:nvPr/>
        </p:nvSpPr>
        <p:spPr>
          <a:xfrm>
            <a:off x="8054645" y="2331720"/>
            <a:ext cx="1711909" cy="960120"/>
          </a:xfrm>
          <a:prstGeom prst="rect">
            <a:avLst/>
          </a:prstGeom>
          <a:solidFill>
            <a:srgbClr val="F2EEF7"/>
          </a:solidFill>
          <a:ln/>
          <a:effectLst>
            <a:outerShdw blurRad="101600" dist="25400" dir="5400000" algn="bl" rotWithShape="0">
              <a:srgbClr val="000000">
                <a:alpha val="10000"/>
              </a:srgbClr>
            </a:outerShdw>
          </a:effectLst>
        </p:spPr>
        <p:txBody>
          <a:bodyPr/>
          <a:lstStyle/>
          <a:p>
            <a:endParaRPr lang="zh-CN" altLang="en-US"/>
          </a:p>
        </p:txBody>
      </p:sp>
      <p:sp>
        <p:nvSpPr>
          <p:cNvPr id="17" name="Text 15"/>
          <p:cNvSpPr/>
          <p:nvPr/>
        </p:nvSpPr>
        <p:spPr>
          <a:xfrm>
            <a:off x="8146085" y="2423160"/>
            <a:ext cx="1529029" cy="777240"/>
          </a:xfrm>
          <a:prstGeom prst="rect">
            <a:avLst/>
          </a:prstGeom>
          <a:noFill/>
          <a:ln/>
        </p:spPr>
        <p:txBody>
          <a:bodyPr wrap="square" lIns="0" tIns="0" rIns="0" bIns="0" rtlCol="0" anchor="ctr"/>
          <a:lstStyle/>
          <a:p>
            <a:pPr marL="0" indent="0" algn="ctr">
              <a:buNone/>
            </a:pPr>
            <a:r>
              <a:rPr lang="en-US" b="1" dirty="0">
                <a:solidFill>
                  <a:srgbClr val="500778"/>
                </a:solidFill>
                <a:latin typeface="Calibri" pitchFamily="34" charset="0"/>
                <a:ea typeface="Calibri" pitchFamily="34" charset="-122"/>
                <a:cs typeface="Calibri" pitchFamily="34" charset="-120"/>
              </a:rPr>
              <a:t>Traffic-light</a:t>
            </a:r>
            <a:endParaRPr lang="en-US" dirty="0"/>
          </a:p>
          <a:p>
            <a:pPr marL="0" indent="0" algn="ctr">
              <a:buNone/>
            </a:pPr>
            <a:r>
              <a:rPr lang="en-US" b="1" dirty="0">
                <a:solidFill>
                  <a:srgbClr val="500778"/>
                </a:solidFill>
                <a:latin typeface="Calibri" pitchFamily="34" charset="0"/>
                <a:ea typeface="Calibri" pitchFamily="34" charset="-122"/>
                <a:cs typeface="Calibri" pitchFamily="34" charset="-120"/>
              </a:rPr>
              <a:t>compliance</a:t>
            </a:r>
            <a:endParaRPr lang="en-US" dirty="0"/>
          </a:p>
        </p:txBody>
      </p:sp>
      <p:sp>
        <p:nvSpPr>
          <p:cNvPr id="18" name="Shape 16"/>
          <p:cNvSpPr/>
          <p:nvPr/>
        </p:nvSpPr>
        <p:spPr>
          <a:xfrm>
            <a:off x="9931146" y="2331720"/>
            <a:ext cx="1711909" cy="960120"/>
          </a:xfrm>
          <a:prstGeom prst="rect">
            <a:avLst/>
          </a:prstGeom>
          <a:solidFill>
            <a:srgbClr val="F2EEF7"/>
          </a:solidFill>
          <a:ln/>
          <a:effectLst>
            <a:outerShdw blurRad="101600" dist="25400" dir="5400000" algn="bl" rotWithShape="0">
              <a:srgbClr val="000000">
                <a:alpha val="10000"/>
              </a:srgbClr>
            </a:outerShdw>
          </a:effectLst>
        </p:spPr>
        <p:txBody>
          <a:bodyPr/>
          <a:lstStyle/>
          <a:p>
            <a:endParaRPr lang="zh-CN" altLang="en-US"/>
          </a:p>
        </p:txBody>
      </p:sp>
      <p:sp>
        <p:nvSpPr>
          <p:cNvPr id="19" name="Text 17"/>
          <p:cNvSpPr/>
          <p:nvPr/>
        </p:nvSpPr>
        <p:spPr>
          <a:xfrm>
            <a:off x="10022586" y="2423160"/>
            <a:ext cx="1529029" cy="777240"/>
          </a:xfrm>
          <a:prstGeom prst="rect">
            <a:avLst/>
          </a:prstGeom>
          <a:noFill/>
          <a:ln/>
        </p:spPr>
        <p:txBody>
          <a:bodyPr wrap="square" lIns="0" tIns="0" rIns="0" bIns="0" rtlCol="0" anchor="ctr"/>
          <a:lstStyle/>
          <a:p>
            <a:pPr marL="0" indent="0" algn="ctr">
              <a:buNone/>
            </a:pPr>
            <a:r>
              <a:rPr lang="en-US" b="1" dirty="0">
                <a:solidFill>
                  <a:srgbClr val="500778"/>
                </a:solidFill>
                <a:latin typeface="Calibri" pitchFamily="34" charset="0"/>
                <a:ea typeface="Calibri" pitchFamily="34" charset="-122"/>
                <a:cs typeface="Calibri" pitchFamily="34" charset="-120"/>
              </a:rPr>
              <a:t>Multimodal</a:t>
            </a:r>
            <a:endParaRPr lang="en-US" dirty="0"/>
          </a:p>
          <a:p>
            <a:pPr marL="0" indent="0" algn="ctr">
              <a:buNone/>
            </a:pPr>
            <a:r>
              <a:rPr lang="en-US" b="1" dirty="0">
                <a:solidFill>
                  <a:srgbClr val="500778"/>
                </a:solidFill>
                <a:latin typeface="Calibri" pitchFamily="34" charset="0"/>
                <a:ea typeface="Calibri" pitchFamily="34" charset="-122"/>
                <a:cs typeface="Calibri" pitchFamily="34" charset="-120"/>
              </a:rPr>
              <a:t>futures</a:t>
            </a:r>
            <a:endParaRPr lang="en-US" dirty="0"/>
          </a:p>
        </p:txBody>
      </p:sp>
      <p:sp>
        <p:nvSpPr>
          <p:cNvPr id="20" name="Shape 18"/>
          <p:cNvSpPr/>
          <p:nvPr/>
        </p:nvSpPr>
        <p:spPr>
          <a:xfrm>
            <a:off x="548640" y="3657600"/>
            <a:ext cx="1911645" cy="1280160"/>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a:p>
        </p:txBody>
      </p:sp>
      <p:sp>
        <p:nvSpPr>
          <p:cNvPr id="21" name="Shape 19"/>
          <p:cNvSpPr/>
          <p:nvPr/>
        </p:nvSpPr>
        <p:spPr>
          <a:xfrm>
            <a:off x="548640" y="3657600"/>
            <a:ext cx="1911645" cy="91440"/>
          </a:xfrm>
          <a:prstGeom prst="rect">
            <a:avLst/>
          </a:prstGeom>
          <a:solidFill>
            <a:srgbClr val="500778"/>
          </a:solidFill>
          <a:ln/>
        </p:spPr>
        <p:txBody>
          <a:bodyPr/>
          <a:lstStyle/>
          <a:p>
            <a:endParaRPr lang="zh-CN" altLang="en-US"/>
          </a:p>
        </p:txBody>
      </p:sp>
      <p:sp>
        <p:nvSpPr>
          <p:cNvPr id="22" name="Text 20"/>
          <p:cNvSpPr/>
          <p:nvPr/>
        </p:nvSpPr>
        <p:spPr>
          <a:xfrm>
            <a:off x="640080" y="3840480"/>
            <a:ext cx="1728765" cy="1005840"/>
          </a:xfrm>
          <a:prstGeom prst="rect">
            <a:avLst/>
          </a:prstGeom>
          <a:noFill/>
          <a:ln/>
        </p:spPr>
        <p:txBody>
          <a:bodyPr wrap="square" lIns="0" tIns="0" rIns="0" bIns="0" rtlCol="0" anchor="ctr"/>
          <a:lstStyle/>
          <a:p>
            <a:pPr marL="0" indent="0" algn="ctr">
              <a:buNone/>
            </a:pPr>
            <a:r>
              <a:rPr lang="en-US" b="1" dirty="0">
                <a:solidFill>
                  <a:srgbClr val="500778"/>
                </a:solidFill>
                <a:latin typeface="Calibri" pitchFamily="34" charset="0"/>
                <a:ea typeface="Calibri" pitchFamily="34" charset="-122"/>
                <a:cs typeface="Calibri" pitchFamily="34" charset="-120"/>
              </a:rPr>
              <a:t>Vectorized</a:t>
            </a:r>
            <a:endParaRPr lang="en-US" dirty="0"/>
          </a:p>
          <a:p>
            <a:pPr marL="0" indent="0" algn="ctr">
              <a:buNone/>
            </a:pPr>
            <a:r>
              <a:rPr lang="en-US" b="1" dirty="0">
                <a:solidFill>
                  <a:srgbClr val="500778"/>
                </a:solidFill>
                <a:latin typeface="Calibri" pitchFamily="34" charset="0"/>
                <a:ea typeface="Calibri" pitchFamily="34" charset="-122"/>
                <a:cs typeface="Calibri" pitchFamily="34" charset="-120"/>
              </a:rPr>
              <a:t>map encoder</a:t>
            </a:r>
            <a:endParaRPr lang="en-US" dirty="0"/>
          </a:p>
        </p:txBody>
      </p:sp>
      <p:sp>
        <p:nvSpPr>
          <p:cNvPr id="23" name="Shape 21"/>
          <p:cNvSpPr/>
          <p:nvPr/>
        </p:nvSpPr>
        <p:spPr>
          <a:xfrm>
            <a:off x="2478573" y="4297680"/>
            <a:ext cx="237744" cy="0"/>
          </a:xfrm>
          <a:prstGeom prst="line">
            <a:avLst/>
          </a:prstGeom>
          <a:noFill/>
          <a:ln w="25400">
            <a:solidFill>
              <a:srgbClr val="500778"/>
            </a:solidFill>
            <a:prstDash val="solid"/>
            <a:tailEnd type="triangle"/>
          </a:ln>
        </p:spPr>
        <p:txBody>
          <a:bodyPr/>
          <a:lstStyle/>
          <a:p>
            <a:endParaRPr lang="zh-CN" altLang="en-US"/>
          </a:p>
        </p:txBody>
      </p:sp>
      <p:sp>
        <p:nvSpPr>
          <p:cNvPr id="24" name="Shape 22"/>
          <p:cNvSpPr/>
          <p:nvPr/>
        </p:nvSpPr>
        <p:spPr>
          <a:xfrm>
            <a:off x="2734605" y="3657600"/>
            <a:ext cx="1911645" cy="1280160"/>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a:p>
        </p:txBody>
      </p:sp>
      <p:sp>
        <p:nvSpPr>
          <p:cNvPr id="25" name="Shape 23"/>
          <p:cNvSpPr/>
          <p:nvPr/>
        </p:nvSpPr>
        <p:spPr>
          <a:xfrm>
            <a:off x="2734605" y="3657600"/>
            <a:ext cx="1911645" cy="91440"/>
          </a:xfrm>
          <a:prstGeom prst="rect">
            <a:avLst/>
          </a:prstGeom>
          <a:solidFill>
            <a:srgbClr val="500778"/>
          </a:solidFill>
          <a:ln/>
        </p:spPr>
        <p:txBody>
          <a:bodyPr/>
          <a:lstStyle/>
          <a:p>
            <a:endParaRPr lang="zh-CN" altLang="en-US"/>
          </a:p>
        </p:txBody>
      </p:sp>
      <p:sp>
        <p:nvSpPr>
          <p:cNvPr id="26" name="Text 24"/>
          <p:cNvSpPr/>
          <p:nvPr/>
        </p:nvSpPr>
        <p:spPr>
          <a:xfrm>
            <a:off x="2826045" y="3840480"/>
            <a:ext cx="1728765" cy="1005840"/>
          </a:xfrm>
          <a:prstGeom prst="rect">
            <a:avLst/>
          </a:prstGeom>
          <a:noFill/>
          <a:ln/>
        </p:spPr>
        <p:txBody>
          <a:bodyPr wrap="square" lIns="0" tIns="0" rIns="0" bIns="0" rtlCol="0" anchor="ctr"/>
          <a:lstStyle/>
          <a:p>
            <a:pPr marL="0" indent="0" algn="ctr">
              <a:buNone/>
            </a:pPr>
            <a:r>
              <a:rPr lang="en-US" b="1" dirty="0">
                <a:solidFill>
                  <a:srgbClr val="500778"/>
                </a:solidFill>
                <a:latin typeface="Calibri" pitchFamily="34" charset="0"/>
                <a:ea typeface="Calibri" pitchFamily="34" charset="-122"/>
                <a:cs typeface="Calibri" pitchFamily="34" charset="-120"/>
              </a:rPr>
              <a:t>Agent history</a:t>
            </a:r>
            <a:endParaRPr lang="en-US" dirty="0"/>
          </a:p>
          <a:p>
            <a:pPr marL="0" indent="0" algn="ctr">
              <a:buNone/>
            </a:pPr>
            <a:r>
              <a:rPr lang="en-US" b="1" dirty="0">
                <a:solidFill>
                  <a:srgbClr val="500778"/>
                </a:solidFill>
                <a:latin typeface="Calibri" pitchFamily="34" charset="0"/>
                <a:ea typeface="Calibri" pitchFamily="34" charset="-122"/>
                <a:cs typeface="Calibri" pitchFamily="34" charset="-120"/>
              </a:rPr>
              <a:t>encoder</a:t>
            </a:r>
            <a:endParaRPr lang="en-US" dirty="0"/>
          </a:p>
        </p:txBody>
      </p:sp>
      <p:sp>
        <p:nvSpPr>
          <p:cNvPr id="27" name="Shape 25"/>
          <p:cNvSpPr/>
          <p:nvPr/>
        </p:nvSpPr>
        <p:spPr>
          <a:xfrm>
            <a:off x="4664537" y="4297680"/>
            <a:ext cx="237744" cy="0"/>
          </a:xfrm>
          <a:prstGeom prst="line">
            <a:avLst/>
          </a:prstGeom>
          <a:noFill/>
          <a:ln w="25400">
            <a:solidFill>
              <a:srgbClr val="500778"/>
            </a:solidFill>
            <a:prstDash val="solid"/>
            <a:tailEnd type="triangle"/>
          </a:ln>
        </p:spPr>
        <p:txBody>
          <a:bodyPr/>
          <a:lstStyle/>
          <a:p>
            <a:endParaRPr lang="zh-CN" altLang="en-US"/>
          </a:p>
        </p:txBody>
      </p:sp>
      <p:sp>
        <p:nvSpPr>
          <p:cNvPr id="28" name="Shape 26"/>
          <p:cNvSpPr/>
          <p:nvPr/>
        </p:nvSpPr>
        <p:spPr>
          <a:xfrm>
            <a:off x="4920569" y="3657600"/>
            <a:ext cx="1911645" cy="1280160"/>
          </a:xfrm>
          <a:prstGeom prst="rect">
            <a:avLst/>
          </a:prstGeom>
          <a:solidFill>
            <a:srgbClr val="500778"/>
          </a:solidFill>
          <a:ln/>
          <a:effectLst>
            <a:outerShdw blurRad="101600" dist="25400" dir="5400000" algn="bl" rotWithShape="0">
              <a:srgbClr val="000000">
                <a:alpha val="10000"/>
              </a:srgbClr>
            </a:outerShdw>
          </a:effectLst>
        </p:spPr>
        <p:txBody>
          <a:bodyPr/>
          <a:lstStyle/>
          <a:p>
            <a:endParaRPr lang="zh-CN" altLang="en-US"/>
          </a:p>
        </p:txBody>
      </p:sp>
      <p:sp>
        <p:nvSpPr>
          <p:cNvPr id="29" name="Text 27"/>
          <p:cNvSpPr/>
          <p:nvPr/>
        </p:nvSpPr>
        <p:spPr>
          <a:xfrm>
            <a:off x="5012009" y="3840480"/>
            <a:ext cx="1728765" cy="100584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Agent–agent</a:t>
            </a:r>
            <a:endParaRPr lang="en-US" dirty="0"/>
          </a:p>
          <a:p>
            <a:pPr marL="0" indent="0" algn="ctr">
              <a:buNone/>
            </a:pPr>
            <a:r>
              <a:rPr lang="en-US" b="1" dirty="0">
                <a:solidFill>
                  <a:srgbClr val="FFFFFF"/>
                </a:solidFill>
                <a:latin typeface="Calibri" pitchFamily="34" charset="0"/>
                <a:ea typeface="Calibri" pitchFamily="34" charset="-122"/>
                <a:cs typeface="Calibri" pitchFamily="34" charset="-120"/>
              </a:rPr>
              <a:t>attention / GNN</a:t>
            </a:r>
            <a:endParaRPr lang="en-US" dirty="0"/>
          </a:p>
        </p:txBody>
      </p:sp>
      <p:sp>
        <p:nvSpPr>
          <p:cNvPr id="30" name="Shape 28"/>
          <p:cNvSpPr/>
          <p:nvPr/>
        </p:nvSpPr>
        <p:spPr>
          <a:xfrm>
            <a:off x="6850502" y="4297680"/>
            <a:ext cx="237744" cy="0"/>
          </a:xfrm>
          <a:prstGeom prst="line">
            <a:avLst/>
          </a:prstGeom>
          <a:noFill/>
          <a:ln w="25400">
            <a:solidFill>
              <a:srgbClr val="500778"/>
            </a:solidFill>
            <a:prstDash val="solid"/>
            <a:tailEnd type="triangle"/>
          </a:ln>
        </p:spPr>
        <p:txBody>
          <a:bodyPr/>
          <a:lstStyle/>
          <a:p>
            <a:endParaRPr lang="zh-CN" altLang="en-US"/>
          </a:p>
        </p:txBody>
      </p:sp>
      <p:sp>
        <p:nvSpPr>
          <p:cNvPr id="31" name="Shape 29"/>
          <p:cNvSpPr/>
          <p:nvPr/>
        </p:nvSpPr>
        <p:spPr>
          <a:xfrm>
            <a:off x="7106534" y="3657600"/>
            <a:ext cx="1911645" cy="1280160"/>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a:p>
        </p:txBody>
      </p:sp>
      <p:sp>
        <p:nvSpPr>
          <p:cNvPr id="32" name="Shape 30"/>
          <p:cNvSpPr/>
          <p:nvPr/>
        </p:nvSpPr>
        <p:spPr>
          <a:xfrm>
            <a:off x="7106534" y="3657600"/>
            <a:ext cx="1911645" cy="91440"/>
          </a:xfrm>
          <a:prstGeom prst="rect">
            <a:avLst/>
          </a:prstGeom>
          <a:solidFill>
            <a:srgbClr val="500778"/>
          </a:solidFill>
          <a:ln/>
        </p:spPr>
        <p:txBody>
          <a:bodyPr/>
          <a:lstStyle/>
          <a:p>
            <a:endParaRPr lang="zh-CN" altLang="en-US"/>
          </a:p>
        </p:txBody>
      </p:sp>
      <p:sp>
        <p:nvSpPr>
          <p:cNvPr id="33" name="Text 31"/>
          <p:cNvSpPr/>
          <p:nvPr/>
        </p:nvSpPr>
        <p:spPr>
          <a:xfrm>
            <a:off x="7197974" y="3840480"/>
            <a:ext cx="1728765" cy="1005840"/>
          </a:xfrm>
          <a:prstGeom prst="rect">
            <a:avLst/>
          </a:prstGeom>
          <a:noFill/>
          <a:ln/>
        </p:spPr>
        <p:txBody>
          <a:bodyPr wrap="square" lIns="0" tIns="0" rIns="0" bIns="0" rtlCol="0" anchor="ctr"/>
          <a:lstStyle/>
          <a:p>
            <a:pPr marL="0" indent="0" algn="ctr">
              <a:buNone/>
            </a:pPr>
            <a:r>
              <a:rPr lang="en-US" b="1" dirty="0">
                <a:solidFill>
                  <a:srgbClr val="500778"/>
                </a:solidFill>
                <a:latin typeface="Calibri" pitchFamily="34" charset="0"/>
                <a:ea typeface="Calibri" pitchFamily="34" charset="-122"/>
                <a:cs typeface="Calibri" pitchFamily="34" charset="-120"/>
              </a:rPr>
              <a:t>Stochastic</a:t>
            </a:r>
            <a:endParaRPr lang="en-US" dirty="0"/>
          </a:p>
          <a:p>
            <a:pPr marL="0" indent="0" algn="ctr">
              <a:buNone/>
            </a:pPr>
            <a:r>
              <a:rPr lang="en-US" b="1" dirty="0">
                <a:solidFill>
                  <a:srgbClr val="500778"/>
                </a:solidFill>
                <a:latin typeface="Calibri" pitchFamily="34" charset="0"/>
                <a:ea typeface="Calibri" pitchFamily="34" charset="-122"/>
                <a:cs typeface="Calibri" pitchFamily="34" charset="-120"/>
              </a:rPr>
              <a:t>decoder</a:t>
            </a:r>
            <a:endParaRPr lang="en-US" dirty="0"/>
          </a:p>
        </p:txBody>
      </p:sp>
      <p:sp>
        <p:nvSpPr>
          <p:cNvPr id="34" name="Shape 32"/>
          <p:cNvSpPr/>
          <p:nvPr/>
        </p:nvSpPr>
        <p:spPr>
          <a:xfrm>
            <a:off x="9036467" y="4297680"/>
            <a:ext cx="237744" cy="0"/>
          </a:xfrm>
          <a:prstGeom prst="line">
            <a:avLst/>
          </a:prstGeom>
          <a:noFill/>
          <a:ln w="25400">
            <a:solidFill>
              <a:srgbClr val="500778"/>
            </a:solidFill>
            <a:prstDash val="solid"/>
            <a:tailEnd type="triangle"/>
          </a:ln>
        </p:spPr>
        <p:txBody>
          <a:bodyPr/>
          <a:lstStyle/>
          <a:p>
            <a:endParaRPr lang="zh-CN" altLang="en-US"/>
          </a:p>
        </p:txBody>
      </p:sp>
      <p:sp>
        <p:nvSpPr>
          <p:cNvPr id="35" name="Shape 33"/>
          <p:cNvSpPr/>
          <p:nvPr/>
        </p:nvSpPr>
        <p:spPr>
          <a:xfrm>
            <a:off x="9292499" y="3657600"/>
            <a:ext cx="1911645" cy="1280160"/>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a:p>
        </p:txBody>
      </p:sp>
      <p:sp>
        <p:nvSpPr>
          <p:cNvPr id="36" name="Shape 34"/>
          <p:cNvSpPr/>
          <p:nvPr/>
        </p:nvSpPr>
        <p:spPr>
          <a:xfrm>
            <a:off x="9292499" y="3657600"/>
            <a:ext cx="1911645" cy="91440"/>
          </a:xfrm>
          <a:prstGeom prst="rect">
            <a:avLst/>
          </a:prstGeom>
          <a:solidFill>
            <a:srgbClr val="500778"/>
          </a:solidFill>
          <a:ln/>
        </p:spPr>
        <p:txBody>
          <a:bodyPr/>
          <a:lstStyle/>
          <a:p>
            <a:endParaRPr lang="zh-CN" altLang="en-US"/>
          </a:p>
        </p:txBody>
      </p:sp>
      <p:sp>
        <p:nvSpPr>
          <p:cNvPr id="37" name="Text 35"/>
          <p:cNvSpPr/>
          <p:nvPr/>
        </p:nvSpPr>
        <p:spPr>
          <a:xfrm>
            <a:off x="9383939" y="3840480"/>
            <a:ext cx="1728765" cy="1005840"/>
          </a:xfrm>
          <a:prstGeom prst="rect">
            <a:avLst/>
          </a:prstGeom>
          <a:noFill/>
          <a:ln/>
        </p:spPr>
        <p:txBody>
          <a:bodyPr wrap="square" lIns="0" tIns="0" rIns="0" bIns="0" rtlCol="0" anchor="ctr"/>
          <a:lstStyle/>
          <a:p>
            <a:pPr marL="0" indent="0" algn="ctr">
              <a:buNone/>
            </a:pPr>
            <a:r>
              <a:rPr lang="en-US" b="1" dirty="0">
                <a:solidFill>
                  <a:srgbClr val="500778"/>
                </a:solidFill>
                <a:latin typeface="Calibri" pitchFamily="34" charset="0"/>
                <a:ea typeface="Calibri" pitchFamily="34" charset="-122"/>
                <a:cs typeface="Calibri" pitchFamily="34" charset="-120"/>
              </a:rPr>
              <a:t>Constraint-aware</a:t>
            </a:r>
            <a:endParaRPr lang="en-US" dirty="0"/>
          </a:p>
          <a:p>
            <a:pPr marL="0" indent="0" algn="ctr">
              <a:buNone/>
            </a:pPr>
            <a:r>
              <a:rPr lang="en-US" b="1" dirty="0">
                <a:solidFill>
                  <a:srgbClr val="500778"/>
                </a:solidFill>
                <a:latin typeface="Calibri" pitchFamily="34" charset="0"/>
                <a:ea typeface="Calibri" pitchFamily="34" charset="-122"/>
                <a:cs typeface="Calibri" pitchFamily="34" charset="-120"/>
              </a:rPr>
              <a:t>post-processing</a:t>
            </a:r>
            <a:endParaRPr lang="en-US" dirty="0"/>
          </a:p>
        </p:txBody>
      </p:sp>
      <p:sp>
        <p:nvSpPr>
          <p:cNvPr id="38" name="Text 36"/>
          <p:cNvSpPr/>
          <p:nvPr/>
        </p:nvSpPr>
        <p:spPr>
          <a:xfrm>
            <a:off x="548640" y="5029200"/>
            <a:ext cx="11094415" cy="320040"/>
          </a:xfrm>
          <a:prstGeom prst="rect">
            <a:avLst/>
          </a:prstGeom>
          <a:noFill/>
          <a:ln/>
        </p:spPr>
        <p:txBody>
          <a:bodyPr wrap="square" lIns="0" tIns="0" rIns="0" bIns="0" rtlCol="0" anchor="ctr"/>
          <a:lstStyle/>
          <a:p>
            <a:pPr marL="0" indent="0" algn="ctr">
              <a:buNone/>
            </a:pPr>
            <a:r>
              <a:rPr lang="en-US" sz="1100" i="1" dirty="0">
                <a:solidFill>
                  <a:srgbClr val="6B6B6B"/>
                </a:solidFill>
                <a:latin typeface="Calibri" pitchFamily="34" charset="0"/>
                <a:ea typeface="Calibri" pitchFamily="34" charset="-122"/>
                <a:cs typeface="Calibri" pitchFamily="34" charset="-120"/>
              </a:rPr>
              <a:t>autoregressive loop  ·  repeat × 80 steps</a:t>
            </a:r>
            <a:endParaRPr lang="en-US" sz="1100" dirty="0"/>
          </a:p>
        </p:txBody>
      </p:sp>
      <p:sp>
        <p:nvSpPr>
          <p:cNvPr id="39" name="Shape 37"/>
          <p:cNvSpPr/>
          <p:nvPr/>
        </p:nvSpPr>
        <p:spPr>
          <a:xfrm>
            <a:off x="548640" y="5440680"/>
            <a:ext cx="11094415" cy="640080"/>
          </a:xfrm>
          <a:prstGeom prst="rect">
            <a:avLst/>
          </a:prstGeom>
          <a:solidFill>
            <a:srgbClr val="F2EEF7"/>
          </a:solidFill>
          <a:ln/>
          <a:effectLst>
            <a:outerShdw blurRad="101600" dist="25400" dir="5400000" algn="bl" rotWithShape="0">
              <a:srgbClr val="000000">
                <a:alpha val="10000"/>
              </a:srgbClr>
            </a:outerShdw>
          </a:effectLst>
        </p:spPr>
        <p:txBody>
          <a:bodyPr/>
          <a:lstStyle/>
          <a:p>
            <a:endParaRPr lang="zh-CN" altLang="en-US"/>
          </a:p>
        </p:txBody>
      </p:sp>
      <p:sp>
        <p:nvSpPr>
          <p:cNvPr id="40" name="Text 38"/>
          <p:cNvSpPr/>
          <p:nvPr/>
        </p:nvSpPr>
        <p:spPr>
          <a:xfrm>
            <a:off x="777240" y="5440680"/>
            <a:ext cx="10637215" cy="640080"/>
          </a:xfrm>
          <a:prstGeom prst="rect">
            <a:avLst/>
          </a:prstGeom>
          <a:noFill/>
          <a:ln/>
        </p:spPr>
        <p:txBody>
          <a:bodyPr wrap="square" lIns="0" tIns="0" rIns="0" bIns="0" rtlCol="0" anchor="ctr"/>
          <a:lstStyle/>
          <a:p>
            <a:pPr marL="0" indent="0" algn="ctr">
              <a:buNone/>
            </a:pPr>
            <a:r>
              <a:rPr lang="en-US" sz="1600" b="1" i="1" dirty="0">
                <a:solidFill>
                  <a:srgbClr val="500778"/>
                </a:solidFill>
                <a:latin typeface="Calibri" pitchFamily="34" charset="0"/>
                <a:ea typeface="Calibri" pitchFamily="34" charset="-122"/>
                <a:cs typeface="Calibri" pitchFamily="34" charset="-120"/>
              </a:rPr>
              <a:t>Independent per-agent prediction often produces collisions — the agent–agent module exists to fix this.</a:t>
            </a:r>
          </a:p>
        </p:txBody>
      </p:sp>
      <p:sp>
        <p:nvSpPr>
          <p:cNvPr id="41" name="Text 39"/>
          <p:cNvSpPr/>
          <p:nvPr/>
        </p:nvSpPr>
        <p:spPr>
          <a:xfrm>
            <a:off x="548640" y="6172200"/>
            <a:ext cx="10972800" cy="274320"/>
          </a:xfrm>
          <a:prstGeom prst="rect">
            <a:avLst/>
          </a:prstGeom>
          <a:noFill/>
          <a:ln/>
        </p:spPr>
        <p:txBody>
          <a:bodyPr wrap="square" lIns="0" tIns="0" rIns="0" bIns="0" rtlCol="0" anchor="ctr"/>
          <a:lstStyle/>
          <a:p>
            <a:pPr marL="0" indent="0">
              <a:buNone/>
            </a:pPr>
            <a:endParaRPr lang="en-US" sz="1100" dirty="0"/>
          </a:p>
        </p:txBody>
      </p:sp>
      <p:pic>
        <p:nvPicPr>
          <p:cNvPr id="42" name="图片 41">
            <a:extLst>
              <a:ext uri="{FF2B5EF4-FFF2-40B4-BE49-F238E27FC236}">
                <a16:creationId xmlns:a16="http://schemas.microsoft.com/office/drawing/2014/main" id="{6A859BCE-D87E-6402-67E4-CD9EB4E4FB73}"/>
              </a:ext>
            </a:extLst>
          </p:cNvPr>
          <p:cNvPicPr>
            <a:picLocks noChangeAspect="1"/>
          </p:cNvPicPr>
          <p:nvPr/>
        </p:nvPicPr>
        <p:blipFill>
          <a:blip r:embed="rId3"/>
          <a:stretch>
            <a:fillRect/>
          </a:stretch>
        </p:blipFill>
        <p:spPr>
          <a:xfrm>
            <a:off x="10985315" y="117279"/>
            <a:ext cx="1048895" cy="294202"/>
          </a:xfrm>
          <a:prstGeom prst="rect">
            <a:avLst/>
          </a:prstGeom>
        </p:spPr>
      </p:pic>
      <p:cxnSp>
        <p:nvCxnSpPr>
          <p:cNvPr id="43" name="直接连接符 42">
            <a:extLst>
              <a:ext uri="{FF2B5EF4-FFF2-40B4-BE49-F238E27FC236}">
                <a16:creationId xmlns:a16="http://schemas.microsoft.com/office/drawing/2014/main" id="{C6E0B803-9516-3172-6C70-BFFCC1F62034}"/>
              </a:ext>
            </a:extLst>
          </p:cNvPr>
          <p:cNvCxnSpPr>
            <a:cxnSpLocks/>
          </p:cNvCxnSpPr>
          <p:nvPr/>
        </p:nvCxnSpPr>
        <p:spPr>
          <a:xfrm>
            <a:off x="548640" y="1105176"/>
            <a:ext cx="10545775" cy="0"/>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00778"/>
          </a:solidFill>
          <a:ln/>
        </p:spPr>
        <p:txBody>
          <a:bodyPr/>
          <a:lstStyle/>
          <a:p>
            <a:endParaRPr lang="zh-CN" altLang="en-US"/>
          </a:p>
        </p:txBody>
      </p:sp>
      <p:sp>
        <p:nvSpPr>
          <p:cNvPr id="3" name="Text 1"/>
          <p:cNvSpPr/>
          <p:nvPr/>
        </p:nvSpPr>
        <p:spPr>
          <a:xfrm>
            <a:off x="548640" y="411480"/>
            <a:ext cx="11094415" cy="685800"/>
          </a:xfrm>
          <a:prstGeom prst="rect">
            <a:avLst/>
          </a:prstGeom>
          <a:noFill/>
          <a:ln/>
        </p:spPr>
        <p:txBody>
          <a:bodyPr wrap="square" lIns="0" tIns="0" rIns="0" bIns="0" rtlCol="0" anchor="ctr"/>
          <a:lstStyle/>
          <a:p>
            <a:pPr marL="0" indent="0" algn="l">
              <a:buNone/>
            </a:pPr>
            <a:r>
              <a:rPr lang="en-US" sz="3000" b="1" dirty="0">
                <a:solidFill>
                  <a:srgbClr val="500778"/>
                </a:solidFill>
                <a:latin typeface="Calibri" pitchFamily="34" charset="0"/>
                <a:ea typeface="Calibri" pitchFamily="34" charset="-122"/>
                <a:cs typeface="Calibri" pitchFamily="34" charset="-120"/>
              </a:rPr>
              <a:t>Phase 3: evaluate the design, not only the score</a:t>
            </a:r>
            <a:endParaRPr lang="en-US" sz="3000" dirty="0"/>
          </a:p>
        </p:txBody>
      </p:sp>
      <p:sp>
        <p:nvSpPr>
          <p:cNvPr id="5" name="Text 3"/>
          <p:cNvSpPr/>
          <p:nvPr/>
        </p:nvSpPr>
        <p:spPr>
          <a:xfrm>
            <a:off x="11094415" y="6492240"/>
            <a:ext cx="548640" cy="274320"/>
          </a:xfrm>
          <a:prstGeom prst="rect">
            <a:avLst/>
          </a:prstGeom>
          <a:noFill/>
          <a:ln/>
        </p:spPr>
        <p:txBody>
          <a:bodyPr wrap="square" lIns="0" tIns="0" rIns="0" bIns="0" rtlCol="0" anchor="ctr"/>
          <a:lstStyle/>
          <a:p>
            <a:pPr marL="0" indent="0" algn="r">
              <a:buNone/>
            </a:pPr>
            <a:r>
              <a:rPr lang="en-US" sz="1000" b="1" dirty="0">
                <a:solidFill>
                  <a:srgbClr val="500778"/>
                </a:solidFill>
                <a:latin typeface="Calibri" pitchFamily="34" charset="0"/>
                <a:ea typeface="Calibri" pitchFamily="34" charset="-122"/>
                <a:cs typeface="Calibri" pitchFamily="34" charset="-120"/>
              </a:rPr>
              <a:t>14</a:t>
            </a:r>
            <a:endParaRPr lang="en-US" sz="1000" dirty="0"/>
          </a:p>
        </p:txBody>
      </p:sp>
      <p:sp>
        <p:nvSpPr>
          <p:cNvPr id="6" name="Shape 4"/>
          <p:cNvSpPr/>
          <p:nvPr/>
        </p:nvSpPr>
        <p:spPr>
          <a:xfrm>
            <a:off x="548640" y="1371600"/>
            <a:ext cx="3484778" cy="4114800"/>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a:p>
        </p:txBody>
      </p:sp>
      <p:sp>
        <p:nvSpPr>
          <p:cNvPr id="7" name="Shape 5"/>
          <p:cNvSpPr/>
          <p:nvPr/>
        </p:nvSpPr>
        <p:spPr>
          <a:xfrm>
            <a:off x="548640" y="1371600"/>
            <a:ext cx="3484778" cy="548640"/>
          </a:xfrm>
          <a:prstGeom prst="rect">
            <a:avLst/>
          </a:prstGeom>
          <a:solidFill>
            <a:srgbClr val="500778"/>
          </a:solidFill>
          <a:ln/>
        </p:spPr>
        <p:txBody>
          <a:bodyPr/>
          <a:lstStyle/>
          <a:p>
            <a:endParaRPr lang="zh-CN" altLang="en-US"/>
          </a:p>
        </p:txBody>
      </p:sp>
      <p:sp>
        <p:nvSpPr>
          <p:cNvPr id="8" name="Text 6"/>
          <p:cNvSpPr/>
          <p:nvPr/>
        </p:nvSpPr>
        <p:spPr>
          <a:xfrm>
            <a:off x="777240" y="1371600"/>
            <a:ext cx="3027578" cy="548640"/>
          </a:xfrm>
          <a:prstGeom prst="rect">
            <a:avLst/>
          </a:prstGeom>
          <a:noFill/>
          <a:ln/>
        </p:spPr>
        <p:txBody>
          <a:bodyPr wrap="square" lIns="0" tIns="0" rIns="0" bIns="0" rtlCol="0" anchor="ctr"/>
          <a:lstStyle/>
          <a:p>
            <a:pPr marL="0" indent="0">
              <a:buNone/>
            </a:pPr>
            <a:r>
              <a:rPr lang="en-US" sz="2000" b="1" kern="0" spc="200" dirty="0">
                <a:solidFill>
                  <a:srgbClr val="FFFFFF"/>
                </a:solidFill>
                <a:latin typeface="Calibri" pitchFamily="34" charset="0"/>
                <a:ea typeface="Calibri" pitchFamily="34" charset="-122"/>
                <a:cs typeface="Calibri" pitchFamily="34" charset="-120"/>
              </a:rPr>
              <a:t>Baselines to compare</a:t>
            </a:r>
            <a:endParaRPr lang="en-US" sz="2000" dirty="0"/>
          </a:p>
        </p:txBody>
      </p:sp>
      <p:sp>
        <p:nvSpPr>
          <p:cNvPr id="9" name="Text 7"/>
          <p:cNvSpPr/>
          <p:nvPr/>
        </p:nvSpPr>
        <p:spPr>
          <a:xfrm>
            <a:off x="822960" y="2148840"/>
            <a:ext cx="2936138" cy="3200400"/>
          </a:xfrm>
          <a:prstGeom prst="rect">
            <a:avLst/>
          </a:prstGeom>
          <a:noFill/>
          <a:ln/>
        </p:spPr>
        <p:txBody>
          <a:bodyPr wrap="square" lIns="0" tIns="0" rIns="0" bIns="0" rtlCol="0" anchor="ctr"/>
          <a:lstStyle/>
          <a:p>
            <a:pPr marL="342900" indent="-342900">
              <a:spcAft>
                <a:spcPts val="600"/>
              </a:spcAft>
              <a:buSzPct val="100000"/>
              <a:buChar char="•"/>
            </a:pPr>
            <a:r>
              <a:rPr lang="en-US" sz="2000" dirty="0">
                <a:solidFill>
                  <a:srgbClr val="1A1A1A"/>
                </a:solidFill>
                <a:latin typeface="Calibri" pitchFamily="34" charset="0"/>
                <a:ea typeface="Calibri" pitchFamily="34" charset="-122"/>
                <a:cs typeface="Calibri" pitchFamily="34" charset="-120"/>
              </a:rPr>
              <a:t>Constant-velocity</a:t>
            </a:r>
            <a:endParaRPr lang="en-US" sz="2000" dirty="0"/>
          </a:p>
          <a:p>
            <a:pPr marL="342900" indent="-342900">
              <a:spcAft>
                <a:spcPts val="600"/>
              </a:spcAft>
              <a:buSzPct val="100000"/>
              <a:buChar char="•"/>
            </a:pPr>
            <a:r>
              <a:rPr lang="en-US" sz="2000" dirty="0">
                <a:solidFill>
                  <a:srgbClr val="1A1A1A"/>
                </a:solidFill>
                <a:latin typeface="Calibri" pitchFamily="34" charset="0"/>
                <a:ea typeface="Calibri" pitchFamily="34" charset="-122"/>
                <a:cs typeface="Calibri" pitchFamily="34" charset="-120"/>
              </a:rPr>
              <a:t>Simple rule-based</a:t>
            </a:r>
            <a:endParaRPr lang="en-US" sz="2000" dirty="0"/>
          </a:p>
          <a:p>
            <a:pPr marL="342900" indent="-342900">
              <a:spcAft>
                <a:spcPts val="600"/>
              </a:spcAft>
              <a:buSzPct val="100000"/>
              <a:buChar char="•"/>
            </a:pPr>
            <a:r>
              <a:rPr lang="en-US" sz="2000" dirty="0">
                <a:solidFill>
                  <a:srgbClr val="1A1A1A"/>
                </a:solidFill>
                <a:latin typeface="Calibri" pitchFamily="34" charset="0"/>
                <a:ea typeface="Calibri" pitchFamily="34" charset="-122"/>
                <a:cs typeface="Calibri" pitchFamily="34" charset="-120"/>
              </a:rPr>
              <a:t>Initial learned baseline</a:t>
            </a:r>
            <a:endParaRPr lang="en-US" sz="2000" dirty="0"/>
          </a:p>
        </p:txBody>
      </p:sp>
      <p:sp>
        <p:nvSpPr>
          <p:cNvPr id="10" name="Shape 8"/>
          <p:cNvSpPr/>
          <p:nvPr/>
        </p:nvSpPr>
        <p:spPr>
          <a:xfrm>
            <a:off x="4353458" y="1371600"/>
            <a:ext cx="3484778" cy="4114800"/>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a:p>
        </p:txBody>
      </p:sp>
      <p:sp>
        <p:nvSpPr>
          <p:cNvPr id="11" name="Shape 9"/>
          <p:cNvSpPr/>
          <p:nvPr/>
        </p:nvSpPr>
        <p:spPr>
          <a:xfrm>
            <a:off x="4353458" y="1371600"/>
            <a:ext cx="3484778" cy="548640"/>
          </a:xfrm>
          <a:prstGeom prst="rect">
            <a:avLst/>
          </a:prstGeom>
          <a:solidFill>
            <a:srgbClr val="500778"/>
          </a:solidFill>
          <a:ln/>
        </p:spPr>
        <p:txBody>
          <a:bodyPr/>
          <a:lstStyle/>
          <a:p>
            <a:endParaRPr lang="zh-CN" altLang="en-US"/>
          </a:p>
        </p:txBody>
      </p:sp>
      <p:sp>
        <p:nvSpPr>
          <p:cNvPr id="12" name="Text 10"/>
          <p:cNvSpPr/>
          <p:nvPr/>
        </p:nvSpPr>
        <p:spPr>
          <a:xfrm>
            <a:off x="4582058" y="1371600"/>
            <a:ext cx="3027578" cy="548640"/>
          </a:xfrm>
          <a:prstGeom prst="rect">
            <a:avLst/>
          </a:prstGeom>
          <a:noFill/>
          <a:ln/>
        </p:spPr>
        <p:txBody>
          <a:bodyPr wrap="square" lIns="0" tIns="0" rIns="0" bIns="0" rtlCol="0" anchor="ctr"/>
          <a:lstStyle/>
          <a:p>
            <a:pPr marL="0" indent="0">
              <a:buNone/>
            </a:pPr>
            <a:r>
              <a:rPr lang="en-US" sz="2000" b="1" kern="0" spc="200" dirty="0">
                <a:solidFill>
                  <a:srgbClr val="FFFFFF"/>
                </a:solidFill>
                <a:latin typeface="Calibri" pitchFamily="34" charset="0"/>
                <a:ea typeface="Calibri" pitchFamily="34" charset="-122"/>
                <a:cs typeface="Calibri" pitchFamily="34" charset="-120"/>
              </a:rPr>
              <a:t>Dimensions to analyse</a:t>
            </a:r>
            <a:endParaRPr lang="en-US" sz="2000" dirty="0"/>
          </a:p>
        </p:txBody>
      </p:sp>
      <p:sp>
        <p:nvSpPr>
          <p:cNvPr id="13" name="Text 11"/>
          <p:cNvSpPr/>
          <p:nvPr/>
        </p:nvSpPr>
        <p:spPr>
          <a:xfrm>
            <a:off x="4627778" y="2148840"/>
            <a:ext cx="2936138" cy="3200400"/>
          </a:xfrm>
          <a:prstGeom prst="rect">
            <a:avLst/>
          </a:prstGeom>
          <a:noFill/>
          <a:ln/>
        </p:spPr>
        <p:txBody>
          <a:bodyPr wrap="square" lIns="0" tIns="0" rIns="0" bIns="0" rtlCol="0" anchor="ctr"/>
          <a:lstStyle/>
          <a:p>
            <a:pPr marL="342900" indent="-342900">
              <a:spcAft>
                <a:spcPts val="600"/>
              </a:spcAft>
              <a:buSzPct val="100000"/>
              <a:buChar char="•"/>
            </a:pPr>
            <a:r>
              <a:rPr lang="en-US" sz="2000" dirty="0">
                <a:solidFill>
                  <a:srgbClr val="1A1A1A"/>
                </a:solidFill>
                <a:latin typeface="Calibri" pitchFamily="34" charset="0"/>
                <a:ea typeface="Calibri" pitchFamily="34" charset="-122"/>
                <a:cs typeface="Calibri" pitchFamily="34" charset="-120"/>
              </a:rPr>
              <a:t>Motion realism</a:t>
            </a:r>
            <a:endParaRPr lang="en-US" sz="2000" dirty="0"/>
          </a:p>
          <a:p>
            <a:pPr marL="342900" indent="-342900">
              <a:spcAft>
                <a:spcPts val="600"/>
              </a:spcAft>
              <a:buSzPct val="100000"/>
              <a:buChar char="•"/>
            </a:pPr>
            <a:r>
              <a:rPr lang="en-US" sz="2000" dirty="0">
                <a:solidFill>
                  <a:srgbClr val="1A1A1A"/>
                </a:solidFill>
                <a:latin typeface="Calibri" pitchFamily="34" charset="0"/>
                <a:ea typeface="Calibri" pitchFamily="34" charset="-122"/>
                <a:cs typeface="Calibri" pitchFamily="34" charset="-120"/>
              </a:rPr>
              <a:t>Interaction realism</a:t>
            </a:r>
            <a:endParaRPr lang="en-US" sz="2000" dirty="0"/>
          </a:p>
          <a:p>
            <a:pPr marL="342900" indent="-342900">
              <a:spcAft>
                <a:spcPts val="600"/>
              </a:spcAft>
              <a:buSzPct val="100000"/>
              <a:buChar char="•"/>
            </a:pPr>
            <a:r>
              <a:rPr lang="en-US" sz="2000" dirty="0">
                <a:solidFill>
                  <a:srgbClr val="1A1A1A"/>
                </a:solidFill>
                <a:latin typeface="Calibri" pitchFamily="34" charset="0"/>
                <a:ea typeface="Calibri" pitchFamily="34" charset="-122"/>
                <a:cs typeface="Calibri" pitchFamily="34" charset="-120"/>
              </a:rPr>
              <a:t>Map adherence</a:t>
            </a:r>
            <a:endParaRPr lang="en-US" sz="2000" dirty="0"/>
          </a:p>
          <a:p>
            <a:pPr marL="342900" indent="-342900">
              <a:spcAft>
                <a:spcPts val="600"/>
              </a:spcAft>
              <a:buSzPct val="100000"/>
              <a:buChar char="•"/>
            </a:pPr>
            <a:r>
              <a:rPr lang="en-US" sz="2000" dirty="0">
                <a:solidFill>
                  <a:srgbClr val="1A1A1A"/>
                </a:solidFill>
                <a:latin typeface="Calibri" pitchFamily="34" charset="0"/>
                <a:ea typeface="Calibri" pitchFamily="34" charset="-122"/>
                <a:cs typeface="Calibri" pitchFamily="34" charset="-120"/>
              </a:rPr>
              <a:t>Closed-loop stability</a:t>
            </a:r>
            <a:endParaRPr lang="en-US" sz="2000" dirty="0"/>
          </a:p>
          <a:p>
            <a:pPr marL="342900" indent="-342900">
              <a:spcAft>
                <a:spcPts val="600"/>
              </a:spcAft>
              <a:buSzPct val="100000"/>
              <a:buChar char="•"/>
            </a:pPr>
            <a:r>
              <a:rPr lang="en-US" sz="2000" dirty="0">
                <a:solidFill>
                  <a:srgbClr val="1A1A1A"/>
                </a:solidFill>
                <a:latin typeface="Calibri" pitchFamily="34" charset="0"/>
                <a:ea typeface="Calibri" pitchFamily="34" charset="-122"/>
                <a:cs typeface="Calibri" pitchFamily="34" charset="-120"/>
              </a:rPr>
              <a:t>Diversity across 32 rollouts</a:t>
            </a:r>
            <a:endParaRPr lang="en-US" sz="2000" dirty="0"/>
          </a:p>
        </p:txBody>
      </p:sp>
      <p:sp>
        <p:nvSpPr>
          <p:cNvPr id="14" name="Shape 12"/>
          <p:cNvSpPr/>
          <p:nvPr/>
        </p:nvSpPr>
        <p:spPr>
          <a:xfrm>
            <a:off x="8158277" y="1371600"/>
            <a:ext cx="3484778" cy="4114800"/>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a:p>
        </p:txBody>
      </p:sp>
      <p:sp>
        <p:nvSpPr>
          <p:cNvPr id="15" name="Shape 13"/>
          <p:cNvSpPr/>
          <p:nvPr/>
        </p:nvSpPr>
        <p:spPr>
          <a:xfrm>
            <a:off x="8158277" y="1371600"/>
            <a:ext cx="3484778" cy="548640"/>
          </a:xfrm>
          <a:prstGeom prst="rect">
            <a:avLst/>
          </a:prstGeom>
          <a:solidFill>
            <a:srgbClr val="500778"/>
          </a:solidFill>
          <a:ln/>
        </p:spPr>
        <p:txBody>
          <a:bodyPr/>
          <a:lstStyle/>
          <a:p>
            <a:endParaRPr lang="zh-CN" altLang="en-US"/>
          </a:p>
        </p:txBody>
      </p:sp>
      <p:sp>
        <p:nvSpPr>
          <p:cNvPr id="16" name="Text 14"/>
          <p:cNvSpPr/>
          <p:nvPr/>
        </p:nvSpPr>
        <p:spPr>
          <a:xfrm>
            <a:off x="8386877" y="1371600"/>
            <a:ext cx="3027578" cy="548640"/>
          </a:xfrm>
          <a:prstGeom prst="rect">
            <a:avLst/>
          </a:prstGeom>
          <a:noFill/>
          <a:ln/>
        </p:spPr>
        <p:txBody>
          <a:bodyPr wrap="square" lIns="0" tIns="0" rIns="0" bIns="0" rtlCol="0" anchor="ctr"/>
          <a:lstStyle/>
          <a:p>
            <a:pPr marL="0" indent="0">
              <a:buNone/>
            </a:pPr>
            <a:r>
              <a:rPr lang="en-US" sz="2000" b="1" kern="0" spc="200" dirty="0">
                <a:solidFill>
                  <a:srgbClr val="FFFFFF"/>
                </a:solidFill>
                <a:latin typeface="Calibri" pitchFamily="34" charset="0"/>
                <a:ea typeface="Calibri" pitchFamily="34" charset="-122"/>
                <a:cs typeface="Calibri" pitchFamily="34" charset="-120"/>
              </a:rPr>
              <a:t>Key research question</a:t>
            </a:r>
            <a:endParaRPr lang="en-US" sz="2000" dirty="0"/>
          </a:p>
        </p:txBody>
      </p:sp>
      <p:sp>
        <p:nvSpPr>
          <p:cNvPr id="17" name="Text 15"/>
          <p:cNvSpPr/>
          <p:nvPr/>
        </p:nvSpPr>
        <p:spPr>
          <a:xfrm>
            <a:off x="8432597" y="2148840"/>
            <a:ext cx="2936138" cy="3200400"/>
          </a:xfrm>
          <a:prstGeom prst="rect">
            <a:avLst/>
          </a:prstGeom>
          <a:noFill/>
          <a:ln/>
        </p:spPr>
        <p:txBody>
          <a:bodyPr wrap="square" lIns="0" tIns="0" rIns="0" bIns="0" rtlCol="0" anchor="ctr"/>
          <a:lstStyle/>
          <a:p>
            <a:pPr marL="342900" indent="-342900">
              <a:spcAft>
                <a:spcPts val="600"/>
              </a:spcAft>
              <a:buSzPct val="100000"/>
              <a:buChar char="•"/>
            </a:pPr>
            <a:r>
              <a:rPr lang="en-US" sz="2000" dirty="0">
                <a:solidFill>
                  <a:srgbClr val="1A1A1A"/>
                </a:solidFill>
                <a:latin typeface="Calibri" pitchFamily="34" charset="0"/>
                <a:ea typeface="Calibri" pitchFamily="34" charset="-122"/>
                <a:cs typeface="Calibri" pitchFamily="34" charset="-120"/>
              </a:rPr>
              <a:t>Which failure mode does the design reduce most clearly?</a:t>
            </a:r>
            <a:endParaRPr lang="en-US" sz="2000" dirty="0"/>
          </a:p>
          <a:p>
            <a:pPr marL="342900" indent="-342900">
              <a:spcAft>
                <a:spcPts val="600"/>
              </a:spcAft>
              <a:buSzPct val="100000"/>
              <a:buChar char="•"/>
            </a:pPr>
            <a:r>
              <a:rPr lang="en-US" sz="2000" dirty="0">
                <a:solidFill>
                  <a:srgbClr val="1A1A1A"/>
                </a:solidFill>
                <a:latin typeface="Calibri" pitchFamily="34" charset="0"/>
                <a:ea typeface="Calibri" pitchFamily="34" charset="-122"/>
                <a:cs typeface="Calibri" pitchFamily="34" charset="-120"/>
              </a:rPr>
              <a:t>Does the gain hold across scenario types?</a:t>
            </a:r>
            <a:endParaRPr lang="en-US" sz="2000" dirty="0"/>
          </a:p>
          <a:p>
            <a:pPr marL="342900" indent="-342900">
              <a:spcAft>
                <a:spcPts val="600"/>
              </a:spcAft>
              <a:buSzPct val="100000"/>
              <a:buChar char="•"/>
            </a:pPr>
            <a:r>
              <a:rPr lang="en-US" sz="2000" dirty="0">
                <a:solidFill>
                  <a:srgbClr val="1A1A1A"/>
                </a:solidFill>
                <a:latin typeface="Calibri" pitchFamily="34" charset="0"/>
                <a:ea typeface="Calibri" pitchFamily="34" charset="-122"/>
                <a:cs typeface="Calibri" pitchFamily="34" charset="-120"/>
              </a:rPr>
              <a:t>Where does it still fail?</a:t>
            </a:r>
            <a:endParaRPr lang="en-US" sz="2000" dirty="0"/>
          </a:p>
        </p:txBody>
      </p:sp>
      <p:sp>
        <p:nvSpPr>
          <p:cNvPr id="18" name="Shape 16"/>
          <p:cNvSpPr/>
          <p:nvPr/>
        </p:nvSpPr>
        <p:spPr>
          <a:xfrm>
            <a:off x="548640" y="5753100"/>
            <a:ext cx="11094415" cy="731520"/>
          </a:xfrm>
          <a:prstGeom prst="rect">
            <a:avLst/>
          </a:prstGeom>
          <a:solidFill>
            <a:srgbClr val="F2EEF7"/>
          </a:solidFill>
          <a:ln/>
          <a:effectLst>
            <a:outerShdw blurRad="101600" dist="25400" dir="5400000" algn="bl" rotWithShape="0">
              <a:srgbClr val="000000">
                <a:alpha val="10000"/>
              </a:srgbClr>
            </a:outerShdw>
          </a:effectLst>
        </p:spPr>
        <p:txBody>
          <a:bodyPr/>
          <a:lstStyle/>
          <a:p>
            <a:endParaRPr lang="zh-CN" altLang="en-US"/>
          </a:p>
        </p:txBody>
      </p:sp>
      <p:sp>
        <p:nvSpPr>
          <p:cNvPr id="19" name="Text 17"/>
          <p:cNvSpPr/>
          <p:nvPr/>
        </p:nvSpPr>
        <p:spPr>
          <a:xfrm>
            <a:off x="777240" y="5798820"/>
            <a:ext cx="10637215" cy="640080"/>
          </a:xfrm>
          <a:prstGeom prst="rect">
            <a:avLst/>
          </a:prstGeom>
          <a:noFill/>
          <a:ln/>
        </p:spPr>
        <p:txBody>
          <a:bodyPr wrap="square" lIns="0" tIns="0" rIns="0" bIns="0" rtlCol="0" anchor="ctr"/>
          <a:lstStyle/>
          <a:p>
            <a:pPr marL="0" indent="0" algn="ctr">
              <a:buNone/>
            </a:pPr>
            <a:r>
              <a:rPr lang="en-US" sz="1600" b="1" i="1" dirty="0">
                <a:solidFill>
                  <a:srgbClr val="500778"/>
                </a:solidFill>
                <a:latin typeface="Calibri" pitchFamily="34" charset="0"/>
                <a:ea typeface="Calibri" pitchFamily="34" charset="-122"/>
                <a:cs typeface="Calibri" pitchFamily="34" charset="-120"/>
              </a:rPr>
              <a:t>The final result should explain why the model works, where it improves, and where it still not good.</a:t>
            </a:r>
          </a:p>
        </p:txBody>
      </p:sp>
      <p:pic>
        <p:nvPicPr>
          <p:cNvPr id="20" name="图片 19">
            <a:extLst>
              <a:ext uri="{FF2B5EF4-FFF2-40B4-BE49-F238E27FC236}">
                <a16:creationId xmlns:a16="http://schemas.microsoft.com/office/drawing/2014/main" id="{CCFB0A5F-F459-2D66-85D6-EC6C4AF053BE}"/>
              </a:ext>
            </a:extLst>
          </p:cNvPr>
          <p:cNvPicPr>
            <a:picLocks noChangeAspect="1"/>
          </p:cNvPicPr>
          <p:nvPr/>
        </p:nvPicPr>
        <p:blipFill>
          <a:blip r:embed="rId3"/>
          <a:stretch>
            <a:fillRect/>
          </a:stretch>
        </p:blipFill>
        <p:spPr>
          <a:xfrm>
            <a:off x="10985315" y="117279"/>
            <a:ext cx="1048895" cy="294202"/>
          </a:xfrm>
          <a:prstGeom prst="rect">
            <a:avLst/>
          </a:prstGeom>
        </p:spPr>
      </p:pic>
      <p:cxnSp>
        <p:nvCxnSpPr>
          <p:cNvPr id="21" name="直接连接符 20">
            <a:extLst>
              <a:ext uri="{FF2B5EF4-FFF2-40B4-BE49-F238E27FC236}">
                <a16:creationId xmlns:a16="http://schemas.microsoft.com/office/drawing/2014/main" id="{B76FA317-B5CD-F602-AAFC-FE047C03D62B}"/>
              </a:ext>
            </a:extLst>
          </p:cNvPr>
          <p:cNvCxnSpPr>
            <a:cxnSpLocks/>
          </p:cNvCxnSpPr>
          <p:nvPr/>
        </p:nvCxnSpPr>
        <p:spPr>
          <a:xfrm>
            <a:off x="548640" y="1105176"/>
            <a:ext cx="10545775" cy="0"/>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00778"/>
          </a:solidFill>
          <a:ln/>
        </p:spPr>
        <p:txBody>
          <a:bodyPr/>
          <a:lstStyle/>
          <a:p>
            <a:endParaRPr lang="zh-CN" altLang="en-US"/>
          </a:p>
        </p:txBody>
      </p:sp>
      <p:sp>
        <p:nvSpPr>
          <p:cNvPr id="3" name="Text 1"/>
          <p:cNvSpPr/>
          <p:nvPr/>
        </p:nvSpPr>
        <p:spPr>
          <a:xfrm>
            <a:off x="548640" y="411480"/>
            <a:ext cx="11094415" cy="685800"/>
          </a:xfrm>
          <a:prstGeom prst="rect">
            <a:avLst/>
          </a:prstGeom>
          <a:noFill/>
          <a:ln/>
        </p:spPr>
        <p:txBody>
          <a:bodyPr wrap="square" lIns="0" tIns="0" rIns="0" bIns="0" rtlCol="0" anchor="ctr"/>
          <a:lstStyle/>
          <a:p>
            <a:pPr marL="0" indent="0" algn="l">
              <a:buNone/>
            </a:pPr>
            <a:r>
              <a:rPr lang="en-US" sz="3000" b="1" dirty="0">
                <a:solidFill>
                  <a:srgbClr val="500778"/>
                </a:solidFill>
                <a:latin typeface="Calibri" pitchFamily="34" charset="0"/>
                <a:ea typeface="Calibri" pitchFamily="34" charset="-122"/>
                <a:cs typeface="Calibri" pitchFamily="34" charset="-120"/>
              </a:rPr>
              <a:t>Discussion questions</a:t>
            </a:r>
            <a:endParaRPr lang="en-US" sz="3000" dirty="0"/>
          </a:p>
        </p:txBody>
      </p:sp>
      <p:sp>
        <p:nvSpPr>
          <p:cNvPr id="5" name="Text 3"/>
          <p:cNvSpPr/>
          <p:nvPr/>
        </p:nvSpPr>
        <p:spPr>
          <a:xfrm>
            <a:off x="11094415" y="6492240"/>
            <a:ext cx="548640" cy="274320"/>
          </a:xfrm>
          <a:prstGeom prst="rect">
            <a:avLst/>
          </a:prstGeom>
          <a:noFill/>
          <a:ln/>
        </p:spPr>
        <p:txBody>
          <a:bodyPr wrap="square" lIns="0" tIns="0" rIns="0" bIns="0" rtlCol="0" anchor="ctr"/>
          <a:lstStyle/>
          <a:p>
            <a:pPr marL="0" indent="0" algn="r">
              <a:buNone/>
            </a:pPr>
            <a:r>
              <a:rPr lang="en-US" sz="1000" b="1" dirty="0">
                <a:solidFill>
                  <a:srgbClr val="500778"/>
                </a:solidFill>
                <a:latin typeface="Calibri" pitchFamily="34" charset="0"/>
                <a:ea typeface="Calibri" pitchFamily="34" charset="-122"/>
                <a:cs typeface="Calibri" pitchFamily="34" charset="-120"/>
              </a:rPr>
              <a:t>15</a:t>
            </a:r>
            <a:endParaRPr lang="en-US" sz="1000" dirty="0"/>
          </a:p>
        </p:txBody>
      </p:sp>
      <p:sp>
        <p:nvSpPr>
          <p:cNvPr id="6" name="Shape 4"/>
          <p:cNvSpPr/>
          <p:nvPr/>
        </p:nvSpPr>
        <p:spPr>
          <a:xfrm>
            <a:off x="548640" y="1325880"/>
            <a:ext cx="11094415" cy="713232"/>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a:p>
        </p:txBody>
      </p:sp>
      <p:sp>
        <p:nvSpPr>
          <p:cNvPr id="7" name="Shape 5"/>
          <p:cNvSpPr/>
          <p:nvPr/>
        </p:nvSpPr>
        <p:spPr>
          <a:xfrm>
            <a:off x="548640" y="1325880"/>
            <a:ext cx="109728" cy="713232"/>
          </a:xfrm>
          <a:prstGeom prst="rect">
            <a:avLst/>
          </a:prstGeom>
          <a:solidFill>
            <a:srgbClr val="500778"/>
          </a:solidFill>
          <a:ln/>
        </p:spPr>
        <p:txBody>
          <a:bodyPr/>
          <a:lstStyle/>
          <a:p>
            <a:endParaRPr lang="zh-CN" altLang="en-US"/>
          </a:p>
        </p:txBody>
      </p:sp>
      <p:sp>
        <p:nvSpPr>
          <p:cNvPr id="8" name="Text 6"/>
          <p:cNvSpPr/>
          <p:nvPr/>
        </p:nvSpPr>
        <p:spPr>
          <a:xfrm>
            <a:off x="777240" y="1325880"/>
            <a:ext cx="502920" cy="713232"/>
          </a:xfrm>
          <a:prstGeom prst="rect">
            <a:avLst/>
          </a:prstGeom>
          <a:noFill/>
          <a:ln/>
        </p:spPr>
        <p:txBody>
          <a:bodyPr wrap="square" lIns="0" tIns="0" rIns="0" bIns="0" rtlCol="0" anchor="ctr"/>
          <a:lstStyle/>
          <a:p>
            <a:pPr marL="0" indent="0">
              <a:buNone/>
            </a:pPr>
            <a:r>
              <a:rPr lang="en-US" sz="2000" b="1" dirty="0">
                <a:solidFill>
                  <a:srgbClr val="500778"/>
                </a:solidFill>
                <a:latin typeface="Calibri" pitchFamily="34" charset="0"/>
                <a:ea typeface="Calibri" pitchFamily="34" charset="-122"/>
                <a:cs typeface="Calibri" pitchFamily="34" charset="-120"/>
              </a:rPr>
              <a:t>Q1</a:t>
            </a:r>
            <a:endParaRPr lang="en-US" sz="2000" dirty="0"/>
          </a:p>
        </p:txBody>
      </p:sp>
      <p:sp>
        <p:nvSpPr>
          <p:cNvPr id="9" name="Text 7"/>
          <p:cNvSpPr/>
          <p:nvPr/>
        </p:nvSpPr>
        <p:spPr>
          <a:xfrm>
            <a:off x="1280160" y="1325880"/>
            <a:ext cx="10317175" cy="713232"/>
          </a:xfrm>
          <a:prstGeom prst="rect">
            <a:avLst/>
          </a:prstGeom>
          <a:noFill/>
          <a:ln/>
        </p:spPr>
        <p:txBody>
          <a:bodyPr wrap="square" lIns="0" tIns="0" rIns="0" bIns="0" rtlCol="0" anchor="ctr"/>
          <a:lstStyle/>
          <a:p>
            <a:pPr marL="0" indent="0">
              <a:buNone/>
            </a:pPr>
            <a:r>
              <a:rPr lang="en-GB" altLang="zh-CN" sz="2000" dirty="0">
                <a:solidFill>
                  <a:srgbClr val="1A1A1A"/>
                </a:solidFill>
                <a:latin typeface="Calibri" pitchFamily="34" charset="0"/>
                <a:ea typeface="Calibri" pitchFamily="34" charset="-122"/>
                <a:cs typeface="Calibri" pitchFamily="34" charset="-120"/>
              </a:rPr>
              <a:t>Are there any recommended models for building a foundation in autonomous driving research?</a:t>
            </a:r>
            <a:endParaRPr lang="en-US" sz="2000" dirty="0"/>
          </a:p>
        </p:txBody>
      </p:sp>
      <p:sp>
        <p:nvSpPr>
          <p:cNvPr id="10" name="Shape 8"/>
          <p:cNvSpPr/>
          <p:nvPr/>
        </p:nvSpPr>
        <p:spPr>
          <a:xfrm>
            <a:off x="548640" y="2148840"/>
            <a:ext cx="11094415" cy="713232"/>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a:p>
        </p:txBody>
      </p:sp>
      <p:sp>
        <p:nvSpPr>
          <p:cNvPr id="11" name="Shape 9"/>
          <p:cNvSpPr/>
          <p:nvPr/>
        </p:nvSpPr>
        <p:spPr>
          <a:xfrm>
            <a:off x="548640" y="2148840"/>
            <a:ext cx="109728" cy="713232"/>
          </a:xfrm>
          <a:prstGeom prst="rect">
            <a:avLst/>
          </a:prstGeom>
          <a:solidFill>
            <a:srgbClr val="500778"/>
          </a:solidFill>
          <a:ln/>
        </p:spPr>
        <p:txBody>
          <a:bodyPr/>
          <a:lstStyle/>
          <a:p>
            <a:endParaRPr lang="zh-CN" altLang="en-US"/>
          </a:p>
        </p:txBody>
      </p:sp>
      <p:sp>
        <p:nvSpPr>
          <p:cNvPr id="12" name="Text 10"/>
          <p:cNvSpPr/>
          <p:nvPr/>
        </p:nvSpPr>
        <p:spPr>
          <a:xfrm>
            <a:off x="777240" y="2148840"/>
            <a:ext cx="502920" cy="713232"/>
          </a:xfrm>
          <a:prstGeom prst="rect">
            <a:avLst/>
          </a:prstGeom>
          <a:noFill/>
          <a:ln/>
        </p:spPr>
        <p:txBody>
          <a:bodyPr wrap="square" lIns="0" tIns="0" rIns="0" bIns="0" rtlCol="0" anchor="ctr"/>
          <a:lstStyle/>
          <a:p>
            <a:pPr marL="0" indent="0">
              <a:buNone/>
            </a:pPr>
            <a:r>
              <a:rPr lang="en-US" sz="2000" b="1" dirty="0">
                <a:solidFill>
                  <a:srgbClr val="500778"/>
                </a:solidFill>
                <a:latin typeface="Calibri" pitchFamily="34" charset="0"/>
                <a:ea typeface="Calibri" pitchFamily="34" charset="-122"/>
                <a:cs typeface="Calibri" pitchFamily="34" charset="-120"/>
              </a:rPr>
              <a:t>Q2</a:t>
            </a:r>
            <a:endParaRPr lang="en-US" sz="2000" dirty="0"/>
          </a:p>
        </p:txBody>
      </p:sp>
      <p:sp>
        <p:nvSpPr>
          <p:cNvPr id="13" name="Text 11"/>
          <p:cNvSpPr/>
          <p:nvPr/>
        </p:nvSpPr>
        <p:spPr>
          <a:xfrm>
            <a:off x="1280160" y="2148840"/>
            <a:ext cx="10317175" cy="713232"/>
          </a:xfrm>
          <a:prstGeom prst="rect">
            <a:avLst/>
          </a:prstGeom>
          <a:noFill/>
          <a:ln/>
        </p:spPr>
        <p:txBody>
          <a:bodyPr wrap="square" lIns="0" tIns="0" rIns="0" bIns="0" rtlCol="0" anchor="ctr"/>
          <a:lstStyle/>
          <a:p>
            <a:pPr marL="0" indent="0">
              <a:buNone/>
            </a:pPr>
            <a:r>
              <a:rPr lang="en-GB" altLang="zh-CN" sz="2000" dirty="0">
                <a:solidFill>
                  <a:srgbClr val="1A1A1A"/>
                </a:solidFill>
                <a:latin typeface="Calibri" pitchFamily="34" charset="0"/>
                <a:ea typeface="Calibri" pitchFamily="34" charset="-122"/>
                <a:cs typeface="Calibri" pitchFamily="34" charset="-120"/>
              </a:rPr>
              <a:t>Is there </a:t>
            </a:r>
            <a:r>
              <a:rPr lang="en-US" altLang="zh-CN" sz="2000" dirty="0">
                <a:solidFill>
                  <a:srgbClr val="1A1A1A"/>
                </a:solidFill>
                <a:latin typeface="Calibri" pitchFamily="34" charset="0"/>
                <a:ea typeface="Calibri" pitchFamily="34" charset="-122"/>
                <a:cs typeface="Calibri" pitchFamily="34" charset="-120"/>
              </a:rPr>
              <a:t>any</a:t>
            </a:r>
            <a:r>
              <a:rPr lang="zh-CN" altLang="en-US" sz="2000" dirty="0">
                <a:solidFill>
                  <a:srgbClr val="1A1A1A"/>
                </a:solidFill>
                <a:latin typeface="Calibri" pitchFamily="34" charset="0"/>
                <a:ea typeface="Calibri" pitchFamily="34" charset="-122"/>
                <a:cs typeface="Calibri" pitchFamily="34" charset="-120"/>
              </a:rPr>
              <a:t> </a:t>
            </a:r>
            <a:r>
              <a:rPr lang="en-US" altLang="zh-CN" sz="2000" dirty="0">
                <a:solidFill>
                  <a:srgbClr val="1A1A1A"/>
                </a:solidFill>
                <a:latin typeface="Calibri" pitchFamily="34" charset="0"/>
                <a:ea typeface="Calibri" pitchFamily="34" charset="-122"/>
                <a:cs typeface="Calibri" pitchFamily="34" charset="-120"/>
              </a:rPr>
              <a:t>GPU</a:t>
            </a:r>
            <a:r>
              <a:rPr lang="zh-CN" altLang="en-US" sz="2000" dirty="0">
                <a:solidFill>
                  <a:srgbClr val="1A1A1A"/>
                </a:solidFill>
                <a:latin typeface="Calibri" pitchFamily="34" charset="0"/>
                <a:ea typeface="Calibri" pitchFamily="34" charset="-122"/>
                <a:cs typeface="Calibri" pitchFamily="34" charset="-120"/>
              </a:rPr>
              <a:t> </a:t>
            </a:r>
            <a:r>
              <a:rPr lang="en-GB" altLang="zh-CN" sz="2000" dirty="0">
                <a:solidFill>
                  <a:srgbClr val="1A1A1A"/>
                </a:solidFill>
                <a:latin typeface="Calibri" pitchFamily="34" charset="0"/>
                <a:ea typeface="Calibri" pitchFamily="34" charset="-122"/>
                <a:cs typeface="Calibri" pitchFamily="34" charset="-120"/>
              </a:rPr>
              <a:t>server available for training?</a:t>
            </a:r>
            <a:endParaRPr lang="en-US" sz="2000" dirty="0"/>
          </a:p>
        </p:txBody>
      </p:sp>
      <p:sp>
        <p:nvSpPr>
          <p:cNvPr id="14" name="Shape 12"/>
          <p:cNvSpPr/>
          <p:nvPr/>
        </p:nvSpPr>
        <p:spPr>
          <a:xfrm>
            <a:off x="548640" y="2971800"/>
            <a:ext cx="11094415" cy="713232"/>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a:p>
        </p:txBody>
      </p:sp>
      <p:sp>
        <p:nvSpPr>
          <p:cNvPr id="15" name="Shape 13"/>
          <p:cNvSpPr/>
          <p:nvPr/>
        </p:nvSpPr>
        <p:spPr>
          <a:xfrm>
            <a:off x="548640" y="2971800"/>
            <a:ext cx="109728" cy="713232"/>
          </a:xfrm>
          <a:prstGeom prst="rect">
            <a:avLst/>
          </a:prstGeom>
          <a:solidFill>
            <a:srgbClr val="500778"/>
          </a:solidFill>
          <a:ln/>
        </p:spPr>
        <p:txBody>
          <a:bodyPr/>
          <a:lstStyle/>
          <a:p>
            <a:endParaRPr lang="zh-CN" altLang="en-US"/>
          </a:p>
        </p:txBody>
      </p:sp>
      <p:sp>
        <p:nvSpPr>
          <p:cNvPr id="16" name="Text 14"/>
          <p:cNvSpPr/>
          <p:nvPr/>
        </p:nvSpPr>
        <p:spPr>
          <a:xfrm>
            <a:off x="777240" y="2971800"/>
            <a:ext cx="502920" cy="713232"/>
          </a:xfrm>
          <a:prstGeom prst="rect">
            <a:avLst/>
          </a:prstGeom>
          <a:noFill/>
          <a:ln/>
        </p:spPr>
        <p:txBody>
          <a:bodyPr wrap="square" lIns="0" tIns="0" rIns="0" bIns="0" rtlCol="0" anchor="ctr"/>
          <a:lstStyle/>
          <a:p>
            <a:pPr marL="0" indent="0">
              <a:buNone/>
            </a:pPr>
            <a:r>
              <a:rPr lang="en-US" sz="2000" b="1" dirty="0">
                <a:solidFill>
                  <a:srgbClr val="500778"/>
                </a:solidFill>
                <a:latin typeface="Calibri" pitchFamily="34" charset="0"/>
                <a:ea typeface="Calibri" pitchFamily="34" charset="-122"/>
                <a:cs typeface="Calibri" pitchFamily="34" charset="-120"/>
              </a:rPr>
              <a:t>Q3</a:t>
            </a:r>
            <a:endParaRPr lang="en-US" sz="2000" dirty="0"/>
          </a:p>
        </p:txBody>
      </p:sp>
      <p:sp>
        <p:nvSpPr>
          <p:cNvPr id="17" name="Text 15"/>
          <p:cNvSpPr/>
          <p:nvPr/>
        </p:nvSpPr>
        <p:spPr>
          <a:xfrm>
            <a:off x="1280160" y="2971800"/>
            <a:ext cx="10317175" cy="713232"/>
          </a:xfrm>
          <a:prstGeom prst="rect">
            <a:avLst/>
          </a:prstGeom>
          <a:noFill/>
          <a:ln/>
        </p:spPr>
        <p:txBody>
          <a:bodyPr wrap="square" lIns="0" tIns="0" rIns="0" bIns="0" rtlCol="0" anchor="ctr"/>
          <a:lstStyle/>
          <a:p>
            <a:r>
              <a:rPr lang="en-GB" altLang="zh-CN" sz="2000" dirty="0"/>
              <a:t>When will the next meeting be?</a:t>
            </a:r>
          </a:p>
        </p:txBody>
      </p:sp>
      <p:sp>
        <p:nvSpPr>
          <p:cNvPr id="18" name="Shape 16"/>
          <p:cNvSpPr/>
          <p:nvPr/>
        </p:nvSpPr>
        <p:spPr>
          <a:xfrm>
            <a:off x="548640" y="3794760"/>
            <a:ext cx="11094415" cy="713232"/>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dirty="0"/>
          </a:p>
        </p:txBody>
      </p:sp>
      <p:sp>
        <p:nvSpPr>
          <p:cNvPr id="19" name="Shape 17"/>
          <p:cNvSpPr/>
          <p:nvPr/>
        </p:nvSpPr>
        <p:spPr>
          <a:xfrm>
            <a:off x="548640" y="3794760"/>
            <a:ext cx="109728" cy="713232"/>
          </a:xfrm>
          <a:prstGeom prst="rect">
            <a:avLst/>
          </a:prstGeom>
          <a:solidFill>
            <a:srgbClr val="500778"/>
          </a:solidFill>
          <a:ln/>
        </p:spPr>
        <p:txBody>
          <a:bodyPr/>
          <a:lstStyle/>
          <a:p>
            <a:endParaRPr lang="zh-CN" altLang="en-US"/>
          </a:p>
        </p:txBody>
      </p:sp>
      <p:sp>
        <p:nvSpPr>
          <p:cNvPr id="20" name="Text 18"/>
          <p:cNvSpPr/>
          <p:nvPr/>
        </p:nvSpPr>
        <p:spPr>
          <a:xfrm>
            <a:off x="777240" y="3794760"/>
            <a:ext cx="502920" cy="713232"/>
          </a:xfrm>
          <a:prstGeom prst="rect">
            <a:avLst/>
          </a:prstGeom>
          <a:noFill/>
          <a:ln/>
        </p:spPr>
        <p:txBody>
          <a:bodyPr wrap="square" lIns="0" tIns="0" rIns="0" bIns="0" rtlCol="0" anchor="ctr"/>
          <a:lstStyle/>
          <a:p>
            <a:pPr marL="0" indent="0">
              <a:buNone/>
            </a:pPr>
            <a:r>
              <a:rPr lang="en-US" sz="2000" b="1" dirty="0">
                <a:solidFill>
                  <a:srgbClr val="500778"/>
                </a:solidFill>
                <a:latin typeface="Calibri" pitchFamily="34" charset="0"/>
                <a:ea typeface="Calibri" pitchFamily="34" charset="-122"/>
                <a:cs typeface="Calibri" pitchFamily="34" charset="-120"/>
              </a:rPr>
              <a:t>Q4</a:t>
            </a:r>
            <a:endParaRPr lang="en-US" sz="2000" dirty="0"/>
          </a:p>
        </p:txBody>
      </p:sp>
      <p:sp>
        <p:nvSpPr>
          <p:cNvPr id="21" name="Text 19"/>
          <p:cNvSpPr/>
          <p:nvPr/>
        </p:nvSpPr>
        <p:spPr>
          <a:xfrm>
            <a:off x="1280160" y="3794760"/>
            <a:ext cx="10317175" cy="713232"/>
          </a:xfrm>
          <a:prstGeom prst="rect">
            <a:avLst/>
          </a:prstGeom>
          <a:noFill/>
          <a:ln/>
        </p:spPr>
        <p:txBody>
          <a:bodyPr wrap="square" lIns="0" tIns="0" rIns="0" bIns="0" rtlCol="0" anchor="ctr"/>
          <a:lstStyle/>
          <a:p>
            <a:r>
              <a:rPr lang="en-GB" altLang="zh-CN" sz="2000" dirty="0"/>
              <a:t>Do you have any other suggestions?</a:t>
            </a:r>
          </a:p>
        </p:txBody>
      </p:sp>
      <p:sp>
        <p:nvSpPr>
          <p:cNvPr id="22" name="Shape 20"/>
          <p:cNvSpPr/>
          <p:nvPr/>
        </p:nvSpPr>
        <p:spPr>
          <a:xfrm>
            <a:off x="548640" y="4617720"/>
            <a:ext cx="11094415" cy="713232"/>
          </a:xfrm>
          <a:prstGeom prst="rect">
            <a:avLst/>
          </a:prstGeom>
          <a:solidFill>
            <a:srgbClr val="FFFFFF"/>
          </a:solidFill>
          <a:ln/>
          <a:effectLst>
            <a:outerShdw blurRad="101600" dist="25400" dir="5400000" algn="bl" rotWithShape="0">
              <a:srgbClr val="000000">
                <a:alpha val="10000"/>
              </a:srgbClr>
            </a:outerShdw>
          </a:effectLst>
        </p:spPr>
        <p:txBody>
          <a:bodyPr/>
          <a:lstStyle/>
          <a:p>
            <a:endParaRPr lang="zh-CN" altLang="en-US"/>
          </a:p>
        </p:txBody>
      </p:sp>
      <p:sp>
        <p:nvSpPr>
          <p:cNvPr id="23" name="Shape 21"/>
          <p:cNvSpPr/>
          <p:nvPr/>
        </p:nvSpPr>
        <p:spPr>
          <a:xfrm>
            <a:off x="548640" y="4617720"/>
            <a:ext cx="109728" cy="713232"/>
          </a:xfrm>
          <a:prstGeom prst="rect">
            <a:avLst/>
          </a:prstGeom>
          <a:solidFill>
            <a:srgbClr val="500778"/>
          </a:solidFill>
          <a:ln/>
        </p:spPr>
        <p:txBody>
          <a:bodyPr/>
          <a:lstStyle/>
          <a:p>
            <a:endParaRPr lang="zh-CN" altLang="en-US"/>
          </a:p>
        </p:txBody>
      </p:sp>
      <p:sp>
        <p:nvSpPr>
          <p:cNvPr id="24" name="Text 22"/>
          <p:cNvSpPr/>
          <p:nvPr/>
        </p:nvSpPr>
        <p:spPr>
          <a:xfrm>
            <a:off x="777240" y="4617720"/>
            <a:ext cx="502920" cy="713232"/>
          </a:xfrm>
          <a:prstGeom prst="rect">
            <a:avLst/>
          </a:prstGeom>
          <a:noFill/>
          <a:ln/>
        </p:spPr>
        <p:txBody>
          <a:bodyPr wrap="square" lIns="0" tIns="0" rIns="0" bIns="0" rtlCol="0" anchor="ctr"/>
          <a:lstStyle/>
          <a:p>
            <a:pPr marL="0" indent="0">
              <a:buNone/>
            </a:pPr>
            <a:r>
              <a:rPr lang="en-US" sz="2000" b="1" dirty="0">
                <a:solidFill>
                  <a:srgbClr val="500778"/>
                </a:solidFill>
                <a:latin typeface="Calibri" pitchFamily="34" charset="0"/>
                <a:ea typeface="Calibri" pitchFamily="34" charset="-122"/>
                <a:cs typeface="Calibri" pitchFamily="34" charset="-120"/>
              </a:rPr>
              <a:t>Q5</a:t>
            </a:r>
            <a:endParaRPr lang="en-US" sz="2000" dirty="0"/>
          </a:p>
        </p:txBody>
      </p:sp>
      <p:sp>
        <p:nvSpPr>
          <p:cNvPr id="25" name="Text 23"/>
          <p:cNvSpPr/>
          <p:nvPr/>
        </p:nvSpPr>
        <p:spPr>
          <a:xfrm>
            <a:off x="1280160" y="4617720"/>
            <a:ext cx="10317175" cy="713232"/>
          </a:xfrm>
          <a:prstGeom prst="rect">
            <a:avLst/>
          </a:prstGeom>
          <a:noFill/>
          <a:ln/>
        </p:spPr>
        <p:txBody>
          <a:bodyPr wrap="square" lIns="0" tIns="0" rIns="0" bIns="0" rtlCol="0" anchor="ctr"/>
          <a:lstStyle/>
          <a:p>
            <a:pPr marL="0" indent="0">
              <a:buNone/>
            </a:pPr>
            <a:r>
              <a:rPr lang="zh-CN" altLang="en-US" dirty="0"/>
              <a:t>？？？</a:t>
            </a:r>
            <a:endParaRPr lang="en-US" dirty="0"/>
          </a:p>
        </p:txBody>
      </p:sp>
      <p:pic>
        <p:nvPicPr>
          <p:cNvPr id="27" name="图片 26">
            <a:extLst>
              <a:ext uri="{FF2B5EF4-FFF2-40B4-BE49-F238E27FC236}">
                <a16:creationId xmlns:a16="http://schemas.microsoft.com/office/drawing/2014/main" id="{E0EDACE0-348A-E4C4-8EEA-04924D0F84D8}"/>
              </a:ext>
            </a:extLst>
          </p:cNvPr>
          <p:cNvPicPr>
            <a:picLocks noChangeAspect="1"/>
          </p:cNvPicPr>
          <p:nvPr/>
        </p:nvPicPr>
        <p:blipFill>
          <a:blip r:embed="rId3"/>
          <a:stretch>
            <a:fillRect/>
          </a:stretch>
        </p:blipFill>
        <p:spPr>
          <a:xfrm>
            <a:off x="10985315" y="117279"/>
            <a:ext cx="1048895" cy="294202"/>
          </a:xfrm>
          <a:prstGeom prst="rect">
            <a:avLst/>
          </a:prstGeom>
        </p:spPr>
      </p:pic>
      <p:cxnSp>
        <p:nvCxnSpPr>
          <p:cNvPr id="28" name="直接连接符 27">
            <a:extLst>
              <a:ext uri="{FF2B5EF4-FFF2-40B4-BE49-F238E27FC236}">
                <a16:creationId xmlns:a16="http://schemas.microsoft.com/office/drawing/2014/main" id="{8AAB44F4-EBE1-55D4-B674-355950366CAA}"/>
              </a:ext>
            </a:extLst>
          </p:cNvPr>
          <p:cNvCxnSpPr>
            <a:cxnSpLocks/>
          </p:cNvCxnSpPr>
          <p:nvPr/>
        </p:nvCxnSpPr>
        <p:spPr>
          <a:xfrm>
            <a:off x="548640" y="1105176"/>
            <a:ext cx="10545775" cy="0"/>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00778"/>
          </a:solidFill>
          <a:ln/>
        </p:spPr>
        <p:txBody>
          <a:bodyPr/>
          <a:lstStyle/>
          <a:p>
            <a:endParaRPr lang="zh-CN" altLang="en-US"/>
          </a:p>
        </p:txBody>
      </p:sp>
      <p:sp>
        <p:nvSpPr>
          <p:cNvPr id="3" name="Text 1"/>
          <p:cNvSpPr/>
          <p:nvPr/>
        </p:nvSpPr>
        <p:spPr>
          <a:xfrm>
            <a:off x="548640" y="411480"/>
            <a:ext cx="11094415" cy="685800"/>
          </a:xfrm>
          <a:prstGeom prst="rect">
            <a:avLst/>
          </a:prstGeom>
          <a:noFill/>
          <a:ln/>
        </p:spPr>
        <p:txBody>
          <a:bodyPr wrap="square" lIns="0" tIns="0" rIns="0" bIns="0" rtlCol="0" anchor="ctr"/>
          <a:lstStyle/>
          <a:p>
            <a:pPr marL="0" indent="0" algn="l">
              <a:buNone/>
            </a:pPr>
            <a:r>
              <a:rPr lang="en-US" sz="3000" b="1" dirty="0">
                <a:solidFill>
                  <a:srgbClr val="500778"/>
                </a:solidFill>
                <a:latin typeface="Calibri" pitchFamily="34" charset="0"/>
                <a:ea typeface="Calibri" pitchFamily="34" charset="-122"/>
                <a:cs typeface="Calibri" pitchFamily="34" charset="-120"/>
              </a:rPr>
              <a:t>References</a:t>
            </a:r>
            <a:endParaRPr lang="en-US" sz="3000" dirty="0"/>
          </a:p>
        </p:txBody>
      </p:sp>
      <p:sp>
        <p:nvSpPr>
          <p:cNvPr id="5" name="Text 3"/>
          <p:cNvSpPr/>
          <p:nvPr/>
        </p:nvSpPr>
        <p:spPr>
          <a:xfrm>
            <a:off x="11094415" y="6492240"/>
            <a:ext cx="548640" cy="274320"/>
          </a:xfrm>
          <a:prstGeom prst="rect">
            <a:avLst/>
          </a:prstGeom>
          <a:noFill/>
          <a:ln/>
        </p:spPr>
        <p:txBody>
          <a:bodyPr wrap="square" lIns="0" tIns="0" rIns="0" bIns="0" rtlCol="0" anchor="ctr"/>
          <a:lstStyle/>
          <a:p>
            <a:pPr marL="0" indent="0" algn="r">
              <a:buNone/>
            </a:pPr>
            <a:r>
              <a:rPr lang="en-US" sz="1000" b="1" dirty="0">
                <a:solidFill>
                  <a:srgbClr val="500778"/>
                </a:solidFill>
                <a:latin typeface="Calibri" pitchFamily="34" charset="0"/>
                <a:ea typeface="Calibri" pitchFamily="34" charset="-122"/>
                <a:cs typeface="Calibri" pitchFamily="34" charset="-120"/>
              </a:rPr>
              <a:t>16</a:t>
            </a:r>
            <a:endParaRPr lang="en-US" sz="1000" dirty="0"/>
          </a:p>
        </p:txBody>
      </p:sp>
      <p:sp>
        <p:nvSpPr>
          <p:cNvPr id="6" name="Shape 4"/>
          <p:cNvSpPr/>
          <p:nvPr/>
        </p:nvSpPr>
        <p:spPr>
          <a:xfrm>
            <a:off x="548640" y="1444752"/>
            <a:ext cx="320040" cy="320040"/>
          </a:xfrm>
          <a:prstGeom prst="ellipse">
            <a:avLst/>
          </a:prstGeom>
          <a:solidFill>
            <a:srgbClr val="500778"/>
          </a:solidFill>
          <a:ln/>
        </p:spPr>
        <p:txBody>
          <a:bodyPr/>
          <a:lstStyle/>
          <a:p>
            <a:endParaRPr lang="zh-CN" altLang="en-US"/>
          </a:p>
        </p:txBody>
      </p:sp>
      <p:sp>
        <p:nvSpPr>
          <p:cNvPr id="7" name="Text 5"/>
          <p:cNvSpPr/>
          <p:nvPr/>
        </p:nvSpPr>
        <p:spPr>
          <a:xfrm>
            <a:off x="548640" y="1444752"/>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1005840" y="1371600"/>
            <a:ext cx="10637215" cy="457200"/>
          </a:xfrm>
          <a:prstGeom prst="rect">
            <a:avLst/>
          </a:prstGeom>
          <a:noFill/>
          <a:ln/>
        </p:spPr>
        <p:txBody>
          <a:bodyPr wrap="square" lIns="0" tIns="0" rIns="0" bIns="0" rtlCol="0" anchor="ctr"/>
          <a:lstStyle/>
          <a:p>
            <a:pPr marL="0" indent="0">
              <a:buNone/>
            </a:pPr>
            <a:r>
              <a:rPr lang="en-US" sz="2000" dirty="0">
                <a:solidFill>
                  <a:srgbClr val="1A1A1A"/>
                </a:solidFill>
                <a:latin typeface="Calibri" pitchFamily="34" charset="0"/>
                <a:ea typeface="Calibri" pitchFamily="34" charset="-122"/>
                <a:cs typeface="Calibri" pitchFamily="34" charset="-120"/>
              </a:rPr>
              <a:t>Montali et al. — The Waymo Open Sim Agents Challenge.</a:t>
            </a:r>
            <a:endParaRPr lang="en-US" sz="2000" dirty="0"/>
          </a:p>
        </p:txBody>
      </p:sp>
      <p:sp>
        <p:nvSpPr>
          <p:cNvPr id="9" name="Shape 7"/>
          <p:cNvSpPr/>
          <p:nvPr/>
        </p:nvSpPr>
        <p:spPr>
          <a:xfrm>
            <a:off x="548640" y="2226282"/>
            <a:ext cx="320040" cy="320040"/>
          </a:xfrm>
          <a:prstGeom prst="ellipse">
            <a:avLst/>
          </a:prstGeom>
          <a:solidFill>
            <a:srgbClr val="500778"/>
          </a:solidFill>
          <a:ln/>
        </p:spPr>
        <p:txBody>
          <a:bodyPr/>
          <a:lstStyle/>
          <a:p>
            <a:endParaRPr lang="zh-CN" altLang="en-US"/>
          </a:p>
        </p:txBody>
      </p:sp>
      <p:sp>
        <p:nvSpPr>
          <p:cNvPr id="10" name="Text 8"/>
          <p:cNvSpPr/>
          <p:nvPr/>
        </p:nvSpPr>
        <p:spPr>
          <a:xfrm>
            <a:off x="548640" y="2226282"/>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Text 9"/>
          <p:cNvSpPr/>
          <p:nvPr/>
        </p:nvSpPr>
        <p:spPr>
          <a:xfrm>
            <a:off x="1005841" y="2153130"/>
            <a:ext cx="10145554" cy="457200"/>
          </a:xfrm>
          <a:prstGeom prst="rect">
            <a:avLst/>
          </a:prstGeom>
          <a:noFill/>
          <a:ln/>
        </p:spPr>
        <p:txBody>
          <a:bodyPr wrap="square" lIns="0" tIns="0" rIns="0" bIns="0" rtlCol="0" anchor="ctr"/>
          <a:lstStyle/>
          <a:p>
            <a:pPr marL="0" indent="0">
              <a:buNone/>
            </a:pPr>
            <a:r>
              <a:rPr lang="en-US" sz="2000" dirty="0">
                <a:solidFill>
                  <a:srgbClr val="1A1A1A"/>
                </a:solidFill>
                <a:latin typeface="Calibri" pitchFamily="34" charset="0"/>
                <a:ea typeface="Calibri" pitchFamily="34" charset="-122"/>
                <a:cs typeface="Calibri" pitchFamily="34" charset="-120"/>
              </a:rPr>
              <a:t>Gulino et al. — Waymax: An Accelerated, Data-Driven Simulator for Large-Scale Autonomous Driving Research.</a:t>
            </a:r>
            <a:endParaRPr lang="en-US" sz="2000" dirty="0"/>
          </a:p>
        </p:txBody>
      </p:sp>
      <p:sp>
        <p:nvSpPr>
          <p:cNvPr id="12" name="Shape 10"/>
          <p:cNvSpPr/>
          <p:nvPr/>
        </p:nvSpPr>
        <p:spPr>
          <a:xfrm>
            <a:off x="548640" y="2950662"/>
            <a:ext cx="320040" cy="320040"/>
          </a:xfrm>
          <a:prstGeom prst="ellipse">
            <a:avLst/>
          </a:prstGeom>
          <a:solidFill>
            <a:srgbClr val="500778"/>
          </a:solidFill>
          <a:ln/>
        </p:spPr>
        <p:txBody>
          <a:bodyPr/>
          <a:lstStyle/>
          <a:p>
            <a:endParaRPr lang="zh-CN" altLang="en-US"/>
          </a:p>
        </p:txBody>
      </p:sp>
      <p:sp>
        <p:nvSpPr>
          <p:cNvPr id="13" name="Text 11"/>
          <p:cNvSpPr/>
          <p:nvPr/>
        </p:nvSpPr>
        <p:spPr>
          <a:xfrm>
            <a:off x="548640" y="2950662"/>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4" name="Text 12"/>
          <p:cNvSpPr/>
          <p:nvPr/>
        </p:nvSpPr>
        <p:spPr>
          <a:xfrm>
            <a:off x="1005840" y="2877510"/>
            <a:ext cx="10637215" cy="457200"/>
          </a:xfrm>
          <a:prstGeom prst="rect">
            <a:avLst/>
          </a:prstGeom>
          <a:noFill/>
          <a:ln/>
        </p:spPr>
        <p:txBody>
          <a:bodyPr wrap="square" lIns="0" tIns="0" rIns="0" bIns="0" rtlCol="0" anchor="ctr"/>
          <a:lstStyle/>
          <a:p>
            <a:pPr marL="0" indent="0">
              <a:buNone/>
            </a:pPr>
            <a:r>
              <a:rPr lang="en-US" sz="2000" dirty="0">
                <a:solidFill>
                  <a:srgbClr val="1A1A1A"/>
                </a:solidFill>
                <a:latin typeface="Calibri" pitchFamily="34" charset="0"/>
                <a:ea typeface="Calibri" pitchFamily="34" charset="-122"/>
                <a:cs typeface="Calibri" pitchFamily="34" charset="-120"/>
              </a:rPr>
              <a:t>Waymo Open Dataset 2025 Sim Agents Challenge </a:t>
            </a:r>
            <a:endParaRPr lang="en-US" sz="2000" dirty="0"/>
          </a:p>
        </p:txBody>
      </p:sp>
      <p:sp>
        <p:nvSpPr>
          <p:cNvPr id="15" name="Shape 13"/>
          <p:cNvSpPr/>
          <p:nvPr/>
        </p:nvSpPr>
        <p:spPr>
          <a:xfrm>
            <a:off x="548640" y="3689319"/>
            <a:ext cx="320040" cy="320040"/>
          </a:xfrm>
          <a:prstGeom prst="ellipse">
            <a:avLst/>
          </a:prstGeom>
          <a:solidFill>
            <a:srgbClr val="500778"/>
          </a:solidFill>
          <a:ln/>
        </p:spPr>
        <p:txBody>
          <a:bodyPr/>
          <a:lstStyle/>
          <a:p>
            <a:endParaRPr lang="zh-CN" altLang="en-US"/>
          </a:p>
        </p:txBody>
      </p:sp>
      <p:sp>
        <p:nvSpPr>
          <p:cNvPr id="16" name="Text 14"/>
          <p:cNvSpPr/>
          <p:nvPr/>
        </p:nvSpPr>
        <p:spPr>
          <a:xfrm>
            <a:off x="548640" y="3689319"/>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7" name="Text 15"/>
          <p:cNvSpPr/>
          <p:nvPr/>
        </p:nvSpPr>
        <p:spPr>
          <a:xfrm>
            <a:off x="1005840" y="3616167"/>
            <a:ext cx="10637215" cy="457200"/>
          </a:xfrm>
          <a:prstGeom prst="rect">
            <a:avLst/>
          </a:prstGeom>
          <a:noFill/>
          <a:ln/>
        </p:spPr>
        <p:txBody>
          <a:bodyPr wrap="square" lIns="0" tIns="0" rIns="0" bIns="0" rtlCol="0" anchor="ctr"/>
          <a:lstStyle/>
          <a:p>
            <a:pPr marL="0" indent="0">
              <a:buNone/>
            </a:pPr>
            <a:r>
              <a:rPr lang="en-US" sz="2000" dirty="0">
                <a:solidFill>
                  <a:srgbClr val="1A1A1A"/>
                </a:solidFill>
                <a:latin typeface="Calibri" pitchFamily="34" charset="0"/>
                <a:ea typeface="Calibri" pitchFamily="34" charset="-122"/>
                <a:cs typeface="Calibri" pitchFamily="34" charset="-120"/>
              </a:rPr>
              <a:t>Waymax WOSAC submission tutorial (official GitHub).</a:t>
            </a:r>
            <a:endParaRPr lang="en-US" sz="2000" dirty="0"/>
          </a:p>
        </p:txBody>
      </p:sp>
      <p:sp>
        <p:nvSpPr>
          <p:cNvPr id="18" name="Shape 16"/>
          <p:cNvSpPr/>
          <p:nvPr/>
        </p:nvSpPr>
        <p:spPr>
          <a:xfrm>
            <a:off x="548640" y="4384831"/>
            <a:ext cx="320040" cy="320040"/>
          </a:xfrm>
          <a:prstGeom prst="ellipse">
            <a:avLst/>
          </a:prstGeom>
          <a:solidFill>
            <a:srgbClr val="500778"/>
          </a:solidFill>
          <a:ln/>
        </p:spPr>
        <p:txBody>
          <a:bodyPr/>
          <a:lstStyle/>
          <a:p>
            <a:endParaRPr lang="zh-CN" altLang="en-US"/>
          </a:p>
        </p:txBody>
      </p:sp>
      <p:sp>
        <p:nvSpPr>
          <p:cNvPr id="19" name="Text 17"/>
          <p:cNvSpPr/>
          <p:nvPr/>
        </p:nvSpPr>
        <p:spPr>
          <a:xfrm>
            <a:off x="548640" y="4384831"/>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8"/>
          <p:cNvSpPr/>
          <p:nvPr/>
        </p:nvSpPr>
        <p:spPr>
          <a:xfrm>
            <a:off x="1005840" y="4311679"/>
            <a:ext cx="10637215" cy="457200"/>
          </a:xfrm>
          <a:prstGeom prst="rect">
            <a:avLst/>
          </a:prstGeom>
          <a:noFill/>
          <a:ln/>
        </p:spPr>
        <p:txBody>
          <a:bodyPr wrap="square" lIns="0" tIns="0" rIns="0" bIns="0" rtlCol="0" anchor="ctr"/>
          <a:lstStyle/>
          <a:p>
            <a:pPr marL="0" indent="0">
              <a:buNone/>
            </a:pPr>
            <a:r>
              <a:rPr lang="en-US" sz="2000" dirty="0">
                <a:solidFill>
                  <a:srgbClr val="1A1A1A"/>
                </a:solidFill>
                <a:latin typeface="Calibri" pitchFamily="34" charset="0"/>
                <a:ea typeface="Calibri" pitchFamily="34" charset="-122"/>
                <a:cs typeface="Calibri" pitchFamily="34" charset="-120"/>
              </a:rPr>
              <a:t>Waymo Open Dataset Sim Agents tutorial.</a:t>
            </a:r>
            <a:endParaRPr lang="en-US" sz="2000" dirty="0"/>
          </a:p>
        </p:txBody>
      </p:sp>
      <p:pic>
        <p:nvPicPr>
          <p:cNvPr id="27" name="图片 26">
            <a:extLst>
              <a:ext uri="{FF2B5EF4-FFF2-40B4-BE49-F238E27FC236}">
                <a16:creationId xmlns:a16="http://schemas.microsoft.com/office/drawing/2014/main" id="{13BBD8AD-1D78-C682-4B55-C41ED151ED37}"/>
              </a:ext>
            </a:extLst>
          </p:cNvPr>
          <p:cNvPicPr>
            <a:picLocks noChangeAspect="1"/>
          </p:cNvPicPr>
          <p:nvPr/>
        </p:nvPicPr>
        <p:blipFill>
          <a:blip r:embed="rId3"/>
          <a:stretch>
            <a:fillRect/>
          </a:stretch>
        </p:blipFill>
        <p:spPr>
          <a:xfrm>
            <a:off x="10985315" y="117279"/>
            <a:ext cx="1048895" cy="294202"/>
          </a:xfrm>
          <a:prstGeom prst="rect">
            <a:avLst/>
          </a:prstGeom>
        </p:spPr>
      </p:pic>
      <p:cxnSp>
        <p:nvCxnSpPr>
          <p:cNvPr id="28" name="直接连接符 27">
            <a:extLst>
              <a:ext uri="{FF2B5EF4-FFF2-40B4-BE49-F238E27FC236}">
                <a16:creationId xmlns:a16="http://schemas.microsoft.com/office/drawing/2014/main" id="{715B98F1-27D4-7B3A-F944-5C6CF210C880}"/>
              </a:ext>
            </a:extLst>
          </p:cNvPr>
          <p:cNvCxnSpPr>
            <a:cxnSpLocks/>
          </p:cNvCxnSpPr>
          <p:nvPr/>
        </p:nvCxnSpPr>
        <p:spPr>
          <a:xfrm>
            <a:off x="548640" y="1105176"/>
            <a:ext cx="10545775" cy="0"/>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TotalTime>
  <Words>3298</Words>
  <Application>Microsoft Office PowerPoint</Application>
  <PresentationFormat>宽屏</PresentationFormat>
  <Paragraphs>383</Paragraphs>
  <Slides>17</Slides>
  <Notes>17</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17</vt:i4>
      </vt:variant>
    </vt:vector>
  </HeadingPairs>
  <TitlesOfParts>
    <vt:vector size="20"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UCL · The Bartlett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Waymo Open Sim Agents Challenge — Research Plan</dc:title>
  <dc:subject>PptxGenJS Presentation</dc:subject>
  <dc:creator>WOSAC Research Plan</dc:creator>
  <cp:lastModifiedBy>M. Song</cp:lastModifiedBy>
  <cp:revision>17</cp:revision>
  <dcterms:created xsi:type="dcterms:W3CDTF">2026-04-28T23:00:29Z</dcterms:created>
  <dcterms:modified xsi:type="dcterms:W3CDTF">2026-04-29T01:55:30Z</dcterms:modified>
</cp:coreProperties>
</file>