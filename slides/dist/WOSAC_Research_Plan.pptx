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discuss the Waymo Open Sim Agents Challenge. My goal is not to chase a leaderboard ranking, but to use WOSAC as a standardised benchmark for studying simulation, behaviour modelling and multi-agent interaction in autonomous driving, and to find a focused sim-agent design problem worth optimising.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task because it systematically trains the core capabilities of autonomous driving — prediction, simulation, multi-agent interaction, behaviour modelling, planning evaluation. The aim is not a high leaderboard rank, but to identify a clear modelling problem in this benchmark and improve it in a focused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Autonomous-driving systems are hard to evaluate by real-world driving alone — the cost is high, the risk is high, and many edge cases rarely appear. Simulation is therefore essential, but only if the surrounding vehicles, pedestrians and cyclists behave realistically. If they do not, the evaluation of planning and behaviour models is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terms, this task is to train a traffic-world simulator. Given roughly 1 second of real-road history — positions, speeds, pedestrians, cyclists, the road map, traffic lights — the model must generate how the next 8 seconds of the entire scene evolve. Crucially, it does not generate a single future, but 32 possible futures, because the real world is not deterministic. The animation on the right is exactly what a rollout looks like: each box is one simulated agent updating its position and heading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point I want to align on with you: I am not framing this project as 'compete in a challenge'. It already provides data, simulator, submission format and evaluation. So I want to use it as a research platform: pick one specific weakness — closed-loop stability, interaction realism, map adherence — and design a better sim agent around that single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 of this benchmark is that it is bounded. Data comes from the Waymo Open Motion Dataset; simulation and evaluation can be done in Waymax; the submission is a set of trajectory rollouts, not model code. So it is effectively a standardised experimental environment. The 2025 challenge also requires a specific factorisation: given the previous joint state, the ADV's next state and the world's next state must be conditionally independent — the ego cannot 'peek' at the world's next-step output within the same step. The figure on the right is Waymo's visualisation of that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standard trajectory prediction. The model produces 32 futures, those form a simulated behaviour distribution, and the score asks how well that distribution matches the real-driving distribution. So these metrics also work as diagnostics: they tell me which aspect of the rollout is unrealistic. The 2025 version updated several metrics — capsule-shape collisions, a new traffic-light violation metric, a TTC filter and smoother kinematic estimation — so older baseline numbers are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to start with one big complex model. The more reasonable path is to run the benchmark, diagnose where baselines fail, then pick the most worthwhile direction — closed-loop stability, interaction realism, map adherence or multimodal generation — so the project's contribution is sharp.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lean towards starting on closed-loop stability and interaction realism, because the essence of a sim agent is not whether the next step is accurate, but whether 80-step rollouts stay stable, plausible, non-colliding, on-road, and socially realistic between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to jump straight to a complex model. A safer route is to understand the data and metrics, reproduce the Waymax pipeline, then use simple baselines to expose where the failures are — off-road? collisions? unstable rollouts? Once those are clear, pick one specific direction for the model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1A has two steps. Step 1 is to understand the data and the task format. WOMD v1.2.0 scenarios are 9.1 seconds at 10 Hz — about 1.1 s history plus 8 s future, which is 80 simulation steps. Each scenario has up to 128 agents with one ADV. The goal here is not to train, just to read and visualise one scenario. Step 2 is to run the official Waymax tutorial end-to-end with a baseline agent like constant-velocity, and produce a legal SimAgentsChallengeSubmission. Score does not matter yet — pipeline correctness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1B has two steps. Step 3 is to run three simple baselines: log replay (copies the real future, valid only on training/validation), constant velocity, and a simple interaction rule that keeps lane and brakes on lead vehicles. The point is not to win — it is to read the WOSAC metric: which failure modes does each baseline trigger? Step 4 is the first learned model: take a trajectory-prediction model, give it past 1 s agent states, vector map features, agent type, relative positions and traffic-light state, and predict next-step Δx, Δy, Δheading. Train autoregressively; at rollout time loop 80 steps, predicting ADV and world states separately to honour the WOSAC conditional-independence factorisation.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2's central insight is that a sim agent is not a one-car predictor — it has to make every agent in the scene jointly plausible. If each agent is decoded independently, two cars will collide, no one will yield, and red lights get ignored. That is why the model recipe puts an agent–agent attention or GNN module between the encoders and the decoder, and why constraint-aware post-processing matters. The WOSAC paper itself states that sim agents must be realistic and interactive — log replay or simple rules are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be a single aggregate score. The harder question is: what specifically did this design improve? Fewer collisions? Less off-road? More stable 80-step rollouts? More plausible diversity across the 32 rollouts? That kind of analysis is what makes this a research project rather than a contest.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hope this meeting yields is not a yes/no on 'should I enter the competition'. It is alignment on whether this benchmark is the right research vehicle, and which specific direction to optimise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materials I will read and reproduce. The presentation has folded their content into the earlier slides rather than dedicating a slide per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344"/>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200" b="1" spc="600" kern="0" dirty="0">
                <a:solidFill>
                  <a:srgbClr val="FFFFFF"/>
                </a:solidFill>
                <a:latin typeface="Calibri" pitchFamily="34" charset="0"/>
                <a:ea typeface="Calibri" pitchFamily="34" charset="-122"/>
                <a:cs typeface="Calibri" pitchFamily="34" charset="-120"/>
              </a:rPr>
              <a:t>UCL  ·  THE BARTLETT</a:t>
            </a:r>
            <a:endParaRPr lang="en-US" sz="1200" dirty="0"/>
          </a:p>
        </p:txBody>
      </p:sp>
      <p:pic>
        <p:nvPicPr>
          <p:cNvPr id="3" name="Image 0" descr="/home/uceems7/SimAgents/slides/assets/processed/waymo-logo-white.png">    </p:cNvPr>
          <p:cNvPicPr>
            <a:picLocks noChangeAspect="1"/>
          </p:cNvPicPr>
          <p:nvPr/>
        </p:nvPicPr>
        <p:blipFill>
          <a:blip r:embed="rId1"/>
          <a:srcRect l="0" r="0" t="0" b="0"/>
          <a:stretch/>
        </p:blipFill>
        <p:spPr>
          <a:xfrm>
            <a:off x="9722815" y="411480"/>
            <a:ext cx="1828800" cy="457200"/>
          </a:xfrm>
          <a:prstGeom prst="rect">
            <a:avLst/>
          </a:prstGeom>
        </p:spPr>
      </p:pic>
      <p:sp>
        <p:nvSpPr>
          <p:cNvPr id="4" name="Shape 1"/>
          <p:cNvSpPr/>
          <p:nvPr/>
        </p:nvSpPr>
        <p:spPr>
          <a:xfrm>
            <a:off x="640080" y="2331720"/>
            <a:ext cx="548640" cy="45720"/>
          </a:xfrm>
          <a:prstGeom prst="rect">
            <a:avLst/>
          </a:prstGeom>
          <a:solidFill>
            <a:srgbClr val="500778"/>
          </a:solidFill>
          <a:ln/>
        </p:spPr>
      </p:sp>
      <p:sp>
        <p:nvSpPr>
          <p:cNvPr id="5" name="Text 2"/>
          <p:cNvSpPr/>
          <p:nvPr/>
        </p:nvSpPr>
        <p:spPr>
          <a:xfrm>
            <a:off x="640080" y="1920240"/>
            <a:ext cx="7315200" cy="365760"/>
          </a:xfrm>
          <a:prstGeom prst="rect">
            <a:avLst/>
          </a:prstGeom>
          <a:noFill/>
          <a:ln/>
        </p:spPr>
        <p:txBody>
          <a:bodyPr wrap="square" lIns="0" tIns="0" rIns="0" bIns="0" rtlCol="0" anchor="ctr"/>
          <a:lstStyle/>
          <a:p>
            <a:pPr indent="0" marL="0">
              <a:buNone/>
            </a:pPr>
            <a:r>
              <a:rPr lang="en-US" sz="1200" b="1" spc="400" kern="0" dirty="0">
                <a:solidFill>
                  <a:srgbClr val="C8B8D6"/>
                </a:solidFill>
                <a:latin typeface="Calibri" pitchFamily="34" charset="0"/>
                <a:ea typeface="Calibri" pitchFamily="34" charset="-122"/>
                <a:cs typeface="Calibri" pitchFamily="34" charset="-120"/>
              </a:rPr>
              <a:t>RESEARCH PLAN  ·  2026</a:t>
            </a:r>
            <a:endParaRPr lang="en-US" sz="1200" dirty="0"/>
          </a:p>
        </p:txBody>
      </p:sp>
      <p:sp>
        <p:nvSpPr>
          <p:cNvPr id="6" name="Text 3"/>
          <p:cNvSpPr/>
          <p:nvPr/>
        </p:nvSpPr>
        <p:spPr>
          <a:xfrm>
            <a:off x="640080" y="2468880"/>
            <a:ext cx="10515600" cy="173736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Waymo Open Sim Agents</a:t>
            </a:r>
            <a:endParaRPr lang="en-US" sz="5400" dirty="0"/>
          </a:p>
          <a:p>
            <a:pPr algn="l" indent="0" marL="0">
              <a:buNone/>
            </a:pPr>
            <a:r>
              <a:rPr lang="en-US" sz="5400" b="1" dirty="0">
                <a:solidFill>
                  <a:srgbClr val="FFFFFF"/>
                </a:solidFill>
                <a:latin typeface="Calibri" pitchFamily="34" charset="0"/>
                <a:ea typeface="Calibri" pitchFamily="34" charset="-122"/>
                <a:cs typeface="Calibri" pitchFamily="34" charset="-120"/>
              </a:rPr>
              <a:t>Challenge</a:t>
            </a:r>
            <a:endParaRPr lang="en-US" sz="5400" dirty="0"/>
          </a:p>
        </p:txBody>
      </p:sp>
      <p:sp>
        <p:nvSpPr>
          <p:cNvPr id="7" name="Text 4"/>
          <p:cNvSpPr/>
          <p:nvPr/>
        </p:nvSpPr>
        <p:spPr>
          <a:xfrm>
            <a:off x="640080" y="4206240"/>
            <a:ext cx="10515600" cy="548640"/>
          </a:xfrm>
          <a:prstGeom prst="rect">
            <a:avLst/>
          </a:prstGeom>
          <a:noFill/>
          <a:ln/>
        </p:spPr>
        <p:txBody>
          <a:bodyPr wrap="square" lIns="0" tIns="0" rIns="0" bIns="0" rtlCol="0" anchor="ctr"/>
          <a:lstStyle/>
          <a:p>
            <a:pPr algn="l" indent="0" marL="0">
              <a:buNone/>
            </a:pPr>
            <a:r>
              <a:rPr lang="en-US" sz="2200" dirty="0">
                <a:solidFill>
                  <a:srgbClr val="E0D0EE"/>
                </a:solidFill>
                <a:latin typeface="Calibri" pitchFamily="34" charset="0"/>
                <a:ea typeface="Calibri" pitchFamily="34" charset="-122"/>
                <a:cs typeface="Calibri" pitchFamily="34" charset="-120"/>
              </a:rPr>
              <a:t>Task understanding and a research-oriented initial plan</a:t>
            </a:r>
            <a:endParaRPr lang="en-US" sz="2200" dirty="0"/>
          </a:p>
        </p:txBody>
      </p:sp>
      <p:sp>
        <p:nvSpPr>
          <p:cNvPr id="8" name="Text 5"/>
          <p:cNvSpPr/>
          <p:nvPr/>
        </p:nvSpPr>
        <p:spPr>
          <a:xfrm>
            <a:off x="640080" y="4754880"/>
            <a:ext cx="10515600" cy="457200"/>
          </a:xfrm>
          <a:prstGeom prst="rect">
            <a:avLst/>
          </a:prstGeom>
          <a:noFill/>
          <a:ln/>
        </p:spPr>
        <p:txBody>
          <a:bodyPr wrap="square" lIns="0" tIns="0" rIns="0" bIns="0" rtlCol="0" anchor="ctr"/>
          <a:lstStyle/>
          <a:p>
            <a:pPr indent="0" marL="0">
              <a:buNone/>
            </a:pPr>
            <a:r>
              <a:rPr lang="en-US" sz="1400" i="1" dirty="0">
                <a:solidFill>
                  <a:srgbClr val="C8B8D6"/>
                </a:solidFill>
                <a:latin typeface="Calibri" pitchFamily="34" charset="0"/>
                <a:ea typeface="Calibri" pitchFamily="34" charset="-122"/>
                <a:cs typeface="Calibri" pitchFamily="34" charset="-120"/>
              </a:rPr>
              <a:t>Using WOSAC as a benchmark to study realistic sim-agent design for autonomous driving</a:t>
            </a:r>
            <a:endParaRPr lang="en-US" sz="1400" dirty="0"/>
          </a:p>
        </p:txBody>
      </p:sp>
      <p:sp>
        <p:nvSpPr>
          <p:cNvPr id="9" name="Shape 6"/>
          <p:cNvSpPr/>
          <p:nvPr/>
        </p:nvSpPr>
        <p:spPr>
          <a:xfrm>
            <a:off x="640080" y="5943600"/>
            <a:ext cx="1371600" cy="36576"/>
          </a:xfrm>
          <a:prstGeom prst="rect">
            <a:avLst/>
          </a:prstGeom>
          <a:solidFill>
            <a:srgbClr val="500778"/>
          </a:solidFill>
          <a:ln/>
        </p:spPr>
      </p:sp>
      <p:sp>
        <p:nvSpPr>
          <p:cNvPr id="10" name="Text 7"/>
          <p:cNvSpPr/>
          <p:nvPr/>
        </p:nvSpPr>
        <p:spPr>
          <a:xfrm>
            <a:off x="640080" y="6080760"/>
            <a:ext cx="7315200" cy="320040"/>
          </a:xfrm>
          <a:prstGeom prst="rect">
            <a:avLst/>
          </a:prstGeom>
          <a:noFill/>
          <a:ln/>
        </p:spPr>
        <p:txBody>
          <a:bodyPr wrap="square" lIns="0" tIns="0" rIns="0" bIns="0" rtlCol="0" anchor="ctr"/>
          <a:lstStyle/>
          <a:p>
            <a:pPr indent="0" marL="0">
              <a:buNone/>
            </a:pPr>
            <a:r>
              <a:rPr lang="en-US" sz="1100" dirty="0">
                <a:solidFill>
                  <a:srgbClr val="B89BCB"/>
                </a:solidFill>
                <a:latin typeface="Calibri" pitchFamily="34" charset="0"/>
                <a:ea typeface="Calibri" pitchFamily="34" charset="-122"/>
                <a:cs typeface="Calibri" pitchFamily="34" charset="-120"/>
              </a:rPr>
              <a:t>Supervisor meeting  ·  28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Motivation: building research foundations for autonomous driving</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548640" y="1280160"/>
            <a:ext cx="1097280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Why I chose this task</a:t>
            </a:r>
            <a:endParaRPr lang="en-US" sz="1600" dirty="0"/>
          </a:p>
        </p:txBody>
      </p:sp>
      <p:sp>
        <p:nvSpPr>
          <p:cNvPr id="7" name="Text 5"/>
          <p:cNvSpPr/>
          <p:nvPr/>
        </p:nvSpPr>
        <p:spPr>
          <a:xfrm>
            <a:off x="548640" y="1691640"/>
            <a:ext cx="10972800" cy="91440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Sim agents sit at the intersection of behaviour modelling, motion prediction, multi-agent interaction, planning evaluation and safety-critical simulation. WOSAC turns these into a single, well-defined benchmark.</a:t>
            </a:r>
            <a:endParaRPr lang="en-US" sz="1400" dirty="0"/>
          </a:p>
        </p:txBody>
      </p:sp>
      <p:sp>
        <p:nvSpPr>
          <p:cNvPr id="8" name="Shape 6"/>
          <p:cNvSpPr/>
          <p:nvPr/>
        </p:nvSpPr>
        <p:spPr>
          <a:xfrm>
            <a:off x="838048" y="2788920"/>
            <a:ext cx="1920240" cy="10972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9" name="Shape 7"/>
          <p:cNvSpPr/>
          <p:nvPr/>
        </p:nvSpPr>
        <p:spPr>
          <a:xfrm>
            <a:off x="1633576" y="2953512"/>
            <a:ext cx="329184" cy="329184"/>
          </a:xfrm>
          <a:prstGeom prst="ellipse">
            <a:avLst/>
          </a:prstGeom>
          <a:solidFill>
            <a:srgbClr val="500778"/>
          </a:solidFill>
          <a:ln/>
        </p:spPr>
      </p:sp>
      <p:sp>
        <p:nvSpPr>
          <p:cNvPr id="10" name="Text 8"/>
          <p:cNvSpPr/>
          <p:nvPr/>
        </p:nvSpPr>
        <p:spPr>
          <a:xfrm>
            <a:off x="1633576" y="2953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929488" y="3337560"/>
            <a:ext cx="1737360" cy="54864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Behaviour</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modelling</a:t>
            </a:r>
            <a:endParaRPr lang="en-US" sz="1200" dirty="0"/>
          </a:p>
        </p:txBody>
      </p:sp>
      <p:sp>
        <p:nvSpPr>
          <p:cNvPr id="12" name="Shape 10"/>
          <p:cNvSpPr/>
          <p:nvPr/>
        </p:nvSpPr>
        <p:spPr>
          <a:xfrm>
            <a:off x="2986888" y="2788920"/>
            <a:ext cx="1920240" cy="10972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3" name="Shape 11"/>
          <p:cNvSpPr/>
          <p:nvPr/>
        </p:nvSpPr>
        <p:spPr>
          <a:xfrm>
            <a:off x="3782416" y="2953512"/>
            <a:ext cx="329184" cy="329184"/>
          </a:xfrm>
          <a:prstGeom prst="ellipse">
            <a:avLst/>
          </a:prstGeom>
          <a:solidFill>
            <a:srgbClr val="500778"/>
          </a:solidFill>
          <a:ln/>
        </p:spPr>
      </p:sp>
      <p:sp>
        <p:nvSpPr>
          <p:cNvPr id="14" name="Text 12"/>
          <p:cNvSpPr/>
          <p:nvPr/>
        </p:nvSpPr>
        <p:spPr>
          <a:xfrm>
            <a:off x="3782416" y="2953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078328" y="3337560"/>
            <a:ext cx="1737360" cy="54864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Motion</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prediction</a:t>
            </a:r>
            <a:endParaRPr lang="en-US" sz="1200" dirty="0"/>
          </a:p>
        </p:txBody>
      </p:sp>
      <p:sp>
        <p:nvSpPr>
          <p:cNvPr id="16" name="Shape 14"/>
          <p:cNvSpPr/>
          <p:nvPr/>
        </p:nvSpPr>
        <p:spPr>
          <a:xfrm>
            <a:off x="5135728" y="2788920"/>
            <a:ext cx="1920240" cy="10972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7" name="Shape 15"/>
          <p:cNvSpPr/>
          <p:nvPr/>
        </p:nvSpPr>
        <p:spPr>
          <a:xfrm>
            <a:off x="5931256" y="2953512"/>
            <a:ext cx="329184" cy="329184"/>
          </a:xfrm>
          <a:prstGeom prst="ellipse">
            <a:avLst/>
          </a:prstGeom>
          <a:solidFill>
            <a:srgbClr val="500778"/>
          </a:solidFill>
          <a:ln/>
        </p:spPr>
      </p:sp>
      <p:sp>
        <p:nvSpPr>
          <p:cNvPr id="18" name="Text 16"/>
          <p:cNvSpPr/>
          <p:nvPr/>
        </p:nvSpPr>
        <p:spPr>
          <a:xfrm>
            <a:off x="5931256" y="2953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5227168" y="3337560"/>
            <a:ext cx="1737360" cy="54864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Multi-agent</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interaction</a:t>
            </a:r>
            <a:endParaRPr lang="en-US" sz="1200" dirty="0"/>
          </a:p>
        </p:txBody>
      </p:sp>
      <p:sp>
        <p:nvSpPr>
          <p:cNvPr id="20" name="Shape 18"/>
          <p:cNvSpPr/>
          <p:nvPr/>
        </p:nvSpPr>
        <p:spPr>
          <a:xfrm>
            <a:off x="7284568" y="2788920"/>
            <a:ext cx="1920240" cy="10972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21" name="Shape 19"/>
          <p:cNvSpPr/>
          <p:nvPr/>
        </p:nvSpPr>
        <p:spPr>
          <a:xfrm>
            <a:off x="8080096" y="2953512"/>
            <a:ext cx="329184" cy="329184"/>
          </a:xfrm>
          <a:prstGeom prst="ellipse">
            <a:avLst/>
          </a:prstGeom>
          <a:solidFill>
            <a:srgbClr val="500778"/>
          </a:solidFill>
          <a:ln/>
        </p:spPr>
      </p:sp>
      <p:sp>
        <p:nvSpPr>
          <p:cNvPr id="22" name="Text 20"/>
          <p:cNvSpPr/>
          <p:nvPr/>
        </p:nvSpPr>
        <p:spPr>
          <a:xfrm>
            <a:off x="8080096" y="2953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7376008" y="3337560"/>
            <a:ext cx="1737360" cy="54864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Planning</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evaluation</a:t>
            </a:r>
            <a:endParaRPr lang="en-US" sz="1200" dirty="0"/>
          </a:p>
        </p:txBody>
      </p:sp>
      <p:sp>
        <p:nvSpPr>
          <p:cNvPr id="24" name="Shape 22"/>
          <p:cNvSpPr/>
          <p:nvPr/>
        </p:nvSpPr>
        <p:spPr>
          <a:xfrm>
            <a:off x="9433408" y="2788920"/>
            <a:ext cx="1920240" cy="10972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25" name="Shape 23"/>
          <p:cNvSpPr/>
          <p:nvPr/>
        </p:nvSpPr>
        <p:spPr>
          <a:xfrm>
            <a:off x="10228936" y="2953512"/>
            <a:ext cx="329184" cy="329184"/>
          </a:xfrm>
          <a:prstGeom prst="ellipse">
            <a:avLst/>
          </a:prstGeom>
          <a:solidFill>
            <a:srgbClr val="500778"/>
          </a:solidFill>
          <a:ln/>
        </p:spPr>
      </p:sp>
      <p:sp>
        <p:nvSpPr>
          <p:cNvPr id="26" name="Text 24"/>
          <p:cNvSpPr/>
          <p:nvPr/>
        </p:nvSpPr>
        <p:spPr>
          <a:xfrm>
            <a:off x="10228936" y="2953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9524848" y="3337560"/>
            <a:ext cx="1737360" cy="54864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Safety-critical</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simulation</a:t>
            </a:r>
            <a:endParaRPr lang="en-US" sz="1200" dirty="0"/>
          </a:p>
        </p:txBody>
      </p:sp>
      <p:sp>
        <p:nvSpPr>
          <p:cNvPr id="28" name="Text 26"/>
          <p:cNvSpPr/>
          <p:nvPr/>
        </p:nvSpPr>
        <p:spPr>
          <a:xfrm>
            <a:off x="548640" y="4114800"/>
            <a:ext cx="10972800" cy="365760"/>
          </a:xfrm>
          <a:prstGeom prst="rect">
            <a:avLst/>
          </a:prstGeom>
          <a:noFill/>
          <a:ln/>
        </p:spPr>
        <p:txBody>
          <a:bodyPr wrap="square" lIns="0" tIns="0" rIns="0" bIns="0" rtlCol="0" anchor="ctr"/>
          <a:lstStyle/>
          <a:p>
            <a:pPr indent="0" marL="0">
              <a:buNone/>
            </a:pPr>
            <a:r>
              <a:rPr lang="en-US" sz="1400" b="1" i="1" dirty="0">
                <a:solidFill>
                  <a:srgbClr val="500778"/>
                </a:solidFill>
                <a:latin typeface="Calibri" pitchFamily="34" charset="0"/>
                <a:ea typeface="Calibri" pitchFamily="34" charset="-122"/>
                <a:cs typeface="Calibri" pitchFamily="34" charset="-120"/>
              </a:rPr>
              <a:t>This project treats the challenge as a research platform — not as a competition submission.</a:t>
            </a:r>
            <a:endParaRPr lang="en-US" sz="1400" dirty="0"/>
          </a:p>
        </p:txBody>
      </p:sp>
      <p:sp>
        <p:nvSpPr>
          <p:cNvPr id="29" name="Text 27"/>
          <p:cNvSpPr/>
          <p:nvPr/>
        </p:nvSpPr>
        <p:spPr>
          <a:xfrm>
            <a:off x="548640" y="4617720"/>
            <a:ext cx="10972800" cy="274320"/>
          </a:xfrm>
          <a:prstGeom prst="rect">
            <a:avLst/>
          </a:prstGeom>
          <a:noFill/>
          <a:ln/>
        </p:spPr>
        <p:txBody>
          <a:bodyPr wrap="square" lIns="0" tIns="0" rIns="0" bIns="0" rtlCol="0" anchor="ctr"/>
          <a:lstStyle/>
          <a:p>
            <a:pPr indent="0" marL="0">
              <a:buNone/>
            </a:pPr>
            <a:r>
              <a:rPr lang="en-US" sz="1000" b="1" dirty="0">
                <a:solidFill>
                  <a:srgbClr val="6B6B6B"/>
                </a:solidFill>
                <a:latin typeface="Calibri" pitchFamily="34" charset="0"/>
                <a:ea typeface="Calibri" pitchFamily="34" charset="-122"/>
                <a:cs typeface="Calibri" pitchFamily="34" charset="-120"/>
              </a:rPr>
              <a:t>WHAT THE PROJECT WILL DELIVER</a:t>
            </a:r>
            <a:endParaRPr lang="en-US" sz="1000" dirty="0"/>
          </a:p>
        </p:txBody>
      </p:sp>
      <p:sp>
        <p:nvSpPr>
          <p:cNvPr id="30" name="Shape 28"/>
          <p:cNvSpPr/>
          <p:nvPr/>
        </p:nvSpPr>
        <p:spPr>
          <a:xfrm>
            <a:off x="548640" y="4937760"/>
            <a:ext cx="3515258" cy="141732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1" name="Shape 29"/>
          <p:cNvSpPr/>
          <p:nvPr/>
        </p:nvSpPr>
        <p:spPr>
          <a:xfrm>
            <a:off x="548640" y="4937760"/>
            <a:ext cx="91440" cy="1417320"/>
          </a:xfrm>
          <a:prstGeom prst="rect">
            <a:avLst/>
          </a:prstGeom>
          <a:solidFill>
            <a:srgbClr val="500778"/>
          </a:solidFill>
          <a:ln/>
        </p:spPr>
      </p:sp>
      <p:sp>
        <p:nvSpPr>
          <p:cNvPr id="32" name="Text 30"/>
          <p:cNvSpPr/>
          <p:nvPr/>
        </p:nvSpPr>
        <p:spPr>
          <a:xfrm>
            <a:off x="777240" y="5102352"/>
            <a:ext cx="548640" cy="274320"/>
          </a:xfrm>
          <a:prstGeom prst="rect">
            <a:avLst/>
          </a:prstGeom>
          <a:noFill/>
          <a:ln/>
        </p:spPr>
        <p:txBody>
          <a:bodyPr wrap="square" lIns="0" tIns="0" rIns="0" bIns="0" rtlCol="0" anchor="ctr"/>
          <a:lstStyle/>
          <a:p>
            <a:pPr indent="0" marL="0">
              <a:buNone/>
            </a:pPr>
            <a:r>
              <a:rPr lang="en-US" sz="1000" b="1" dirty="0">
                <a:solidFill>
                  <a:srgbClr val="500778"/>
                </a:solidFill>
                <a:latin typeface="Calibri" pitchFamily="34" charset="0"/>
                <a:ea typeface="Calibri" pitchFamily="34" charset="-122"/>
                <a:cs typeface="Calibri" pitchFamily="34" charset="-120"/>
              </a:rPr>
              <a:t>01</a:t>
            </a:r>
            <a:endParaRPr lang="en-US" sz="1000" dirty="0"/>
          </a:p>
        </p:txBody>
      </p:sp>
      <p:sp>
        <p:nvSpPr>
          <p:cNvPr id="33" name="Text 31"/>
          <p:cNvSpPr/>
          <p:nvPr/>
        </p:nvSpPr>
        <p:spPr>
          <a:xfrm>
            <a:off x="777240" y="5349240"/>
            <a:ext cx="3149498" cy="32004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Reproducible pipeline</a:t>
            </a:r>
            <a:endParaRPr lang="en-US" sz="1300" dirty="0"/>
          </a:p>
        </p:txBody>
      </p:sp>
      <p:sp>
        <p:nvSpPr>
          <p:cNvPr id="34" name="Text 32"/>
          <p:cNvSpPr/>
          <p:nvPr/>
        </p:nvSpPr>
        <p:spPr>
          <a:xfrm>
            <a:off x="777240" y="5715000"/>
            <a:ext cx="3149498"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WOMD scenarios → Waymax → 32-rollout submission. Three baselines scored against the official meta-metric.</a:t>
            </a:r>
            <a:endParaRPr lang="en-US" sz="1100" dirty="0"/>
          </a:p>
        </p:txBody>
      </p:sp>
      <p:sp>
        <p:nvSpPr>
          <p:cNvPr id="35" name="Shape 33"/>
          <p:cNvSpPr/>
          <p:nvPr/>
        </p:nvSpPr>
        <p:spPr>
          <a:xfrm>
            <a:off x="4338218" y="4937760"/>
            <a:ext cx="3515258" cy="141732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6" name="Shape 34"/>
          <p:cNvSpPr/>
          <p:nvPr/>
        </p:nvSpPr>
        <p:spPr>
          <a:xfrm>
            <a:off x="4338218" y="4937760"/>
            <a:ext cx="91440" cy="1417320"/>
          </a:xfrm>
          <a:prstGeom prst="rect">
            <a:avLst/>
          </a:prstGeom>
          <a:solidFill>
            <a:srgbClr val="500778"/>
          </a:solidFill>
          <a:ln/>
        </p:spPr>
      </p:sp>
      <p:sp>
        <p:nvSpPr>
          <p:cNvPr id="37" name="Text 35"/>
          <p:cNvSpPr/>
          <p:nvPr/>
        </p:nvSpPr>
        <p:spPr>
          <a:xfrm>
            <a:off x="4566818" y="5102352"/>
            <a:ext cx="548640" cy="274320"/>
          </a:xfrm>
          <a:prstGeom prst="rect">
            <a:avLst/>
          </a:prstGeom>
          <a:noFill/>
          <a:ln/>
        </p:spPr>
        <p:txBody>
          <a:bodyPr wrap="square" lIns="0" tIns="0" rIns="0" bIns="0" rtlCol="0" anchor="ctr"/>
          <a:lstStyle/>
          <a:p>
            <a:pPr indent="0" marL="0">
              <a:buNone/>
            </a:pPr>
            <a:r>
              <a:rPr lang="en-US" sz="1000" b="1" dirty="0">
                <a:solidFill>
                  <a:srgbClr val="500778"/>
                </a:solidFill>
                <a:latin typeface="Calibri" pitchFamily="34" charset="0"/>
                <a:ea typeface="Calibri" pitchFamily="34" charset="-122"/>
                <a:cs typeface="Calibri" pitchFamily="34" charset="-120"/>
              </a:rPr>
              <a:t>02</a:t>
            </a:r>
            <a:endParaRPr lang="en-US" sz="1000" dirty="0"/>
          </a:p>
        </p:txBody>
      </p:sp>
      <p:sp>
        <p:nvSpPr>
          <p:cNvPr id="38" name="Text 36"/>
          <p:cNvSpPr/>
          <p:nvPr/>
        </p:nvSpPr>
        <p:spPr>
          <a:xfrm>
            <a:off x="4566818" y="5349240"/>
            <a:ext cx="3149498" cy="32004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Focused sim-agent design</a:t>
            </a:r>
            <a:endParaRPr lang="en-US" sz="1300" dirty="0"/>
          </a:p>
        </p:txBody>
      </p:sp>
      <p:sp>
        <p:nvSpPr>
          <p:cNvPr id="39" name="Text 37"/>
          <p:cNvSpPr/>
          <p:nvPr/>
        </p:nvSpPr>
        <p:spPr>
          <a:xfrm>
            <a:off x="4566818" y="5715000"/>
            <a:ext cx="3149498"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One model targeting a single capability — closed-loop stability, interaction realism, map adherence, or multimodal generation.</a:t>
            </a:r>
            <a:endParaRPr lang="en-US" sz="1100" dirty="0"/>
          </a:p>
        </p:txBody>
      </p:sp>
      <p:sp>
        <p:nvSpPr>
          <p:cNvPr id="40" name="Shape 38"/>
          <p:cNvSpPr/>
          <p:nvPr/>
        </p:nvSpPr>
        <p:spPr>
          <a:xfrm>
            <a:off x="8127797" y="4937760"/>
            <a:ext cx="3515258" cy="141732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41" name="Shape 39"/>
          <p:cNvSpPr/>
          <p:nvPr/>
        </p:nvSpPr>
        <p:spPr>
          <a:xfrm>
            <a:off x="8127797" y="4937760"/>
            <a:ext cx="91440" cy="1417320"/>
          </a:xfrm>
          <a:prstGeom prst="rect">
            <a:avLst/>
          </a:prstGeom>
          <a:solidFill>
            <a:srgbClr val="500778"/>
          </a:solidFill>
          <a:ln/>
        </p:spPr>
      </p:sp>
      <p:sp>
        <p:nvSpPr>
          <p:cNvPr id="42" name="Text 40"/>
          <p:cNvSpPr/>
          <p:nvPr/>
        </p:nvSpPr>
        <p:spPr>
          <a:xfrm>
            <a:off x="8356397" y="5102352"/>
            <a:ext cx="548640" cy="274320"/>
          </a:xfrm>
          <a:prstGeom prst="rect">
            <a:avLst/>
          </a:prstGeom>
          <a:noFill/>
          <a:ln/>
        </p:spPr>
        <p:txBody>
          <a:bodyPr wrap="square" lIns="0" tIns="0" rIns="0" bIns="0" rtlCol="0" anchor="ctr"/>
          <a:lstStyle/>
          <a:p>
            <a:pPr indent="0" marL="0">
              <a:buNone/>
            </a:pPr>
            <a:r>
              <a:rPr lang="en-US" sz="1000" b="1" dirty="0">
                <a:solidFill>
                  <a:srgbClr val="500778"/>
                </a:solidFill>
                <a:latin typeface="Calibri" pitchFamily="34" charset="0"/>
                <a:ea typeface="Calibri" pitchFamily="34" charset="-122"/>
                <a:cs typeface="Calibri" pitchFamily="34" charset="-120"/>
              </a:rPr>
              <a:t>03</a:t>
            </a:r>
            <a:endParaRPr lang="en-US" sz="1000" dirty="0"/>
          </a:p>
        </p:txBody>
      </p:sp>
      <p:sp>
        <p:nvSpPr>
          <p:cNvPr id="43" name="Text 41"/>
          <p:cNvSpPr/>
          <p:nvPr/>
        </p:nvSpPr>
        <p:spPr>
          <a:xfrm>
            <a:off x="8356397" y="5349240"/>
            <a:ext cx="3149498" cy="32004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Failure-mode analysis</a:t>
            </a:r>
            <a:endParaRPr lang="en-US" sz="1300" dirty="0"/>
          </a:p>
        </p:txBody>
      </p:sp>
      <p:sp>
        <p:nvSpPr>
          <p:cNvPr id="44" name="Text 42"/>
          <p:cNvSpPr/>
          <p:nvPr/>
        </p:nvSpPr>
        <p:spPr>
          <a:xfrm>
            <a:off x="8356397" y="5715000"/>
            <a:ext cx="3149498"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Evidence of what the design improves, where it still fails, and how it compares with simple baselines.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Background: why realistic simulation matters</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02</a:t>
            </a:r>
            <a:endParaRPr lang="en-US" sz="1000" dirty="0"/>
          </a:p>
        </p:txBody>
      </p:sp>
      <p:sp>
        <p:nvSpPr>
          <p:cNvPr id="6" name="Shape 4"/>
          <p:cNvSpPr/>
          <p:nvPr/>
        </p:nvSpPr>
        <p:spPr>
          <a:xfrm>
            <a:off x="548640" y="1371600"/>
            <a:ext cx="5394960" cy="347472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7" name="Shape 5"/>
          <p:cNvSpPr/>
          <p:nvPr/>
        </p:nvSpPr>
        <p:spPr>
          <a:xfrm>
            <a:off x="548640" y="1371600"/>
            <a:ext cx="73152" cy="3474720"/>
          </a:xfrm>
          <a:prstGeom prst="rect">
            <a:avLst/>
          </a:prstGeom>
          <a:solidFill>
            <a:srgbClr val="500778"/>
          </a:solidFill>
          <a:ln/>
        </p:spPr>
      </p:sp>
      <p:sp>
        <p:nvSpPr>
          <p:cNvPr id="8" name="Text 6"/>
          <p:cNvSpPr/>
          <p:nvPr/>
        </p:nvSpPr>
        <p:spPr>
          <a:xfrm>
            <a:off x="777240" y="1508760"/>
            <a:ext cx="5029200" cy="457200"/>
          </a:xfrm>
          <a:prstGeom prst="rect">
            <a:avLst/>
          </a:prstGeom>
          <a:noFill/>
          <a:ln/>
        </p:spPr>
        <p:txBody>
          <a:bodyPr wrap="square" lIns="0" tIns="0" rIns="0" bIns="0" rtlCol="0" anchor="ctr"/>
          <a:lstStyle/>
          <a:p>
            <a:pPr indent="0" marL="0">
              <a:buNone/>
            </a:pPr>
            <a:r>
              <a:rPr lang="en-US" sz="1600" b="1" dirty="0">
                <a:solidFill>
                  <a:srgbClr val="500778"/>
                </a:solidFill>
                <a:latin typeface="Calibri" pitchFamily="34" charset="0"/>
                <a:ea typeface="Calibri" pitchFamily="34" charset="-122"/>
                <a:cs typeface="Calibri" pitchFamily="34" charset="-120"/>
              </a:rPr>
              <a:t>Real-world testing alone is not enough</a:t>
            </a:r>
            <a:endParaRPr lang="en-US" sz="1600" dirty="0"/>
          </a:p>
        </p:txBody>
      </p:sp>
      <p:sp>
        <p:nvSpPr>
          <p:cNvPr id="9" name="Text 7"/>
          <p:cNvSpPr/>
          <p:nvPr/>
        </p:nvSpPr>
        <p:spPr>
          <a:xfrm>
            <a:off x="868680" y="2011680"/>
            <a:ext cx="4937760" cy="26517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expensive to scale</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rare or risky scenarios appear infrequently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evaluation feedback is slow and noisy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hard to attribute failures to specific behaviours</a:t>
            </a:r>
            <a:endParaRPr lang="en-US" sz="1300" dirty="0"/>
          </a:p>
        </p:txBody>
      </p:sp>
      <p:sp>
        <p:nvSpPr>
          <p:cNvPr id="10" name="Shape 8"/>
          <p:cNvSpPr/>
          <p:nvPr/>
        </p:nvSpPr>
        <p:spPr>
          <a:xfrm>
            <a:off x="6263640" y="1371600"/>
            <a:ext cx="5394960" cy="347472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1" name="Shape 9"/>
          <p:cNvSpPr/>
          <p:nvPr/>
        </p:nvSpPr>
        <p:spPr>
          <a:xfrm>
            <a:off x="6263640" y="1371600"/>
            <a:ext cx="73152" cy="3474720"/>
          </a:xfrm>
          <a:prstGeom prst="rect">
            <a:avLst/>
          </a:prstGeom>
          <a:solidFill>
            <a:srgbClr val="500778"/>
          </a:solidFill>
          <a:ln/>
        </p:spPr>
      </p:sp>
      <p:sp>
        <p:nvSpPr>
          <p:cNvPr id="12" name="Text 10"/>
          <p:cNvSpPr/>
          <p:nvPr/>
        </p:nvSpPr>
        <p:spPr>
          <a:xfrm>
            <a:off x="6492240" y="1508760"/>
            <a:ext cx="5029200" cy="457200"/>
          </a:xfrm>
          <a:prstGeom prst="rect">
            <a:avLst/>
          </a:prstGeom>
          <a:noFill/>
          <a:ln/>
        </p:spPr>
        <p:txBody>
          <a:bodyPr wrap="square" lIns="0" tIns="0" rIns="0" bIns="0" rtlCol="0" anchor="ctr"/>
          <a:lstStyle/>
          <a:p>
            <a:pPr indent="0" marL="0">
              <a:buNone/>
            </a:pPr>
            <a:r>
              <a:rPr lang="en-US" sz="1600" b="1" dirty="0">
                <a:solidFill>
                  <a:srgbClr val="500778"/>
                </a:solidFill>
                <a:latin typeface="Calibri" pitchFamily="34" charset="0"/>
                <a:ea typeface="Calibri" pitchFamily="34" charset="-122"/>
                <a:cs typeface="Calibri" pitchFamily="34" charset="-120"/>
              </a:rPr>
              <a:t>Simulation provides a scalable alternative</a:t>
            </a:r>
            <a:endParaRPr lang="en-US" sz="1600" dirty="0"/>
          </a:p>
        </p:txBody>
      </p:sp>
      <p:sp>
        <p:nvSpPr>
          <p:cNvPr id="13" name="Text 11"/>
          <p:cNvSpPr/>
          <p:nvPr/>
        </p:nvSpPr>
        <p:spPr>
          <a:xfrm>
            <a:off x="6583680" y="2011680"/>
            <a:ext cx="4937760" cy="26517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test rare or risky scenarios at scale</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evaluate planning and behaviour models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study multi-agent interactions in closed loop</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reduce real-world testing cost</a:t>
            </a:r>
            <a:endParaRPr lang="en-US" sz="1300" dirty="0"/>
          </a:p>
        </p:txBody>
      </p:sp>
      <p:sp>
        <p:nvSpPr>
          <p:cNvPr id="14" name="Shape 12"/>
          <p:cNvSpPr/>
          <p:nvPr/>
        </p:nvSpPr>
        <p:spPr>
          <a:xfrm>
            <a:off x="548640" y="5029200"/>
            <a:ext cx="11094415" cy="777240"/>
          </a:xfrm>
          <a:prstGeom prst="rect">
            <a:avLst/>
          </a:prstGeom>
          <a:solidFill>
            <a:srgbClr val="500778"/>
          </a:solidFill>
          <a:ln/>
        </p:spPr>
      </p:sp>
      <p:sp>
        <p:nvSpPr>
          <p:cNvPr id="15" name="Text 13"/>
          <p:cNvSpPr/>
          <p:nvPr/>
        </p:nvSpPr>
        <p:spPr>
          <a:xfrm>
            <a:off x="777240" y="5029200"/>
            <a:ext cx="10637215" cy="7772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Simulation is useful only if the surrounding agents behave realistically.</a:t>
            </a:r>
            <a:endParaRPr lang="en-US" sz="1400" dirty="0"/>
          </a:p>
        </p:txBody>
      </p:sp>
      <p:sp>
        <p:nvSpPr>
          <p:cNvPr id="16" name="Text 14"/>
          <p:cNvSpPr/>
          <p:nvPr/>
        </p:nvSpPr>
        <p:spPr>
          <a:xfrm>
            <a:off x="548640" y="5989320"/>
            <a:ext cx="1097280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The key problem is not replaying logs, but generating realistic interactive traffic behaviour.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Task: simulating the future traffic world</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03</a:t>
            </a:r>
            <a:endParaRPr lang="en-US" sz="1000" dirty="0"/>
          </a:p>
        </p:txBody>
      </p:sp>
      <p:sp>
        <p:nvSpPr>
          <p:cNvPr id="6" name="Text 4"/>
          <p:cNvSpPr/>
          <p:nvPr/>
        </p:nvSpPr>
        <p:spPr>
          <a:xfrm>
            <a:off x="548640" y="1371600"/>
            <a:ext cx="5486400" cy="274320"/>
          </a:xfrm>
          <a:prstGeom prst="rect">
            <a:avLst/>
          </a:prstGeom>
          <a:noFill/>
          <a:ln/>
        </p:spPr>
        <p:txBody>
          <a:bodyPr wrap="square" lIns="0" tIns="0" rIns="0" bIns="0" rtlCol="0" anchor="ctr"/>
          <a:lstStyle/>
          <a:p>
            <a:pPr indent="0" marL="0">
              <a:buNone/>
            </a:pPr>
            <a:r>
              <a:rPr lang="en-US" sz="1000" b="1" dirty="0">
                <a:solidFill>
                  <a:srgbClr val="6B6B6B"/>
                </a:solidFill>
                <a:latin typeface="Calibri" pitchFamily="34" charset="0"/>
                <a:ea typeface="Calibri" pitchFamily="34" charset="-122"/>
                <a:cs typeface="Calibri" pitchFamily="34" charset="-120"/>
              </a:rPr>
              <a:t>INPUT — PAST 1 SECOND</a:t>
            </a:r>
            <a:endParaRPr lang="en-US" sz="1000" dirty="0"/>
          </a:p>
        </p:txBody>
      </p:sp>
      <p:sp>
        <p:nvSpPr>
          <p:cNvPr id="7" name="Text 5"/>
          <p:cNvSpPr/>
          <p:nvPr/>
        </p:nvSpPr>
        <p:spPr>
          <a:xfrm>
            <a:off x="640080" y="1664208"/>
            <a:ext cx="5212080" cy="141732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Vehicle, pedestrian, cyclist states</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Autonomous-vehicle (ADV) state</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Road map and lane structure</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Traffic-light states</a:t>
            </a:r>
            <a:endParaRPr lang="en-US" sz="1300" dirty="0"/>
          </a:p>
        </p:txBody>
      </p:sp>
      <p:sp>
        <p:nvSpPr>
          <p:cNvPr id="8" name="Shape 6"/>
          <p:cNvSpPr/>
          <p:nvPr/>
        </p:nvSpPr>
        <p:spPr>
          <a:xfrm>
            <a:off x="548640" y="3200400"/>
            <a:ext cx="5349240" cy="502920"/>
          </a:xfrm>
          <a:prstGeom prst="rect">
            <a:avLst/>
          </a:prstGeom>
          <a:solidFill>
            <a:srgbClr val="500778"/>
          </a:solidFill>
          <a:ln/>
          <a:effectLst>
            <a:outerShdw sx="100000" sy="100000" kx="0" ky="0" algn="bl" rotWithShape="0" blurRad="101600" dist="25400" dir="5400000">
              <a:srgbClr val="000000">
                <a:alpha val="10000"/>
              </a:srgbClr>
            </a:outerShdw>
          </a:effectLst>
        </p:spPr>
      </p:sp>
      <p:sp>
        <p:nvSpPr>
          <p:cNvPr id="9" name="Text 7"/>
          <p:cNvSpPr/>
          <p:nvPr/>
        </p:nvSpPr>
        <p:spPr>
          <a:xfrm>
            <a:off x="548640" y="3200400"/>
            <a:ext cx="5349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Sim-agent model</a:t>
            </a:r>
            <a:endParaRPr lang="en-US" sz="1400" dirty="0"/>
          </a:p>
        </p:txBody>
      </p:sp>
      <p:sp>
        <p:nvSpPr>
          <p:cNvPr id="10" name="Text 8"/>
          <p:cNvSpPr/>
          <p:nvPr/>
        </p:nvSpPr>
        <p:spPr>
          <a:xfrm>
            <a:off x="548640" y="3840480"/>
            <a:ext cx="5486400" cy="274320"/>
          </a:xfrm>
          <a:prstGeom prst="rect">
            <a:avLst/>
          </a:prstGeom>
          <a:noFill/>
          <a:ln/>
        </p:spPr>
        <p:txBody>
          <a:bodyPr wrap="square" lIns="0" tIns="0" rIns="0" bIns="0" rtlCol="0" anchor="ctr"/>
          <a:lstStyle/>
          <a:p>
            <a:pPr indent="0" marL="0">
              <a:buNone/>
            </a:pPr>
            <a:r>
              <a:rPr lang="en-US" sz="1000" b="1" dirty="0">
                <a:solidFill>
                  <a:srgbClr val="6B6B6B"/>
                </a:solidFill>
                <a:latin typeface="Calibri" pitchFamily="34" charset="0"/>
                <a:ea typeface="Calibri" pitchFamily="34" charset="-122"/>
                <a:cs typeface="Calibri" pitchFamily="34" charset="-120"/>
              </a:rPr>
              <a:t>OUTPUT — 32 ROLLOUTS × 8 S</a:t>
            </a:r>
            <a:endParaRPr lang="en-US" sz="1000" dirty="0"/>
          </a:p>
        </p:txBody>
      </p:sp>
      <p:sp>
        <p:nvSpPr>
          <p:cNvPr id="11" name="Text 9"/>
          <p:cNvSpPr/>
          <p:nvPr/>
        </p:nvSpPr>
        <p:spPr>
          <a:xfrm>
            <a:off x="640080" y="4133088"/>
            <a:ext cx="5212080" cy="128016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Joint future for all agents (incl. ADV)</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Each agent: x, y, z position + heading</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32 stochastic rollouts per scenario</a:t>
            </a:r>
            <a:endParaRPr lang="en-US" sz="1300" dirty="0"/>
          </a:p>
        </p:txBody>
      </p:sp>
      <p:sp>
        <p:nvSpPr>
          <p:cNvPr id="12" name="Shape 10"/>
          <p:cNvSpPr/>
          <p:nvPr/>
        </p:nvSpPr>
        <p:spPr>
          <a:xfrm>
            <a:off x="5934456" y="1408176"/>
            <a:ext cx="5961888" cy="3401568"/>
          </a:xfrm>
          <a:prstGeom prst="rect">
            <a:avLst/>
          </a:prstGeom>
          <a:solidFill>
            <a:srgbClr val="500778"/>
          </a:solidFill>
          <a:ln/>
        </p:spPr>
      </p:sp>
      <p:pic>
        <p:nvPicPr>
          <p:cNvPr id="13" name="Image 0" descr="/home/uceems7/SimAgents/slides/assets/demonstrate.gif">    </p:cNvPr>
          <p:cNvPicPr>
            <a:picLocks noChangeAspect="1"/>
          </p:cNvPicPr>
          <p:nvPr/>
        </p:nvPicPr>
        <p:blipFill>
          <a:blip r:embed="rId1"/>
          <a:stretch>
            <a:fillRect/>
          </a:stretch>
        </p:blipFill>
        <p:spPr>
          <a:xfrm>
            <a:off x="5989320" y="1463040"/>
            <a:ext cx="5852160" cy="3291840"/>
          </a:xfrm>
          <a:prstGeom prst="rect">
            <a:avLst/>
          </a:prstGeom>
        </p:spPr>
      </p:pic>
      <p:sp>
        <p:nvSpPr>
          <p:cNvPr id="14" name="Text 11"/>
          <p:cNvSpPr/>
          <p:nvPr/>
        </p:nvSpPr>
        <p:spPr>
          <a:xfrm>
            <a:off x="5989320" y="4892040"/>
            <a:ext cx="5852160" cy="36576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Example rollout — each box is a simulated agent (position + heading) over 8 s.</a:t>
            </a:r>
            <a:endParaRPr lang="en-US" sz="1000" dirty="0"/>
          </a:p>
        </p:txBody>
      </p:sp>
      <p:sp>
        <p:nvSpPr>
          <p:cNvPr id="15" name="Text 12"/>
          <p:cNvSpPr/>
          <p:nvPr/>
        </p:nvSpPr>
        <p:spPr>
          <a:xfrm>
            <a:off x="548640" y="5989320"/>
            <a:ext cx="1097280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The model acts as a traffic-world simulator: it generates how the whole scene evolves, not a single trajectory.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Framing: from competition task to sim-agent design problem</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04</a:t>
            </a:r>
            <a:endParaRPr lang="en-US" sz="1000" dirty="0"/>
          </a:p>
        </p:txBody>
      </p:sp>
      <p:sp>
        <p:nvSpPr>
          <p:cNvPr id="6" name="Text 4"/>
          <p:cNvSpPr/>
          <p:nvPr/>
        </p:nvSpPr>
        <p:spPr>
          <a:xfrm>
            <a:off x="548640" y="1280160"/>
            <a:ext cx="10972800" cy="41148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I want to use WOSAC as a controlled benchmark, not as a leaderboard target.</a:t>
            </a:r>
            <a:endParaRPr lang="en-US" sz="1600" dirty="0"/>
          </a:p>
        </p:txBody>
      </p:sp>
      <p:sp>
        <p:nvSpPr>
          <p:cNvPr id="7" name="Shape 5"/>
          <p:cNvSpPr/>
          <p:nvPr/>
        </p:nvSpPr>
        <p:spPr>
          <a:xfrm>
            <a:off x="548640" y="2011680"/>
            <a:ext cx="5364328" cy="32004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8" name="Shape 6"/>
          <p:cNvSpPr/>
          <p:nvPr/>
        </p:nvSpPr>
        <p:spPr>
          <a:xfrm>
            <a:off x="548640" y="2011680"/>
            <a:ext cx="73152" cy="3200400"/>
          </a:xfrm>
          <a:prstGeom prst="rect">
            <a:avLst/>
          </a:prstGeom>
          <a:solidFill>
            <a:srgbClr val="6B6B6B"/>
          </a:solidFill>
          <a:ln/>
        </p:spPr>
      </p:sp>
      <p:sp>
        <p:nvSpPr>
          <p:cNvPr id="9" name="Text 7"/>
          <p:cNvSpPr/>
          <p:nvPr/>
        </p:nvSpPr>
        <p:spPr>
          <a:xfrm>
            <a:off x="777240" y="2240280"/>
            <a:ext cx="4907128" cy="32004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COMPETITION OBJECTIVE</a:t>
            </a:r>
            <a:endParaRPr lang="en-US" sz="1100" dirty="0"/>
          </a:p>
        </p:txBody>
      </p:sp>
      <p:sp>
        <p:nvSpPr>
          <p:cNvPr id="10" name="Text 8"/>
          <p:cNvSpPr/>
          <p:nvPr/>
        </p:nvSpPr>
        <p:spPr>
          <a:xfrm>
            <a:off x="777240" y="2651760"/>
            <a:ext cx="4907128" cy="64008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Submit 32 future rollouts per scenario.</a:t>
            </a:r>
            <a:endParaRPr lang="en-US" sz="1800" dirty="0"/>
          </a:p>
        </p:txBody>
      </p:sp>
      <p:sp>
        <p:nvSpPr>
          <p:cNvPr id="11" name="Text 9"/>
          <p:cNvSpPr/>
          <p:nvPr/>
        </p:nvSpPr>
        <p:spPr>
          <a:xfrm>
            <a:off x="868680" y="3429000"/>
            <a:ext cx="4815688" cy="1554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fixed format and metric</a:t>
            </a:r>
            <a:endParaRPr lang="en-US" sz="1300" dirty="0"/>
          </a:p>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leaderboard ranking</a:t>
            </a:r>
            <a:endParaRPr lang="en-US" sz="1300" dirty="0"/>
          </a:p>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test-set attempts: 3 per 30 days</a:t>
            </a:r>
            <a:endParaRPr lang="en-US" sz="1300" dirty="0"/>
          </a:p>
        </p:txBody>
      </p:sp>
      <p:sp>
        <p:nvSpPr>
          <p:cNvPr id="12" name="Shape 10"/>
          <p:cNvSpPr/>
          <p:nvPr/>
        </p:nvSpPr>
        <p:spPr>
          <a:xfrm>
            <a:off x="6278728" y="2011680"/>
            <a:ext cx="5364328" cy="3200400"/>
          </a:xfrm>
          <a:prstGeom prst="rect">
            <a:avLst/>
          </a:prstGeom>
          <a:solidFill>
            <a:srgbClr val="500778"/>
          </a:solidFill>
          <a:ln/>
          <a:effectLst>
            <a:outerShdw sx="100000" sy="100000" kx="0" ky="0" algn="bl" rotWithShape="0" blurRad="101600" dist="25400" dir="5400000">
              <a:srgbClr val="000000">
                <a:alpha val="10000"/>
              </a:srgbClr>
            </a:outerShdw>
          </a:effectLst>
        </p:spPr>
      </p:sp>
      <p:sp>
        <p:nvSpPr>
          <p:cNvPr id="13" name="Text 11"/>
          <p:cNvSpPr/>
          <p:nvPr/>
        </p:nvSpPr>
        <p:spPr>
          <a:xfrm>
            <a:off x="6507328" y="2240280"/>
            <a:ext cx="4907128" cy="320040"/>
          </a:xfrm>
          <a:prstGeom prst="rect">
            <a:avLst/>
          </a:prstGeom>
          <a:noFill/>
          <a:ln/>
        </p:spPr>
        <p:txBody>
          <a:bodyPr wrap="square" lIns="0" tIns="0" rIns="0" bIns="0" rtlCol="0" anchor="ctr"/>
          <a:lstStyle/>
          <a:p>
            <a:pPr indent="0" marL="0">
              <a:buNone/>
            </a:pPr>
            <a:r>
              <a:rPr lang="en-US" sz="1100" b="1" dirty="0">
                <a:solidFill>
                  <a:srgbClr val="E0D0EE"/>
                </a:solidFill>
                <a:latin typeface="Calibri" pitchFamily="34" charset="0"/>
                <a:ea typeface="Calibri" pitchFamily="34" charset="-122"/>
                <a:cs typeface="Calibri" pitchFamily="34" charset="-120"/>
              </a:rPr>
              <a:t>MY RESEARCH OBJECTIVE</a:t>
            </a:r>
            <a:endParaRPr lang="en-US" sz="1100" dirty="0"/>
          </a:p>
        </p:txBody>
      </p:sp>
      <p:sp>
        <p:nvSpPr>
          <p:cNvPr id="14" name="Text 12"/>
          <p:cNvSpPr/>
          <p:nvPr/>
        </p:nvSpPr>
        <p:spPr>
          <a:xfrm>
            <a:off x="6507328" y="2651760"/>
            <a:ext cx="4907128" cy="10058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Identify one modelling weakness and turn it into a strong sim-agent design.</a:t>
            </a:r>
            <a:endParaRPr lang="en-US" sz="1800" dirty="0"/>
          </a:p>
        </p:txBody>
      </p:sp>
      <p:sp>
        <p:nvSpPr>
          <p:cNvPr id="15" name="Text 13"/>
          <p:cNvSpPr/>
          <p:nvPr/>
        </p:nvSpPr>
        <p:spPr>
          <a:xfrm>
            <a:off x="6598768" y="3703320"/>
            <a:ext cx="4815688" cy="14173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diagnose where baselines fail</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isolate one capability to optimise</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evaluate what the design improves</a:t>
            </a:r>
            <a:endParaRPr lang="en-US" sz="1300" dirty="0"/>
          </a:p>
        </p:txBody>
      </p:sp>
      <p:sp>
        <p:nvSpPr>
          <p:cNvPr id="16" name="Text 14"/>
          <p:cNvSpPr/>
          <p:nvPr/>
        </p:nvSpPr>
        <p:spPr>
          <a:xfrm>
            <a:off x="548640" y="5532120"/>
            <a:ext cx="10972800" cy="45720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WOSAC provides the dataset, simulator, metrics and protocol. My contribution should be a focused model improvement.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Benchmark platform: data, simulator, submission</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05</a:t>
            </a:r>
            <a:endParaRPr lang="en-US" sz="1000" dirty="0"/>
          </a:p>
        </p:txBody>
      </p:sp>
      <p:sp>
        <p:nvSpPr>
          <p:cNvPr id="6" name="Shape 4"/>
          <p:cNvSpPr/>
          <p:nvPr/>
        </p:nvSpPr>
        <p:spPr>
          <a:xfrm>
            <a:off x="548640" y="1325880"/>
            <a:ext cx="5669280" cy="13258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7" name="Shape 5"/>
          <p:cNvSpPr/>
          <p:nvPr/>
        </p:nvSpPr>
        <p:spPr>
          <a:xfrm>
            <a:off x="548640" y="1325880"/>
            <a:ext cx="109728" cy="1325880"/>
          </a:xfrm>
          <a:prstGeom prst="rect">
            <a:avLst/>
          </a:prstGeom>
          <a:solidFill>
            <a:srgbClr val="500778"/>
          </a:solidFill>
          <a:ln/>
        </p:spPr>
      </p:sp>
      <p:sp>
        <p:nvSpPr>
          <p:cNvPr id="8" name="Text 6"/>
          <p:cNvSpPr/>
          <p:nvPr/>
        </p:nvSpPr>
        <p:spPr>
          <a:xfrm>
            <a:off x="822960" y="1463040"/>
            <a:ext cx="5212080" cy="365760"/>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Dataset — Waymo Open Motion Dataset</a:t>
            </a:r>
            <a:endParaRPr lang="en-US" sz="1300" dirty="0"/>
          </a:p>
        </p:txBody>
      </p:sp>
      <p:sp>
        <p:nvSpPr>
          <p:cNvPr id="9" name="Text 7"/>
          <p:cNvSpPr/>
          <p:nvPr/>
        </p:nvSpPr>
        <p:spPr>
          <a:xfrm>
            <a:off x="822960" y="1828800"/>
            <a:ext cx="5212080" cy="7315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Real-world scenarios: agent trajectories, object types, map features, traffic-light states.</a:t>
            </a:r>
            <a:endParaRPr lang="en-US" sz="1200" dirty="0"/>
          </a:p>
        </p:txBody>
      </p:sp>
      <p:sp>
        <p:nvSpPr>
          <p:cNvPr id="10" name="Shape 8"/>
          <p:cNvSpPr/>
          <p:nvPr/>
        </p:nvSpPr>
        <p:spPr>
          <a:xfrm>
            <a:off x="548640" y="2788920"/>
            <a:ext cx="5669280" cy="13258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1" name="Shape 9"/>
          <p:cNvSpPr/>
          <p:nvPr/>
        </p:nvSpPr>
        <p:spPr>
          <a:xfrm>
            <a:off x="548640" y="2788920"/>
            <a:ext cx="109728" cy="1325880"/>
          </a:xfrm>
          <a:prstGeom prst="rect">
            <a:avLst/>
          </a:prstGeom>
          <a:solidFill>
            <a:srgbClr val="500778"/>
          </a:solidFill>
          <a:ln/>
        </p:spPr>
      </p:sp>
      <p:sp>
        <p:nvSpPr>
          <p:cNvPr id="12" name="Text 10"/>
          <p:cNvSpPr/>
          <p:nvPr/>
        </p:nvSpPr>
        <p:spPr>
          <a:xfrm>
            <a:off x="822960" y="2926080"/>
            <a:ext cx="5212080" cy="365760"/>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Simulator — Waymax</a:t>
            </a:r>
            <a:endParaRPr lang="en-US" sz="1300" dirty="0"/>
          </a:p>
        </p:txBody>
      </p:sp>
      <p:sp>
        <p:nvSpPr>
          <p:cNvPr id="13" name="Text 11"/>
          <p:cNvSpPr/>
          <p:nvPr/>
        </p:nvSpPr>
        <p:spPr>
          <a:xfrm>
            <a:off x="822960" y="3291840"/>
            <a:ext cx="5212080" cy="7315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Scenario loading, multi-agent rollout interface, baseline agents, submission generation.</a:t>
            </a:r>
            <a:endParaRPr lang="en-US" sz="1200" dirty="0"/>
          </a:p>
        </p:txBody>
      </p:sp>
      <p:sp>
        <p:nvSpPr>
          <p:cNvPr id="14" name="Shape 12"/>
          <p:cNvSpPr/>
          <p:nvPr/>
        </p:nvSpPr>
        <p:spPr>
          <a:xfrm>
            <a:off x="548640" y="4251960"/>
            <a:ext cx="5669280" cy="13258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5" name="Shape 13"/>
          <p:cNvSpPr/>
          <p:nvPr/>
        </p:nvSpPr>
        <p:spPr>
          <a:xfrm>
            <a:off x="548640" y="4251960"/>
            <a:ext cx="109728" cy="1325880"/>
          </a:xfrm>
          <a:prstGeom prst="rect">
            <a:avLst/>
          </a:prstGeom>
          <a:solidFill>
            <a:srgbClr val="500778"/>
          </a:solidFill>
          <a:ln/>
        </p:spPr>
      </p:sp>
      <p:sp>
        <p:nvSpPr>
          <p:cNvPr id="16" name="Text 14"/>
          <p:cNvSpPr/>
          <p:nvPr/>
        </p:nvSpPr>
        <p:spPr>
          <a:xfrm>
            <a:off x="822960" y="4389120"/>
            <a:ext cx="5212080" cy="365760"/>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Rollout format</a:t>
            </a:r>
            <a:endParaRPr lang="en-US" sz="1300" dirty="0"/>
          </a:p>
        </p:txBody>
      </p:sp>
      <p:sp>
        <p:nvSpPr>
          <p:cNvPr id="17" name="Text 15"/>
          <p:cNvSpPr/>
          <p:nvPr/>
        </p:nvSpPr>
        <p:spPr>
          <a:xfrm>
            <a:off x="822960" y="4754880"/>
            <a:ext cx="5212080" cy="7315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32 rollouts × 8 s (80 steps @ 10 Hz). Position + heading per agent. 150 serialized protos per submission. 3 test-set attempts per 30 days.</a:t>
            </a:r>
            <a:endParaRPr lang="en-US" sz="1200" dirty="0"/>
          </a:p>
        </p:txBody>
      </p:sp>
      <p:sp>
        <p:nvSpPr>
          <p:cNvPr id="18" name="Text 16"/>
          <p:cNvSpPr/>
          <p:nvPr/>
        </p:nvSpPr>
        <p:spPr>
          <a:xfrm>
            <a:off x="6583680" y="1325880"/>
            <a:ext cx="5029200" cy="365760"/>
          </a:xfrm>
          <a:prstGeom prst="rect">
            <a:avLst/>
          </a:prstGeom>
          <a:noFill/>
          <a:ln/>
        </p:spPr>
        <p:txBody>
          <a:bodyPr wrap="square" lIns="0" tIns="0" rIns="0" bIns="0" rtlCol="0" anchor="ctr"/>
          <a:lstStyle/>
          <a:p>
            <a:pPr indent="0" marL="0">
              <a:buNone/>
            </a:pPr>
            <a:r>
              <a:rPr lang="en-US" sz="1400" b="1" dirty="0">
                <a:solidFill>
                  <a:srgbClr val="500778"/>
                </a:solidFill>
                <a:latin typeface="Calibri" pitchFamily="34" charset="0"/>
                <a:ea typeface="Calibri" pitchFamily="34" charset="-122"/>
                <a:cs typeface="Calibri" pitchFamily="34" charset="-120"/>
              </a:rPr>
              <a:t>Required factorization (2025 rule)</a:t>
            </a:r>
            <a:endParaRPr lang="en-US" sz="1400" dirty="0"/>
          </a:p>
        </p:txBody>
      </p:sp>
      <p:pic>
        <p:nvPicPr>
          <p:cNvPr id="19" name="Image 0" descr="/home/uceems7/SimAgents/slides/assets/processed/factorization.png">    </p:cNvPr>
          <p:cNvPicPr>
            <a:picLocks noChangeAspect="1"/>
          </p:cNvPicPr>
          <p:nvPr/>
        </p:nvPicPr>
        <p:blipFill>
          <a:blip r:embed="rId1"/>
          <a:stretch>
            <a:fillRect/>
          </a:stretch>
        </p:blipFill>
        <p:spPr>
          <a:xfrm>
            <a:off x="6583680" y="1737360"/>
            <a:ext cx="5029200" cy="1819691"/>
          </a:xfrm>
          <a:prstGeom prst="rect">
            <a:avLst/>
          </a:prstGeom>
        </p:spPr>
      </p:pic>
      <p:sp>
        <p:nvSpPr>
          <p:cNvPr id="20" name="Text 17"/>
          <p:cNvSpPr/>
          <p:nvPr/>
        </p:nvSpPr>
        <p:spPr>
          <a:xfrm>
            <a:off x="6583680" y="3648491"/>
            <a:ext cx="5029200" cy="91440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ADV (blue) and world (orange) states must be conditionally independent given the previous joint state. Object dimensions are fixed from the final history frame.</a:t>
            </a:r>
            <a:endParaRPr lang="en-US" sz="1100" dirty="0"/>
          </a:p>
        </p:txBody>
      </p:sp>
      <p:sp>
        <p:nvSpPr>
          <p:cNvPr id="21" name="Text 18"/>
          <p:cNvSpPr/>
          <p:nvPr/>
        </p:nvSpPr>
        <p:spPr>
          <a:xfrm>
            <a:off x="548640" y="5989320"/>
            <a:ext cx="1097280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 standardised environment for testing whether a sim-agent design improves realism.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Evaluation: distribution matching, not trajectory error</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06</a:t>
            </a:r>
            <a:endParaRPr lang="en-US" sz="1000" dirty="0"/>
          </a:p>
        </p:txBody>
      </p:sp>
      <p:sp>
        <p:nvSpPr>
          <p:cNvPr id="6" name="Text 4"/>
          <p:cNvSpPr/>
          <p:nvPr/>
        </p:nvSpPr>
        <p:spPr>
          <a:xfrm>
            <a:off x="548640" y="1280160"/>
            <a:ext cx="1097280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WOSAC scores submissions as a distribution-matching problem: the simulated rollout distribution is compared with the real-world distribution.</a:t>
            </a:r>
            <a:endParaRPr lang="en-US" sz="1400" dirty="0"/>
          </a:p>
        </p:txBody>
      </p:sp>
      <p:sp>
        <p:nvSpPr>
          <p:cNvPr id="7" name="Shape 5"/>
          <p:cNvSpPr/>
          <p:nvPr/>
        </p:nvSpPr>
        <p:spPr>
          <a:xfrm>
            <a:off x="548640" y="2194560"/>
            <a:ext cx="3515258" cy="27432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8" name="Shape 6"/>
          <p:cNvSpPr/>
          <p:nvPr/>
        </p:nvSpPr>
        <p:spPr>
          <a:xfrm>
            <a:off x="548640" y="2194560"/>
            <a:ext cx="3515258" cy="164592"/>
          </a:xfrm>
          <a:prstGeom prst="rect">
            <a:avLst/>
          </a:prstGeom>
          <a:solidFill>
            <a:srgbClr val="500778"/>
          </a:solidFill>
          <a:ln/>
        </p:spPr>
      </p:sp>
      <p:sp>
        <p:nvSpPr>
          <p:cNvPr id="9" name="Text 7"/>
          <p:cNvSpPr/>
          <p:nvPr/>
        </p:nvSpPr>
        <p:spPr>
          <a:xfrm>
            <a:off x="777240" y="2468880"/>
            <a:ext cx="305805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Motion realism (kinematic)</a:t>
            </a:r>
            <a:endParaRPr lang="en-US" sz="1500" dirty="0"/>
          </a:p>
        </p:txBody>
      </p:sp>
      <p:sp>
        <p:nvSpPr>
          <p:cNvPr id="10" name="Text 8"/>
          <p:cNvSpPr/>
          <p:nvPr/>
        </p:nvSpPr>
        <p:spPr>
          <a:xfrm>
            <a:off x="777240" y="2971800"/>
            <a:ext cx="3058058" cy="18288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linear speed + acceleration</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angular speed + acceleration</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2025: smoother estimation</a:t>
            </a:r>
            <a:endParaRPr lang="en-US" sz="1200" dirty="0"/>
          </a:p>
        </p:txBody>
      </p:sp>
      <p:sp>
        <p:nvSpPr>
          <p:cNvPr id="11" name="Shape 9"/>
          <p:cNvSpPr/>
          <p:nvPr/>
        </p:nvSpPr>
        <p:spPr>
          <a:xfrm>
            <a:off x="4338218" y="2194560"/>
            <a:ext cx="3515258" cy="27432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2" name="Shape 10"/>
          <p:cNvSpPr/>
          <p:nvPr/>
        </p:nvSpPr>
        <p:spPr>
          <a:xfrm>
            <a:off x="4338218" y="2194560"/>
            <a:ext cx="3515258" cy="164592"/>
          </a:xfrm>
          <a:prstGeom prst="rect">
            <a:avLst/>
          </a:prstGeom>
          <a:solidFill>
            <a:srgbClr val="500778"/>
          </a:solidFill>
          <a:ln/>
        </p:spPr>
      </p:sp>
      <p:sp>
        <p:nvSpPr>
          <p:cNvPr id="13" name="Text 11"/>
          <p:cNvSpPr/>
          <p:nvPr/>
        </p:nvSpPr>
        <p:spPr>
          <a:xfrm>
            <a:off x="4566818" y="2468880"/>
            <a:ext cx="305805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Interaction realism</a:t>
            </a:r>
            <a:endParaRPr lang="en-US" sz="1500" dirty="0"/>
          </a:p>
        </p:txBody>
      </p:sp>
      <p:sp>
        <p:nvSpPr>
          <p:cNvPr id="14" name="Text 12"/>
          <p:cNvSpPr/>
          <p:nvPr/>
        </p:nvSpPr>
        <p:spPr>
          <a:xfrm>
            <a:off x="4566818" y="2971800"/>
            <a:ext cx="3058058" cy="18288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collision (capsule shape — 2025)</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distance to nearest object</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time-to-collision (vehicles; new filter)</a:t>
            </a:r>
            <a:endParaRPr lang="en-US" sz="1200" dirty="0"/>
          </a:p>
        </p:txBody>
      </p:sp>
      <p:sp>
        <p:nvSpPr>
          <p:cNvPr id="15" name="Shape 13"/>
          <p:cNvSpPr/>
          <p:nvPr/>
        </p:nvSpPr>
        <p:spPr>
          <a:xfrm>
            <a:off x="8127797" y="2194560"/>
            <a:ext cx="3515258" cy="27432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6" name="Shape 14"/>
          <p:cNvSpPr/>
          <p:nvPr/>
        </p:nvSpPr>
        <p:spPr>
          <a:xfrm>
            <a:off x="8127797" y="2194560"/>
            <a:ext cx="3515258" cy="164592"/>
          </a:xfrm>
          <a:prstGeom prst="rect">
            <a:avLst/>
          </a:prstGeom>
          <a:solidFill>
            <a:srgbClr val="500778"/>
          </a:solidFill>
          <a:ln/>
        </p:spPr>
      </p:sp>
      <p:sp>
        <p:nvSpPr>
          <p:cNvPr id="17" name="Text 15"/>
          <p:cNvSpPr/>
          <p:nvPr/>
        </p:nvSpPr>
        <p:spPr>
          <a:xfrm>
            <a:off x="8356397" y="2468880"/>
            <a:ext cx="305805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Map adherence</a:t>
            </a:r>
            <a:endParaRPr lang="en-US" sz="1500" dirty="0"/>
          </a:p>
        </p:txBody>
      </p:sp>
      <p:sp>
        <p:nvSpPr>
          <p:cNvPr id="18" name="Text 16"/>
          <p:cNvSpPr/>
          <p:nvPr/>
        </p:nvSpPr>
        <p:spPr>
          <a:xfrm>
            <a:off x="8356397" y="2971800"/>
            <a:ext cx="3058058" cy="18288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off-road behaviour</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distance to road edges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traffic-light violation (2025: NEW)</a:t>
            </a:r>
            <a:endParaRPr lang="en-US" sz="1200" dirty="0"/>
          </a:p>
        </p:txBody>
      </p:sp>
      <p:sp>
        <p:nvSpPr>
          <p:cNvPr id="19" name="Shape 17"/>
          <p:cNvSpPr/>
          <p:nvPr/>
        </p:nvSpPr>
        <p:spPr>
          <a:xfrm>
            <a:off x="548640" y="5120640"/>
            <a:ext cx="11094415" cy="91440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20" name="Text 18"/>
          <p:cNvSpPr/>
          <p:nvPr/>
        </p:nvSpPr>
        <p:spPr>
          <a:xfrm>
            <a:off x="777240" y="5212080"/>
            <a:ext cx="10637215" cy="731520"/>
          </a:xfrm>
          <a:prstGeom prst="rect">
            <a:avLst/>
          </a:prstGeom>
          <a:noFill/>
          <a:ln/>
        </p:spPr>
        <p:txBody>
          <a:bodyPr wrap="square" lIns="0" tIns="0" rIns="0" bIns="0" rtlCol="0" anchor="ctr"/>
          <a:lstStyle/>
          <a:p>
            <a:pPr algn="ctr" indent="0" marL="0">
              <a:buNone/>
            </a:pPr>
            <a:r>
              <a:rPr lang="en-US" sz="1400" b="1" spc="100" kern="0" dirty="0">
                <a:solidFill>
                  <a:srgbClr val="500778"/>
                </a:solidFill>
                <a:latin typeface="Calibri" pitchFamily="34" charset="0"/>
                <a:ea typeface="Calibri" pitchFamily="34" charset="-122"/>
                <a:cs typeface="Calibri" pitchFamily="34" charset="-120"/>
              </a:rPr>
              <a:t>per-feature negative log-likelihood   →   weighted-mean meta-metric   →   higher = more realistic</a:t>
            </a:r>
            <a:endParaRPr lang="en-US" sz="1400" dirty="0"/>
          </a:p>
        </p:txBody>
      </p:sp>
      <p:sp>
        <p:nvSpPr>
          <p:cNvPr id="21" name="Text 19"/>
          <p:cNvSpPr/>
          <p:nvPr/>
        </p:nvSpPr>
        <p:spPr>
          <a:xfrm>
            <a:off x="548640" y="6172200"/>
            <a:ext cx="10972800" cy="27432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2025 metric updates mean older leaderboard scores are not directly comparable.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Candidate optimisation points</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07</a:t>
            </a:r>
            <a:endParaRPr lang="en-US" sz="1000" dirty="0"/>
          </a:p>
        </p:txBody>
      </p:sp>
      <p:sp>
        <p:nvSpPr>
          <p:cNvPr id="6" name="Text 4"/>
          <p:cNvSpPr/>
          <p:nvPr/>
        </p:nvSpPr>
        <p:spPr>
          <a:xfrm>
            <a:off x="548640" y="1188720"/>
            <a:ext cx="10972800" cy="36576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Four directions where baseline sim agents typically fail — the project should pick one.</a:t>
            </a:r>
            <a:endParaRPr lang="en-US" sz="1300" dirty="0"/>
          </a:p>
        </p:txBody>
      </p:sp>
      <p:sp>
        <p:nvSpPr>
          <p:cNvPr id="7" name="Shape 5"/>
          <p:cNvSpPr/>
          <p:nvPr/>
        </p:nvSpPr>
        <p:spPr>
          <a:xfrm>
            <a:off x="548640" y="1691640"/>
            <a:ext cx="5410048" cy="224028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8" name="Shape 6"/>
          <p:cNvSpPr/>
          <p:nvPr/>
        </p:nvSpPr>
        <p:spPr>
          <a:xfrm>
            <a:off x="822960" y="1965960"/>
            <a:ext cx="594360" cy="594360"/>
          </a:xfrm>
          <a:prstGeom prst="ellipse">
            <a:avLst/>
          </a:prstGeom>
          <a:solidFill>
            <a:srgbClr val="500778"/>
          </a:solidFill>
          <a:ln/>
        </p:spPr>
      </p:sp>
      <p:sp>
        <p:nvSpPr>
          <p:cNvPr id="9" name="Text 7"/>
          <p:cNvSpPr/>
          <p:nvPr/>
        </p:nvSpPr>
        <p:spPr>
          <a:xfrm>
            <a:off x="822960" y="19659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0" name="Text 8"/>
          <p:cNvSpPr/>
          <p:nvPr/>
        </p:nvSpPr>
        <p:spPr>
          <a:xfrm>
            <a:off x="1508760" y="1984248"/>
            <a:ext cx="4221328" cy="548640"/>
          </a:xfrm>
          <a:prstGeom prst="rect">
            <a:avLst/>
          </a:prstGeom>
          <a:noFill/>
          <a:ln/>
        </p:spPr>
        <p:txBody>
          <a:bodyPr wrap="square" lIns="0" tIns="0" rIns="0" bIns="0" rtlCol="0" anchor="ctr"/>
          <a:lstStyle/>
          <a:p>
            <a:pPr indent="0" marL="0">
              <a:buNone/>
            </a:pPr>
            <a:r>
              <a:rPr lang="en-US" sz="1700" b="1" dirty="0">
                <a:solidFill>
                  <a:srgbClr val="500778"/>
                </a:solidFill>
                <a:latin typeface="Calibri" pitchFamily="34" charset="0"/>
                <a:ea typeface="Calibri" pitchFamily="34" charset="-122"/>
                <a:cs typeface="Calibri" pitchFamily="34" charset="-120"/>
              </a:rPr>
              <a:t>Closed-loop stability</a:t>
            </a:r>
            <a:endParaRPr lang="en-US" sz="1700" dirty="0"/>
          </a:p>
        </p:txBody>
      </p:sp>
      <p:sp>
        <p:nvSpPr>
          <p:cNvPr id="11" name="Text 9"/>
          <p:cNvSpPr/>
          <p:nvPr/>
        </p:nvSpPr>
        <p:spPr>
          <a:xfrm>
            <a:off x="822960" y="265176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PROBLEM</a:t>
            </a:r>
            <a:endParaRPr lang="en-US" sz="900" dirty="0"/>
          </a:p>
        </p:txBody>
      </p:sp>
      <p:sp>
        <p:nvSpPr>
          <p:cNvPr id="12" name="Text 10"/>
          <p:cNvSpPr/>
          <p:nvPr/>
        </p:nvSpPr>
        <p:spPr>
          <a:xfrm>
            <a:off x="822960" y="2880360"/>
            <a:ext cx="4861408" cy="5029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Small one-step errors accumulate over 80 steps.</a:t>
            </a:r>
            <a:endParaRPr lang="en-US" sz="1200" dirty="0"/>
          </a:p>
        </p:txBody>
      </p:sp>
      <p:sp>
        <p:nvSpPr>
          <p:cNvPr id="13" name="Text 11"/>
          <p:cNvSpPr/>
          <p:nvPr/>
        </p:nvSpPr>
        <p:spPr>
          <a:xfrm>
            <a:off x="822960" y="338328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POSSIBLE FOCUS</a:t>
            </a:r>
            <a:endParaRPr lang="en-US" sz="900" dirty="0"/>
          </a:p>
        </p:txBody>
      </p:sp>
      <p:sp>
        <p:nvSpPr>
          <p:cNvPr id="14" name="Text 12"/>
          <p:cNvSpPr/>
          <p:nvPr/>
        </p:nvSpPr>
        <p:spPr>
          <a:xfrm>
            <a:off x="822960" y="3611880"/>
            <a:ext cx="4861408" cy="292608"/>
          </a:xfrm>
          <a:prstGeom prst="rect">
            <a:avLst/>
          </a:prstGeom>
          <a:noFill/>
          <a:ln/>
        </p:spPr>
        <p:txBody>
          <a:bodyPr wrap="square" lIns="0" tIns="0" rIns="0" bIns="0" rtlCol="0" anchor="ctr"/>
          <a:lstStyle/>
          <a:p>
            <a:pPr indent="0" marL="0">
              <a:buNone/>
            </a:pPr>
            <a:r>
              <a:rPr lang="en-US" sz="1200" i="1" dirty="0">
                <a:solidFill>
                  <a:srgbClr val="500778"/>
                </a:solidFill>
                <a:latin typeface="Calibri" pitchFamily="34" charset="0"/>
                <a:ea typeface="Calibri" pitchFamily="34" charset="-122"/>
                <a:cs typeface="Calibri" pitchFamily="34" charset="-120"/>
              </a:rPr>
              <a:t>Train a model that stays stable during long autoregressive rollout.</a:t>
            </a:r>
            <a:endParaRPr lang="en-US" sz="1200" dirty="0"/>
          </a:p>
        </p:txBody>
      </p:sp>
      <p:sp>
        <p:nvSpPr>
          <p:cNvPr id="15" name="Shape 13"/>
          <p:cNvSpPr/>
          <p:nvPr/>
        </p:nvSpPr>
        <p:spPr>
          <a:xfrm>
            <a:off x="6233008" y="1691640"/>
            <a:ext cx="5410048" cy="224028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6" name="Shape 14"/>
          <p:cNvSpPr/>
          <p:nvPr/>
        </p:nvSpPr>
        <p:spPr>
          <a:xfrm>
            <a:off x="6507328" y="1965960"/>
            <a:ext cx="594360" cy="594360"/>
          </a:xfrm>
          <a:prstGeom prst="ellipse">
            <a:avLst/>
          </a:prstGeom>
          <a:solidFill>
            <a:srgbClr val="500778"/>
          </a:solidFill>
          <a:ln/>
        </p:spPr>
      </p:sp>
      <p:sp>
        <p:nvSpPr>
          <p:cNvPr id="17" name="Text 15"/>
          <p:cNvSpPr/>
          <p:nvPr/>
        </p:nvSpPr>
        <p:spPr>
          <a:xfrm>
            <a:off x="6507328" y="19659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8" name="Text 16"/>
          <p:cNvSpPr/>
          <p:nvPr/>
        </p:nvSpPr>
        <p:spPr>
          <a:xfrm>
            <a:off x="7193128" y="1984248"/>
            <a:ext cx="4221328" cy="548640"/>
          </a:xfrm>
          <a:prstGeom prst="rect">
            <a:avLst/>
          </a:prstGeom>
          <a:noFill/>
          <a:ln/>
        </p:spPr>
        <p:txBody>
          <a:bodyPr wrap="square" lIns="0" tIns="0" rIns="0" bIns="0" rtlCol="0" anchor="ctr"/>
          <a:lstStyle/>
          <a:p>
            <a:pPr indent="0" marL="0">
              <a:buNone/>
            </a:pPr>
            <a:r>
              <a:rPr lang="en-US" sz="1700" b="1" dirty="0">
                <a:solidFill>
                  <a:srgbClr val="500778"/>
                </a:solidFill>
                <a:latin typeface="Calibri" pitchFamily="34" charset="0"/>
                <a:ea typeface="Calibri" pitchFamily="34" charset="-122"/>
                <a:cs typeface="Calibri" pitchFamily="34" charset="-120"/>
              </a:rPr>
              <a:t>Interaction realism</a:t>
            </a:r>
            <a:endParaRPr lang="en-US" sz="1700" dirty="0"/>
          </a:p>
        </p:txBody>
      </p:sp>
      <p:sp>
        <p:nvSpPr>
          <p:cNvPr id="19" name="Text 17"/>
          <p:cNvSpPr/>
          <p:nvPr/>
        </p:nvSpPr>
        <p:spPr>
          <a:xfrm>
            <a:off x="6507328" y="265176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PROBLEM</a:t>
            </a:r>
            <a:endParaRPr lang="en-US" sz="900" dirty="0"/>
          </a:p>
        </p:txBody>
      </p:sp>
      <p:sp>
        <p:nvSpPr>
          <p:cNvPr id="20" name="Text 18"/>
          <p:cNvSpPr/>
          <p:nvPr/>
        </p:nvSpPr>
        <p:spPr>
          <a:xfrm>
            <a:off x="6507328" y="2880360"/>
            <a:ext cx="4861408" cy="5029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Independent prediction causes collisions or unrealistic yielding.</a:t>
            </a:r>
            <a:endParaRPr lang="en-US" sz="1200" dirty="0"/>
          </a:p>
        </p:txBody>
      </p:sp>
      <p:sp>
        <p:nvSpPr>
          <p:cNvPr id="21" name="Text 19"/>
          <p:cNvSpPr/>
          <p:nvPr/>
        </p:nvSpPr>
        <p:spPr>
          <a:xfrm>
            <a:off x="6507328" y="338328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POSSIBLE FOCUS</a:t>
            </a:r>
            <a:endParaRPr lang="en-US" sz="900" dirty="0"/>
          </a:p>
        </p:txBody>
      </p:sp>
      <p:sp>
        <p:nvSpPr>
          <p:cNvPr id="22" name="Text 20"/>
          <p:cNvSpPr/>
          <p:nvPr/>
        </p:nvSpPr>
        <p:spPr>
          <a:xfrm>
            <a:off x="6507328" y="3611880"/>
            <a:ext cx="4861408" cy="292608"/>
          </a:xfrm>
          <a:prstGeom prst="rect">
            <a:avLst/>
          </a:prstGeom>
          <a:noFill/>
          <a:ln/>
        </p:spPr>
        <p:txBody>
          <a:bodyPr wrap="square" lIns="0" tIns="0" rIns="0" bIns="0" rtlCol="0" anchor="ctr"/>
          <a:lstStyle/>
          <a:p>
            <a:pPr indent="0" marL="0">
              <a:buNone/>
            </a:pPr>
            <a:r>
              <a:rPr lang="en-US" sz="1200" i="1" dirty="0">
                <a:solidFill>
                  <a:srgbClr val="500778"/>
                </a:solidFill>
                <a:latin typeface="Calibri" pitchFamily="34" charset="0"/>
                <a:ea typeface="Calibri" pitchFamily="34" charset="-122"/>
                <a:cs typeface="Calibri" pitchFamily="34" charset="-120"/>
              </a:rPr>
              <a:t>Agent–agent attention or graph-based interaction modelling.</a:t>
            </a:r>
            <a:endParaRPr lang="en-US" sz="1200" dirty="0"/>
          </a:p>
        </p:txBody>
      </p:sp>
      <p:sp>
        <p:nvSpPr>
          <p:cNvPr id="23" name="Shape 21"/>
          <p:cNvSpPr/>
          <p:nvPr/>
        </p:nvSpPr>
        <p:spPr>
          <a:xfrm>
            <a:off x="548640" y="4114800"/>
            <a:ext cx="5410048" cy="224028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24" name="Shape 22"/>
          <p:cNvSpPr/>
          <p:nvPr/>
        </p:nvSpPr>
        <p:spPr>
          <a:xfrm>
            <a:off x="822960" y="4389120"/>
            <a:ext cx="594360" cy="594360"/>
          </a:xfrm>
          <a:prstGeom prst="ellipse">
            <a:avLst/>
          </a:prstGeom>
          <a:solidFill>
            <a:srgbClr val="500778"/>
          </a:solidFill>
          <a:ln/>
        </p:spPr>
      </p:sp>
      <p:sp>
        <p:nvSpPr>
          <p:cNvPr id="25" name="Text 23"/>
          <p:cNvSpPr/>
          <p:nvPr/>
        </p:nvSpPr>
        <p:spPr>
          <a:xfrm>
            <a:off x="822960" y="43891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26" name="Text 24"/>
          <p:cNvSpPr/>
          <p:nvPr/>
        </p:nvSpPr>
        <p:spPr>
          <a:xfrm>
            <a:off x="1508760" y="4407408"/>
            <a:ext cx="4221328" cy="548640"/>
          </a:xfrm>
          <a:prstGeom prst="rect">
            <a:avLst/>
          </a:prstGeom>
          <a:noFill/>
          <a:ln/>
        </p:spPr>
        <p:txBody>
          <a:bodyPr wrap="square" lIns="0" tIns="0" rIns="0" bIns="0" rtlCol="0" anchor="ctr"/>
          <a:lstStyle/>
          <a:p>
            <a:pPr indent="0" marL="0">
              <a:buNone/>
            </a:pPr>
            <a:r>
              <a:rPr lang="en-US" sz="1700" b="1" dirty="0">
                <a:solidFill>
                  <a:srgbClr val="500778"/>
                </a:solidFill>
                <a:latin typeface="Calibri" pitchFamily="34" charset="0"/>
                <a:ea typeface="Calibri" pitchFamily="34" charset="-122"/>
                <a:cs typeface="Calibri" pitchFamily="34" charset="-120"/>
              </a:rPr>
              <a:t>Map adherence</a:t>
            </a:r>
            <a:endParaRPr lang="en-US" sz="1700" dirty="0"/>
          </a:p>
        </p:txBody>
      </p:sp>
      <p:sp>
        <p:nvSpPr>
          <p:cNvPr id="27" name="Text 25"/>
          <p:cNvSpPr/>
          <p:nvPr/>
        </p:nvSpPr>
        <p:spPr>
          <a:xfrm>
            <a:off x="822960" y="507492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PROBLEM</a:t>
            </a:r>
            <a:endParaRPr lang="en-US" sz="900" dirty="0"/>
          </a:p>
        </p:txBody>
      </p:sp>
      <p:sp>
        <p:nvSpPr>
          <p:cNvPr id="28" name="Text 26"/>
          <p:cNvSpPr/>
          <p:nvPr/>
        </p:nvSpPr>
        <p:spPr>
          <a:xfrm>
            <a:off x="822960" y="5303520"/>
            <a:ext cx="4861408" cy="5029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Agents drift off-road or violate lane / traffic constraints.</a:t>
            </a:r>
            <a:endParaRPr lang="en-US" sz="1200" dirty="0"/>
          </a:p>
        </p:txBody>
      </p:sp>
      <p:sp>
        <p:nvSpPr>
          <p:cNvPr id="29" name="Text 27"/>
          <p:cNvSpPr/>
          <p:nvPr/>
        </p:nvSpPr>
        <p:spPr>
          <a:xfrm>
            <a:off x="822960" y="580644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POSSIBLE FOCUS</a:t>
            </a:r>
            <a:endParaRPr lang="en-US" sz="900" dirty="0"/>
          </a:p>
        </p:txBody>
      </p:sp>
      <p:sp>
        <p:nvSpPr>
          <p:cNvPr id="30" name="Text 28"/>
          <p:cNvSpPr/>
          <p:nvPr/>
        </p:nvSpPr>
        <p:spPr>
          <a:xfrm>
            <a:off x="822960" y="6035040"/>
            <a:ext cx="4861408" cy="292608"/>
          </a:xfrm>
          <a:prstGeom prst="rect">
            <a:avLst/>
          </a:prstGeom>
          <a:noFill/>
          <a:ln/>
        </p:spPr>
        <p:txBody>
          <a:bodyPr wrap="square" lIns="0" tIns="0" rIns="0" bIns="0" rtlCol="0" anchor="ctr"/>
          <a:lstStyle/>
          <a:p>
            <a:pPr indent="0" marL="0">
              <a:buNone/>
            </a:pPr>
            <a:r>
              <a:rPr lang="en-US" sz="1200" i="1" dirty="0">
                <a:solidFill>
                  <a:srgbClr val="500778"/>
                </a:solidFill>
                <a:latin typeface="Calibri" pitchFamily="34" charset="0"/>
                <a:ea typeface="Calibri" pitchFamily="34" charset="-122"/>
                <a:cs typeface="Calibri" pitchFamily="34" charset="-120"/>
              </a:rPr>
              <a:t>Map-conditioned decoding or constraint-aware rollout.</a:t>
            </a:r>
            <a:endParaRPr lang="en-US" sz="1200" dirty="0"/>
          </a:p>
        </p:txBody>
      </p:sp>
      <p:sp>
        <p:nvSpPr>
          <p:cNvPr id="31" name="Shape 29"/>
          <p:cNvSpPr/>
          <p:nvPr/>
        </p:nvSpPr>
        <p:spPr>
          <a:xfrm>
            <a:off x="6233008" y="4114800"/>
            <a:ext cx="5410048" cy="224028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2" name="Shape 30"/>
          <p:cNvSpPr/>
          <p:nvPr/>
        </p:nvSpPr>
        <p:spPr>
          <a:xfrm>
            <a:off x="6507328" y="4389120"/>
            <a:ext cx="594360" cy="594360"/>
          </a:xfrm>
          <a:prstGeom prst="ellipse">
            <a:avLst/>
          </a:prstGeom>
          <a:solidFill>
            <a:srgbClr val="500778"/>
          </a:solidFill>
          <a:ln/>
        </p:spPr>
      </p:sp>
      <p:sp>
        <p:nvSpPr>
          <p:cNvPr id="33" name="Text 31"/>
          <p:cNvSpPr/>
          <p:nvPr/>
        </p:nvSpPr>
        <p:spPr>
          <a:xfrm>
            <a:off x="6507328" y="43891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34" name="Text 32"/>
          <p:cNvSpPr/>
          <p:nvPr/>
        </p:nvSpPr>
        <p:spPr>
          <a:xfrm>
            <a:off x="7193128" y="4407408"/>
            <a:ext cx="4221328" cy="548640"/>
          </a:xfrm>
          <a:prstGeom prst="rect">
            <a:avLst/>
          </a:prstGeom>
          <a:noFill/>
          <a:ln/>
        </p:spPr>
        <p:txBody>
          <a:bodyPr wrap="square" lIns="0" tIns="0" rIns="0" bIns="0" rtlCol="0" anchor="ctr"/>
          <a:lstStyle/>
          <a:p>
            <a:pPr indent="0" marL="0">
              <a:buNone/>
            </a:pPr>
            <a:r>
              <a:rPr lang="en-US" sz="1700" b="1" dirty="0">
                <a:solidFill>
                  <a:srgbClr val="500778"/>
                </a:solidFill>
                <a:latin typeface="Calibri" pitchFamily="34" charset="0"/>
                <a:ea typeface="Calibri" pitchFamily="34" charset="-122"/>
                <a:cs typeface="Calibri" pitchFamily="34" charset="-120"/>
              </a:rPr>
              <a:t>Multimodal generation</a:t>
            </a:r>
            <a:endParaRPr lang="en-US" sz="1700" dirty="0"/>
          </a:p>
        </p:txBody>
      </p:sp>
      <p:sp>
        <p:nvSpPr>
          <p:cNvPr id="35" name="Text 33"/>
          <p:cNvSpPr/>
          <p:nvPr/>
        </p:nvSpPr>
        <p:spPr>
          <a:xfrm>
            <a:off x="6507328" y="507492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PROBLEM</a:t>
            </a:r>
            <a:endParaRPr lang="en-US" sz="900" dirty="0"/>
          </a:p>
        </p:txBody>
      </p:sp>
      <p:sp>
        <p:nvSpPr>
          <p:cNvPr id="36" name="Text 34"/>
          <p:cNvSpPr/>
          <p:nvPr/>
        </p:nvSpPr>
        <p:spPr>
          <a:xfrm>
            <a:off x="6507328" y="5303520"/>
            <a:ext cx="4861408" cy="5029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One deterministic future cannot represent real-world uncertainty.</a:t>
            </a:r>
            <a:endParaRPr lang="en-US" sz="1200" dirty="0"/>
          </a:p>
        </p:txBody>
      </p:sp>
      <p:sp>
        <p:nvSpPr>
          <p:cNvPr id="37" name="Text 35"/>
          <p:cNvSpPr/>
          <p:nvPr/>
        </p:nvSpPr>
        <p:spPr>
          <a:xfrm>
            <a:off x="6507328" y="5806440"/>
            <a:ext cx="486140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POSSIBLE FOCUS</a:t>
            </a:r>
            <a:endParaRPr lang="en-US" sz="900" dirty="0"/>
          </a:p>
        </p:txBody>
      </p:sp>
      <p:sp>
        <p:nvSpPr>
          <p:cNvPr id="38" name="Text 36"/>
          <p:cNvSpPr/>
          <p:nvPr/>
        </p:nvSpPr>
        <p:spPr>
          <a:xfrm>
            <a:off x="6507328" y="6035040"/>
            <a:ext cx="4861408" cy="292608"/>
          </a:xfrm>
          <a:prstGeom prst="rect">
            <a:avLst/>
          </a:prstGeom>
          <a:noFill/>
          <a:ln/>
        </p:spPr>
        <p:txBody>
          <a:bodyPr wrap="square" lIns="0" tIns="0" rIns="0" bIns="0" rtlCol="0" anchor="ctr"/>
          <a:lstStyle/>
          <a:p>
            <a:pPr indent="0" marL="0">
              <a:buNone/>
            </a:pPr>
            <a:r>
              <a:rPr lang="en-US" sz="1200" i="1" dirty="0">
                <a:solidFill>
                  <a:srgbClr val="500778"/>
                </a:solidFill>
                <a:latin typeface="Calibri" pitchFamily="34" charset="0"/>
                <a:ea typeface="Calibri" pitchFamily="34" charset="-122"/>
                <a:cs typeface="Calibri" pitchFamily="34" charset="-120"/>
              </a:rPr>
              <a:t>Latent / mixture / token-based sampling for diverse rollouts.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Proposed initial focus: stable, interaction-aware sim agents</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08</a:t>
            </a:r>
            <a:endParaRPr lang="en-US" sz="1000" dirty="0"/>
          </a:p>
        </p:txBody>
      </p:sp>
      <p:sp>
        <p:nvSpPr>
          <p:cNvPr id="6" name="Shape 4"/>
          <p:cNvSpPr/>
          <p:nvPr/>
        </p:nvSpPr>
        <p:spPr>
          <a:xfrm>
            <a:off x="548640" y="1280160"/>
            <a:ext cx="11094415" cy="1280160"/>
          </a:xfrm>
          <a:prstGeom prst="rect">
            <a:avLst/>
          </a:prstGeom>
          <a:solidFill>
            <a:srgbClr val="500778"/>
          </a:solidFill>
          <a:ln/>
          <a:effectLst>
            <a:outerShdw sx="100000" sy="100000" kx="0" ky="0" algn="bl" rotWithShape="0" blurRad="101600" dist="25400" dir="5400000">
              <a:srgbClr val="000000">
                <a:alpha val="10000"/>
              </a:srgbClr>
            </a:outerShdw>
          </a:effectLst>
        </p:spPr>
      </p:sp>
      <p:sp>
        <p:nvSpPr>
          <p:cNvPr id="7" name="Text 5"/>
          <p:cNvSpPr/>
          <p:nvPr/>
        </p:nvSpPr>
        <p:spPr>
          <a:xfrm>
            <a:off x="822960" y="1417320"/>
            <a:ext cx="10545775" cy="10058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good sim agent must remain stable and socially plausible across an 80-step closed-loop rollout — not just predict the next position accurately.</a:t>
            </a:r>
            <a:endParaRPr lang="en-US" sz="1800" dirty="0"/>
          </a:p>
        </p:txBody>
      </p:sp>
      <p:sp>
        <p:nvSpPr>
          <p:cNvPr id="8" name="Shape 6"/>
          <p:cNvSpPr/>
          <p:nvPr/>
        </p:nvSpPr>
        <p:spPr>
          <a:xfrm>
            <a:off x="548640" y="2926080"/>
            <a:ext cx="2567864" cy="15544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9" name="Shape 7"/>
          <p:cNvSpPr/>
          <p:nvPr/>
        </p:nvSpPr>
        <p:spPr>
          <a:xfrm>
            <a:off x="777240" y="3154680"/>
            <a:ext cx="411480" cy="411480"/>
          </a:xfrm>
          <a:prstGeom prst="ellipse">
            <a:avLst/>
          </a:prstGeom>
          <a:solidFill>
            <a:srgbClr val="500778"/>
          </a:solidFill>
          <a:ln/>
        </p:spPr>
      </p:sp>
      <p:sp>
        <p:nvSpPr>
          <p:cNvPr id="10" name="Text 8"/>
          <p:cNvSpPr/>
          <p:nvPr/>
        </p:nvSpPr>
        <p:spPr>
          <a:xfrm>
            <a:off x="77724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777240" y="3703320"/>
            <a:ext cx="211066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Autoregressive sim-agent model</a:t>
            </a:r>
            <a:endParaRPr lang="en-US" sz="1400" dirty="0"/>
          </a:p>
        </p:txBody>
      </p:sp>
      <p:sp>
        <p:nvSpPr>
          <p:cNvPr id="12" name="Shape 10"/>
          <p:cNvSpPr/>
          <p:nvPr/>
        </p:nvSpPr>
        <p:spPr>
          <a:xfrm>
            <a:off x="3390824" y="2926080"/>
            <a:ext cx="2567864" cy="15544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3" name="Shape 11"/>
          <p:cNvSpPr/>
          <p:nvPr/>
        </p:nvSpPr>
        <p:spPr>
          <a:xfrm>
            <a:off x="3619424" y="3154680"/>
            <a:ext cx="411480" cy="411480"/>
          </a:xfrm>
          <a:prstGeom prst="ellipse">
            <a:avLst/>
          </a:prstGeom>
          <a:solidFill>
            <a:srgbClr val="500778"/>
          </a:solidFill>
          <a:ln/>
        </p:spPr>
      </p:sp>
      <p:sp>
        <p:nvSpPr>
          <p:cNvPr id="14" name="Text 12"/>
          <p:cNvSpPr/>
          <p:nvPr/>
        </p:nvSpPr>
        <p:spPr>
          <a:xfrm>
            <a:off x="3619424"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619424" y="3703320"/>
            <a:ext cx="211066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Agent–agent interaction encoding</a:t>
            </a:r>
            <a:endParaRPr lang="en-US" sz="1400" dirty="0"/>
          </a:p>
        </p:txBody>
      </p:sp>
      <p:sp>
        <p:nvSpPr>
          <p:cNvPr id="16" name="Shape 14"/>
          <p:cNvSpPr/>
          <p:nvPr/>
        </p:nvSpPr>
        <p:spPr>
          <a:xfrm>
            <a:off x="6233008" y="2926080"/>
            <a:ext cx="2567864" cy="15544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7" name="Shape 15"/>
          <p:cNvSpPr/>
          <p:nvPr/>
        </p:nvSpPr>
        <p:spPr>
          <a:xfrm>
            <a:off x="6461608" y="3154680"/>
            <a:ext cx="411480" cy="411480"/>
          </a:xfrm>
          <a:prstGeom prst="ellipse">
            <a:avLst/>
          </a:prstGeom>
          <a:solidFill>
            <a:srgbClr val="500778"/>
          </a:solidFill>
          <a:ln/>
        </p:spPr>
      </p:sp>
      <p:sp>
        <p:nvSpPr>
          <p:cNvPr id="18" name="Text 16"/>
          <p:cNvSpPr/>
          <p:nvPr/>
        </p:nvSpPr>
        <p:spPr>
          <a:xfrm>
            <a:off x="6461608"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461608" y="3703320"/>
            <a:ext cx="211066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Map-conditioned state update</a:t>
            </a:r>
            <a:endParaRPr lang="en-US" sz="1400" dirty="0"/>
          </a:p>
        </p:txBody>
      </p:sp>
      <p:sp>
        <p:nvSpPr>
          <p:cNvPr id="20" name="Shape 18"/>
          <p:cNvSpPr/>
          <p:nvPr/>
        </p:nvSpPr>
        <p:spPr>
          <a:xfrm>
            <a:off x="9075191" y="2926080"/>
            <a:ext cx="2567864" cy="15544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21" name="Shape 19"/>
          <p:cNvSpPr/>
          <p:nvPr/>
        </p:nvSpPr>
        <p:spPr>
          <a:xfrm>
            <a:off x="9303791" y="3154680"/>
            <a:ext cx="411480" cy="411480"/>
          </a:xfrm>
          <a:prstGeom prst="ellipse">
            <a:avLst/>
          </a:prstGeom>
          <a:solidFill>
            <a:srgbClr val="500778"/>
          </a:solidFill>
          <a:ln/>
        </p:spPr>
      </p:sp>
      <p:sp>
        <p:nvSpPr>
          <p:cNvPr id="22" name="Text 20"/>
          <p:cNvSpPr/>
          <p:nvPr/>
        </p:nvSpPr>
        <p:spPr>
          <a:xfrm>
            <a:off x="9303791"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9303791" y="3703320"/>
            <a:ext cx="211066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Loss terms: collision · off-road · smoothness</a:t>
            </a:r>
            <a:endParaRPr lang="en-US" sz="1400" dirty="0"/>
          </a:p>
        </p:txBody>
      </p:sp>
      <p:sp>
        <p:nvSpPr>
          <p:cNvPr id="24" name="Text 22"/>
          <p:cNvSpPr/>
          <p:nvPr/>
        </p:nvSpPr>
        <p:spPr>
          <a:xfrm>
            <a:off x="548640" y="4937760"/>
            <a:ext cx="10972800" cy="320040"/>
          </a:xfrm>
          <a:prstGeom prst="rect">
            <a:avLst/>
          </a:prstGeom>
          <a:noFill/>
          <a:ln/>
        </p:spPr>
        <p:txBody>
          <a:bodyPr wrap="square" lIns="0" tIns="0" rIns="0" bIns="0" rtlCol="0" anchor="ctr"/>
          <a:lstStyle/>
          <a:p>
            <a:pPr indent="0" marL="0">
              <a:buNone/>
            </a:pPr>
            <a:r>
              <a:rPr lang="en-US" sz="1100" b="1" spc="200" kern="0" dirty="0">
                <a:solidFill>
                  <a:srgbClr val="6B6B6B"/>
                </a:solidFill>
                <a:latin typeface="Calibri" pitchFamily="34" charset="0"/>
                <a:ea typeface="Calibri" pitchFamily="34" charset="-122"/>
                <a:cs typeface="Calibri" pitchFamily="34" charset="-120"/>
              </a:rPr>
              <a:t>First research goal</a:t>
            </a:r>
            <a:endParaRPr lang="en-US" sz="1100" dirty="0"/>
          </a:p>
        </p:txBody>
      </p:sp>
      <p:sp>
        <p:nvSpPr>
          <p:cNvPr id="25" name="Text 23"/>
          <p:cNvSpPr/>
          <p:nvPr/>
        </p:nvSpPr>
        <p:spPr>
          <a:xfrm>
            <a:off x="548640" y="5212080"/>
            <a:ext cx="10972800" cy="548640"/>
          </a:xfrm>
          <a:prstGeom prst="rect">
            <a:avLst/>
          </a:prstGeom>
          <a:noFill/>
          <a:ln/>
        </p:spPr>
        <p:txBody>
          <a:bodyPr wrap="square" lIns="0" tIns="0" rIns="0" bIns="0" rtlCol="0" anchor="ctr"/>
          <a:lstStyle/>
          <a:p>
            <a:pPr indent="0" marL="0">
              <a:buNone/>
            </a:pPr>
            <a:r>
              <a:rPr lang="en-US" sz="1600" b="1" i="1" dirty="0">
                <a:solidFill>
                  <a:srgbClr val="500778"/>
                </a:solidFill>
                <a:latin typeface="Calibri" pitchFamily="34" charset="0"/>
                <a:ea typeface="Calibri" pitchFamily="34" charset="-122"/>
                <a:cs typeface="Calibri" pitchFamily="34" charset="-120"/>
              </a:rPr>
              <a:t>Design a sim agent that improves closed-loop realism — not just open-loop prediction accuracy.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Proposed roadmap</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09</a:t>
            </a:r>
            <a:endParaRPr lang="en-US" sz="1000" dirty="0"/>
          </a:p>
        </p:txBody>
      </p:sp>
      <p:sp>
        <p:nvSpPr>
          <p:cNvPr id="6" name="Text 4"/>
          <p:cNvSpPr/>
          <p:nvPr/>
        </p:nvSpPr>
        <p:spPr>
          <a:xfrm>
            <a:off x="548640" y="1234440"/>
            <a:ext cx="1097280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Diagnosis-driven: understand failures first, then design a focused improvement.</a:t>
            </a:r>
            <a:endParaRPr lang="en-US" sz="1400" dirty="0"/>
          </a:p>
        </p:txBody>
      </p:sp>
      <p:sp>
        <p:nvSpPr>
          <p:cNvPr id="7" name="Shape 5"/>
          <p:cNvSpPr/>
          <p:nvPr/>
        </p:nvSpPr>
        <p:spPr>
          <a:xfrm>
            <a:off x="1051560" y="2514600"/>
            <a:ext cx="10088575" cy="36576"/>
          </a:xfrm>
          <a:prstGeom prst="rect">
            <a:avLst/>
          </a:prstGeom>
          <a:solidFill>
            <a:srgbClr val="C8B8D6"/>
          </a:solidFill>
          <a:ln/>
        </p:spPr>
      </p:sp>
      <p:sp>
        <p:nvSpPr>
          <p:cNvPr id="8" name="Shape 6"/>
          <p:cNvSpPr/>
          <p:nvPr/>
        </p:nvSpPr>
        <p:spPr>
          <a:xfrm>
            <a:off x="886968" y="2368296"/>
            <a:ext cx="329184" cy="329184"/>
          </a:xfrm>
          <a:prstGeom prst="ellipse">
            <a:avLst/>
          </a:prstGeom>
          <a:solidFill>
            <a:srgbClr val="500778"/>
          </a:solidFill>
          <a:ln/>
        </p:spPr>
      </p:sp>
      <p:sp>
        <p:nvSpPr>
          <p:cNvPr id="9" name="Text 7"/>
          <p:cNvSpPr/>
          <p:nvPr/>
        </p:nvSpPr>
        <p:spPr>
          <a:xfrm>
            <a:off x="886968"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274320"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Understand data, metrics, rollout format</a:t>
            </a:r>
            <a:endParaRPr lang="en-US" sz="1100" dirty="0"/>
          </a:p>
        </p:txBody>
      </p:sp>
      <p:sp>
        <p:nvSpPr>
          <p:cNvPr id="11" name="Shape 9"/>
          <p:cNvSpPr/>
          <p:nvPr/>
        </p:nvSpPr>
        <p:spPr>
          <a:xfrm>
            <a:off x="2568397" y="2368296"/>
            <a:ext cx="329184" cy="329184"/>
          </a:xfrm>
          <a:prstGeom prst="ellipse">
            <a:avLst/>
          </a:prstGeom>
          <a:solidFill>
            <a:srgbClr val="500778"/>
          </a:solidFill>
          <a:ln/>
        </p:spPr>
      </p:sp>
      <p:sp>
        <p:nvSpPr>
          <p:cNvPr id="12" name="Text 10"/>
          <p:cNvSpPr/>
          <p:nvPr/>
        </p:nvSpPr>
        <p:spPr>
          <a:xfrm>
            <a:off x="2568397"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955749"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Reproduce Waymax baseline pipeline</a:t>
            </a:r>
            <a:endParaRPr lang="en-US" sz="1100" dirty="0"/>
          </a:p>
        </p:txBody>
      </p:sp>
      <p:sp>
        <p:nvSpPr>
          <p:cNvPr id="14" name="Shape 12"/>
          <p:cNvSpPr/>
          <p:nvPr/>
        </p:nvSpPr>
        <p:spPr>
          <a:xfrm>
            <a:off x="4249826" y="2368296"/>
            <a:ext cx="329184" cy="329184"/>
          </a:xfrm>
          <a:prstGeom prst="ellipse">
            <a:avLst/>
          </a:prstGeom>
          <a:solidFill>
            <a:srgbClr val="500778"/>
          </a:solidFill>
          <a:ln/>
        </p:spPr>
      </p:sp>
      <p:sp>
        <p:nvSpPr>
          <p:cNvPr id="15" name="Text 13"/>
          <p:cNvSpPr/>
          <p:nvPr/>
        </p:nvSpPr>
        <p:spPr>
          <a:xfrm>
            <a:off x="4249826"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3637178"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Diagnose baseline failure modes</a:t>
            </a:r>
            <a:endParaRPr lang="en-US" sz="1100" dirty="0"/>
          </a:p>
        </p:txBody>
      </p:sp>
      <p:sp>
        <p:nvSpPr>
          <p:cNvPr id="17" name="Shape 15"/>
          <p:cNvSpPr/>
          <p:nvPr/>
        </p:nvSpPr>
        <p:spPr>
          <a:xfrm>
            <a:off x="5931256" y="2368296"/>
            <a:ext cx="329184" cy="329184"/>
          </a:xfrm>
          <a:prstGeom prst="ellipse">
            <a:avLst/>
          </a:prstGeom>
          <a:solidFill>
            <a:srgbClr val="500778"/>
          </a:solidFill>
          <a:ln/>
        </p:spPr>
      </p:sp>
      <p:sp>
        <p:nvSpPr>
          <p:cNvPr id="18" name="Text 16"/>
          <p:cNvSpPr/>
          <p:nvPr/>
        </p:nvSpPr>
        <p:spPr>
          <a:xfrm>
            <a:off x="5931256"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5318608"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Select one research focus</a:t>
            </a:r>
            <a:endParaRPr lang="en-US" sz="1100" dirty="0"/>
          </a:p>
        </p:txBody>
      </p:sp>
      <p:sp>
        <p:nvSpPr>
          <p:cNvPr id="20" name="Shape 18"/>
          <p:cNvSpPr/>
          <p:nvPr/>
        </p:nvSpPr>
        <p:spPr>
          <a:xfrm>
            <a:off x="7612685" y="2368296"/>
            <a:ext cx="329184" cy="329184"/>
          </a:xfrm>
          <a:prstGeom prst="ellipse">
            <a:avLst/>
          </a:prstGeom>
          <a:solidFill>
            <a:srgbClr val="500778"/>
          </a:solidFill>
          <a:ln/>
        </p:spPr>
      </p:sp>
      <p:sp>
        <p:nvSpPr>
          <p:cNvPr id="21" name="Text 19"/>
          <p:cNvSpPr/>
          <p:nvPr/>
        </p:nvSpPr>
        <p:spPr>
          <a:xfrm>
            <a:off x="7612685"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7000037"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Design improved sim-agent model</a:t>
            </a:r>
            <a:endParaRPr lang="en-US" sz="1100" dirty="0"/>
          </a:p>
        </p:txBody>
      </p:sp>
      <p:sp>
        <p:nvSpPr>
          <p:cNvPr id="23" name="Shape 21"/>
          <p:cNvSpPr/>
          <p:nvPr/>
        </p:nvSpPr>
        <p:spPr>
          <a:xfrm>
            <a:off x="9294114" y="2368296"/>
            <a:ext cx="329184" cy="329184"/>
          </a:xfrm>
          <a:prstGeom prst="ellipse">
            <a:avLst/>
          </a:prstGeom>
          <a:solidFill>
            <a:srgbClr val="500778"/>
          </a:solidFill>
          <a:ln/>
        </p:spPr>
      </p:sp>
      <p:sp>
        <p:nvSpPr>
          <p:cNvPr id="24" name="Text 22"/>
          <p:cNvSpPr/>
          <p:nvPr/>
        </p:nvSpPr>
        <p:spPr>
          <a:xfrm>
            <a:off x="9294114"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p:nvPr/>
        </p:nvSpPr>
        <p:spPr>
          <a:xfrm>
            <a:off x="8681466"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Compare against simple baselines</a:t>
            </a:r>
            <a:endParaRPr lang="en-US" sz="1100" dirty="0"/>
          </a:p>
        </p:txBody>
      </p:sp>
      <p:sp>
        <p:nvSpPr>
          <p:cNvPr id="26" name="Shape 24"/>
          <p:cNvSpPr/>
          <p:nvPr/>
        </p:nvSpPr>
        <p:spPr>
          <a:xfrm>
            <a:off x="10975543" y="2368296"/>
            <a:ext cx="329184" cy="329184"/>
          </a:xfrm>
          <a:prstGeom prst="ellipse">
            <a:avLst/>
          </a:prstGeom>
          <a:solidFill>
            <a:srgbClr val="500778"/>
          </a:solidFill>
          <a:ln/>
        </p:spPr>
      </p:sp>
      <p:sp>
        <p:nvSpPr>
          <p:cNvPr id="27" name="Text 25"/>
          <p:cNvSpPr/>
          <p:nvPr/>
        </p:nvSpPr>
        <p:spPr>
          <a:xfrm>
            <a:off x="10975543"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8" name="Text 26"/>
          <p:cNvSpPr/>
          <p:nvPr/>
        </p:nvSpPr>
        <p:spPr>
          <a:xfrm>
            <a:off x="10362895" y="2880360"/>
            <a:ext cx="1554480" cy="128016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Analyse improvements and limitations</a:t>
            </a:r>
            <a:endParaRPr lang="en-US" sz="1100" dirty="0"/>
          </a:p>
        </p:txBody>
      </p:sp>
      <p:sp>
        <p:nvSpPr>
          <p:cNvPr id="29" name="Shape 27"/>
          <p:cNvSpPr/>
          <p:nvPr/>
        </p:nvSpPr>
        <p:spPr>
          <a:xfrm>
            <a:off x="548640" y="4297680"/>
            <a:ext cx="3515258" cy="16916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0" name="Shape 28"/>
          <p:cNvSpPr/>
          <p:nvPr/>
        </p:nvSpPr>
        <p:spPr>
          <a:xfrm>
            <a:off x="548640" y="4297680"/>
            <a:ext cx="3515258" cy="411480"/>
          </a:xfrm>
          <a:prstGeom prst="rect">
            <a:avLst/>
          </a:prstGeom>
          <a:solidFill>
            <a:srgbClr val="500778"/>
          </a:solidFill>
          <a:ln/>
        </p:spPr>
      </p:sp>
      <p:sp>
        <p:nvSpPr>
          <p:cNvPr id="31" name="Text 29"/>
          <p:cNvSpPr/>
          <p:nvPr/>
        </p:nvSpPr>
        <p:spPr>
          <a:xfrm>
            <a:off x="731520" y="4297680"/>
            <a:ext cx="3149498"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PHASE 1</a:t>
            </a:r>
            <a:endParaRPr lang="en-US" sz="1100" dirty="0"/>
          </a:p>
        </p:txBody>
      </p:sp>
      <p:sp>
        <p:nvSpPr>
          <p:cNvPr id="32" name="Text 30"/>
          <p:cNvSpPr/>
          <p:nvPr/>
        </p:nvSpPr>
        <p:spPr>
          <a:xfrm>
            <a:off x="731520" y="4297680"/>
            <a:ext cx="3149498" cy="411480"/>
          </a:xfrm>
          <a:prstGeom prst="rect">
            <a:avLst/>
          </a:prstGeom>
          <a:noFill/>
          <a:ln/>
        </p:spPr>
        <p:txBody>
          <a:bodyPr wrap="square" lIns="0" tIns="0" rIns="0" bIns="0" rtlCol="0" anchor="ctr"/>
          <a:lstStyle/>
          <a:p>
            <a:pPr algn="r" indent="0" marL="0">
              <a:buNone/>
            </a:pPr>
            <a:r>
              <a:rPr lang="en-US" sz="1100" i="1" dirty="0">
                <a:solidFill>
                  <a:srgbClr val="E0D0EE"/>
                </a:solidFill>
                <a:latin typeface="Calibri" pitchFamily="34" charset="0"/>
                <a:ea typeface="Calibri" pitchFamily="34" charset="-122"/>
                <a:cs typeface="Calibri" pitchFamily="34" charset="-120"/>
              </a:rPr>
              <a:t>weeks 1–3</a:t>
            </a:r>
            <a:endParaRPr lang="en-US" sz="1100" dirty="0"/>
          </a:p>
        </p:txBody>
      </p:sp>
      <p:sp>
        <p:nvSpPr>
          <p:cNvPr id="33" name="Text 31"/>
          <p:cNvSpPr/>
          <p:nvPr/>
        </p:nvSpPr>
        <p:spPr>
          <a:xfrm>
            <a:off x="731520" y="4800600"/>
            <a:ext cx="3149498" cy="365760"/>
          </a:xfrm>
          <a:prstGeom prst="rect">
            <a:avLst/>
          </a:prstGeom>
          <a:noFill/>
          <a:ln/>
        </p:spPr>
        <p:txBody>
          <a:bodyPr wrap="square" lIns="0" tIns="0" rIns="0" bIns="0" rtlCol="0" anchor="ctr"/>
          <a:lstStyle/>
          <a:p>
            <a:pPr indent="0" marL="0">
              <a:buNone/>
            </a:pPr>
            <a:r>
              <a:rPr lang="en-US" sz="1400" b="1" dirty="0">
                <a:solidFill>
                  <a:srgbClr val="500778"/>
                </a:solidFill>
                <a:latin typeface="Calibri" pitchFamily="34" charset="0"/>
                <a:ea typeface="Calibri" pitchFamily="34" charset="-122"/>
                <a:cs typeface="Calibri" pitchFamily="34" charset="-120"/>
              </a:rPr>
              <a:t>Reproduce + diagnose</a:t>
            </a:r>
            <a:endParaRPr lang="en-US" sz="1400" dirty="0"/>
          </a:p>
        </p:txBody>
      </p:sp>
      <p:sp>
        <p:nvSpPr>
          <p:cNvPr id="34" name="Text 32"/>
          <p:cNvSpPr/>
          <p:nvPr/>
        </p:nvSpPr>
        <p:spPr>
          <a:xfrm>
            <a:off x="731520" y="5166360"/>
            <a:ext cx="3149498"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Stages 1–3</a:t>
            </a:r>
            <a:endParaRPr lang="en-US" sz="1000" dirty="0"/>
          </a:p>
        </p:txBody>
      </p:sp>
      <p:sp>
        <p:nvSpPr>
          <p:cNvPr id="35" name="Text 33"/>
          <p:cNvSpPr/>
          <p:nvPr/>
        </p:nvSpPr>
        <p:spPr>
          <a:xfrm>
            <a:off x="731520" y="5440680"/>
            <a:ext cx="3149498"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Understand data, run Waymax tutorial, score three baselines, characterise failure modes.</a:t>
            </a:r>
            <a:endParaRPr lang="en-US" sz="1100" dirty="0"/>
          </a:p>
        </p:txBody>
      </p:sp>
      <p:sp>
        <p:nvSpPr>
          <p:cNvPr id="36" name="Shape 34"/>
          <p:cNvSpPr/>
          <p:nvPr/>
        </p:nvSpPr>
        <p:spPr>
          <a:xfrm>
            <a:off x="4338218" y="4297680"/>
            <a:ext cx="3515258" cy="16916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7" name="Shape 35"/>
          <p:cNvSpPr/>
          <p:nvPr/>
        </p:nvSpPr>
        <p:spPr>
          <a:xfrm>
            <a:off x="4338218" y="4297680"/>
            <a:ext cx="3515258" cy="411480"/>
          </a:xfrm>
          <a:prstGeom prst="rect">
            <a:avLst/>
          </a:prstGeom>
          <a:solidFill>
            <a:srgbClr val="500778"/>
          </a:solidFill>
          <a:ln/>
        </p:spPr>
      </p:sp>
      <p:sp>
        <p:nvSpPr>
          <p:cNvPr id="38" name="Text 36"/>
          <p:cNvSpPr/>
          <p:nvPr/>
        </p:nvSpPr>
        <p:spPr>
          <a:xfrm>
            <a:off x="4521098" y="4297680"/>
            <a:ext cx="3149498"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PHASE 2</a:t>
            </a:r>
            <a:endParaRPr lang="en-US" sz="1100" dirty="0"/>
          </a:p>
        </p:txBody>
      </p:sp>
      <p:sp>
        <p:nvSpPr>
          <p:cNvPr id="39" name="Text 37"/>
          <p:cNvSpPr/>
          <p:nvPr/>
        </p:nvSpPr>
        <p:spPr>
          <a:xfrm>
            <a:off x="4521098" y="4297680"/>
            <a:ext cx="3149498" cy="411480"/>
          </a:xfrm>
          <a:prstGeom prst="rect">
            <a:avLst/>
          </a:prstGeom>
          <a:noFill/>
          <a:ln/>
        </p:spPr>
        <p:txBody>
          <a:bodyPr wrap="square" lIns="0" tIns="0" rIns="0" bIns="0" rtlCol="0" anchor="ctr"/>
          <a:lstStyle/>
          <a:p>
            <a:pPr algn="r" indent="0" marL="0">
              <a:buNone/>
            </a:pPr>
            <a:r>
              <a:rPr lang="en-US" sz="1100" i="1" dirty="0">
                <a:solidFill>
                  <a:srgbClr val="E0D0EE"/>
                </a:solidFill>
                <a:latin typeface="Calibri" pitchFamily="34" charset="0"/>
                <a:ea typeface="Calibri" pitchFamily="34" charset="-122"/>
                <a:cs typeface="Calibri" pitchFamily="34" charset="-120"/>
              </a:rPr>
              <a:t>weeks 4–7</a:t>
            </a:r>
            <a:endParaRPr lang="en-US" sz="1100" dirty="0"/>
          </a:p>
        </p:txBody>
      </p:sp>
      <p:sp>
        <p:nvSpPr>
          <p:cNvPr id="40" name="Text 38"/>
          <p:cNvSpPr/>
          <p:nvPr/>
        </p:nvSpPr>
        <p:spPr>
          <a:xfrm>
            <a:off x="4521098" y="4800600"/>
            <a:ext cx="3149498" cy="365760"/>
          </a:xfrm>
          <a:prstGeom prst="rect">
            <a:avLst/>
          </a:prstGeom>
          <a:noFill/>
          <a:ln/>
        </p:spPr>
        <p:txBody>
          <a:bodyPr wrap="square" lIns="0" tIns="0" rIns="0" bIns="0" rtlCol="0" anchor="ctr"/>
          <a:lstStyle/>
          <a:p>
            <a:pPr indent="0" marL="0">
              <a:buNone/>
            </a:pPr>
            <a:r>
              <a:rPr lang="en-US" sz="1400" b="1" dirty="0">
                <a:solidFill>
                  <a:srgbClr val="500778"/>
                </a:solidFill>
                <a:latin typeface="Calibri" pitchFamily="34" charset="0"/>
                <a:ea typeface="Calibri" pitchFamily="34" charset="-122"/>
                <a:cs typeface="Calibri" pitchFamily="34" charset="-120"/>
              </a:rPr>
              <a:t>Focused model design</a:t>
            </a:r>
            <a:endParaRPr lang="en-US" sz="1400" dirty="0"/>
          </a:p>
        </p:txBody>
      </p:sp>
      <p:sp>
        <p:nvSpPr>
          <p:cNvPr id="41" name="Text 39"/>
          <p:cNvSpPr/>
          <p:nvPr/>
        </p:nvSpPr>
        <p:spPr>
          <a:xfrm>
            <a:off x="4521098" y="5166360"/>
            <a:ext cx="3149498"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Stages 4–5</a:t>
            </a:r>
            <a:endParaRPr lang="en-US" sz="1000" dirty="0"/>
          </a:p>
        </p:txBody>
      </p:sp>
      <p:sp>
        <p:nvSpPr>
          <p:cNvPr id="42" name="Text 40"/>
          <p:cNvSpPr/>
          <p:nvPr/>
        </p:nvSpPr>
        <p:spPr>
          <a:xfrm>
            <a:off x="4521098" y="5440680"/>
            <a:ext cx="3149498"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Pick one capability, build a sim-agent model around it (encoder, interaction, decoder, losses).</a:t>
            </a:r>
            <a:endParaRPr lang="en-US" sz="1100" dirty="0"/>
          </a:p>
        </p:txBody>
      </p:sp>
      <p:sp>
        <p:nvSpPr>
          <p:cNvPr id="43" name="Shape 41"/>
          <p:cNvSpPr/>
          <p:nvPr/>
        </p:nvSpPr>
        <p:spPr>
          <a:xfrm>
            <a:off x="8127797" y="4297680"/>
            <a:ext cx="3515258" cy="16916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44" name="Shape 42"/>
          <p:cNvSpPr/>
          <p:nvPr/>
        </p:nvSpPr>
        <p:spPr>
          <a:xfrm>
            <a:off x="8127797" y="4297680"/>
            <a:ext cx="3515258" cy="411480"/>
          </a:xfrm>
          <a:prstGeom prst="rect">
            <a:avLst/>
          </a:prstGeom>
          <a:solidFill>
            <a:srgbClr val="500778"/>
          </a:solidFill>
          <a:ln/>
        </p:spPr>
      </p:sp>
      <p:sp>
        <p:nvSpPr>
          <p:cNvPr id="45" name="Text 43"/>
          <p:cNvSpPr/>
          <p:nvPr/>
        </p:nvSpPr>
        <p:spPr>
          <a:xfrm>
            <a:off x="8310677" y="4297680"/>
            <a:ext cx="3149498"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PHASE 3</a:t>
            </a:r>
            <a:endParaRPr lang="en-US" sz="1100" dirty="0"/>
          </a:p>
        </p:txBody>
      </p:sp>
      <p:sp>
        <p:nvSpPr>
          <p:cNvPr id="46" name="Text 44"/>
          <p:cNvSpPr/>
          <p:nvPr/>
        </p:nvSpPr>
        <p:spPr>
          <a:xfrm>
            <a:off x="8310677" y="4297680"/>
            <a:ext cx="3149498" cy="411480"/>
          </a:xfrm>
          <a:prstGeom prst="rect">
            <a:avLst/>
          </a:prstGeom>
          <a:noFill/>
          <a:ln/>
        </p:spPr>
        <p:txBody>
          <a:bodyPr wrap="square" lIns="0" tIns="0" rIns="0" bIns="0" rtlCol="0" anchor="ctr"/>
          <a:lstStyle/>
          <a:p>
            <a:pPr algn="r" indent="0" marL="0">
              <a:buNone/>
            </a:pPr>
            <a:r>
              <a:rPr lang="en-US" sz="1100" i="1" dirty="0">
                <a:solidFill>
                  <a:srgbClr val="E0D0EE"/>
                </a:solidFill>
                <a:latin typeface="Calibri" pitchFamily="34" charset="0"/>
                <a:ea typeface="Calibri" pitchFamily="34" charset="-122"/>
                <a:cs typeface="Calibri" pitchFamily="34" charset="-120"/>
              </a:rPr>
              <a:t>weeks 8–10</a:t>
            </a:r>
            <a:endParaRPr lang="en-US" sz="1100" dirty="0"/>
          </a:p>
        </p:txBody>
      </p:sp>
      <p:sp>
        <p:nvSpPr>
          <p:cNvPr id="47" name="Text 45"/>
          <p:cNvSpPr/>
          <p:nvPr/>
        </p:nvSpPr>
        <p:spPr>
          <a:xfrm>
            <a:off x="8310677" y="4800600"/>
            <a:ext cx="3149498" cy="365760"/>
          </a:xfrm>
          <a:prstGeom prst="rect">
            <a:avLst/>
          </a:prstGeom>
          <a:noFill/>
          <a:ln/>
        </p:spPr>
        <p:txBody>
          <a:bodyPr wrap="square" lIns="0" tIns="0" rIns="0" bIns="0" rtlCol="0" anchor="ctr"/>
          <a:lstStyle/>
          <a:p>
            <a:pPr indent="0" marL="0">
              <a:buNone/>
            </a:pPr>
            <a:r>
              <a:rPr lang="en-US" sz="1400" b="1" dirty="0">
                <a:solidFill>
                  <a:srgbClr val="500778"/>
                </a:solidFill>
                <a:latin typeface="Calibri" pitchFamily="34" charset="0"/>
                <a:ea typeface="Calibri" pitchFamily="34" charset="-122"/>
                <a:cs typeface="Calibri" pitchFamily="34" charset="-120"/>
              </a:rPr>
              <a:t>Evaluate + analyse</a:t>
            </a:r>
            <a:endParaRPr lang="en-US" sz="1400" dirty="0"/>
          </a:p>
        </p:txBody>
      </p:sp>
      <p:sp>
        <p:nvSpPr>
          <p:cNvPr id="48" name="Text 46"/>
          <p:cNvSpPr/>
          <p:nvPr/>
        </p:nvSpPr>
        <p:spPr>
          <a:xfrm>
            <a:off x="8310677" y="5166360"/>
            <a:ext cx="3149498"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Stages 6–7</a:t>
            </a:r>
            <a:endParaRPr lang="en-US" sz="1000" dirty="0"/>
          </a:p>
        </p:txBody>
      </p:sp>
      <p:sp>
        <p:nvSpPr>
          <p:cNvPr id="49" name="Text 47"/>
          <p:cNvSpPr/>
          <p:nvPr/>
        </p:nvSpPr>
        <p:spPr>
          <a:xfrm>
            <a:off x="8310677" y="5440680"/>
            <a:ext cx="3149498"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Compare against baselines, analyse where the design improves and where it still fails.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Phase 1A · Steps 1–2: understand the data, run the official tutorial</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325880"/>
            <a:ext cx="5387188" cy="44348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7" name="Shape 5"/>
          <p:cNvSpPr/>
          <p:nvPr/>
        </p:nvSpPr>
        <p:spPr>
          <a:xfrm>
            <a:off x="548640" y="1325880"/>
            <a:ext cx="109728" cy="4434840"/>
          </a:xfrm>
          <a:prstGeom prst="rect">
            <a:avLst/>
          </a:prstGeom>
          <a:solidFill>
            <a:srgbClr val="500778"/>
          </a:solidFill>
          <a:ln/>
        </p:spPr>
      </p:sp>
      <p:sp>
        <p:nvSpPr>
          <p:cNvPr id="8" name="Shape 6"/>
          <p:cNvSpPr/>
          <p:nvPr/>
        </p:nvSpPr>
        <p:spPr>
          <a:xfrm>
            <a:off x="777240" y="1554480"/>
            <a:ext cx="457200" cy="457200"/>
          </a:xfrm>
          <a:prstGeom prst="ellipse">
            <a:avLst/>
          </a:prstGeom>
          <a:solidFill>
            <a:srgbClr val="500778"/>
          </a:solidFill>
          <a:ln/>
        </p:spPr>
      </p:sp>
      <p:sp>
        <p:nvSpPr>
          <p:cNvPr id="9" name="Text 7"/>
          <p:cNvSpPr/>
          <p:nvPr/>
        </p:nvSpPr>
        <p:spPr>
          <a:xfrm>
            <a:off x="77724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325880" y="1572768"/>
            <a:ext cx="447278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Understand the data and task format</a:t>
            </a:r>
            <a:endParaRPr lang="en-US" sz="1500" dirty="0"/>
          </a:p>
        </p:txBody>
      </p:sp>
      <p:sp>
        <p:nvSpPr>
          <p:cNvPr id="11" name="Text 9"/>
          <p:cNvSpPr/>
          <p:nvPr/>
        </p:nvSpPr>
        <p:spPr>
          <a:xfrm>
            <a:off x="868680" y="2194560"/>
            <a:ext cx="4929988" cy="27432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DATASET — WAYMO OPEN MOTION DATASET v1.2.0</a:t>
            </a:r>
            <a:endParaRPr lang="en-US" sz="900" dirty="0"/>
          </a:p>
        </p:txBody>
      </p:sp>
      <p:sp>
        <p:nvSpPr>
          <p:cNvPr id="12" name="Text 10"/>
          <p:cNvSpPr/>
          <p:nvPr/>
        </p:nvSpPr>
        <p:spPr>
          <a:xfrm>
            <a:off x="960120" y="2468880"/>
            <a:ext cx="4884268" cy="19202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9.1 s scenario @ 10 Hz  →  ~1.1 s history + 8 s future</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Future = 80 simulation steps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Up to 128 agents per scenario; 1 is the AV / ADV</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Object types: vehicle · pedestrian · cyclist</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Per scenario: trajectories, current state, map, traffic lights</a:t>
            </a:r>
            <a:endParaRPr lang="en-US" sz="1200" dirty="0"/>
          </a:p>
        </p:txBody>
      </p:sp>
      <p:sp>
        <p:nvSpPr>
          <p:cNvPr id="13" name="Shape 11"/>
          <p:cNvSpPr/>
          <p:nvPr/>
        </p:nvSpPr>
        <p:spPr>
          <a:xfrm>
            <a:off x="868680" y="4480560"/>
            <a:ext cx="4975708" cy="10972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4" name="Text 12"/>
          <p:cNvSpPr/>
          <p:nvPr/>
        </p:nvSpPr>
        <p:spPr>
          <a:xfrm>
            <a:off x="1005840" y="4572000"/>
            <a:ext cx="4701388" cy="228600"/>
          </a:xfrm>
          <a:prstGeom prst="rect">
            <a:avLst/>
          </a:prstGeom>
          <a:noFill/>
          <a:ln/>
        </p:spPr>
        <p:txBody>
          <a:bodyPr wrap="square" lIns="0" tIns="0" rIns="0" bIns="0" rtlCol="0" anchor="ctr"/>
          <a:lstStyle/>
          <a:p>
            <a:pPr indent="0" marL="0">
              <a:buNone/>
            </a:pPr>
            <a:r>
              <a:rPr lang="en-US" sz="900" b="1" dirty="0">
                <a:solidFill>
                  <a:srgbClr val="500778"/>
                </a:solidFill>
                <a:latin typeface="Calibri" pitchFamily="34" charset="0"/>
                <a:ea typeface="Calibri" pitchFamily="34" charset="-122"/>
                <a:cs typeface="Calibri" pitchFamily="34" charset="-120"/>
              </a:rPr>
              <a:t>FIRST-WEEK TARGET</a:t>
            </a:r>
            <a:endParaRPr lang="en-US" sz="900" dirty="0"/>
          </a:p>
        </p:txBody>
      </p:sp>
      <p:sp>
        <p:nvSpPr>
          <p:cNvPr id="15" name="Text 13"/>
          <p:cNvSpPr/>
          <p:nvPr/>
        </p:nvSpPr>
        <p:spPr>
          <a:xfrm>
            <a:off x="1005840" y="4800600"/>
            <a:ext cx="4701388" cy="731520"/>
          </a:xfrm>
          <a:prstGeom prst="rect">
            <a:avLst/>
          </a:prstGeom>
          <a:noFill/>
          <a:ln/>
        </p:spPr>
        <p:txBody>
          <a:bodyPr wrap="square" lIns="0" tIns="0" rIns="0" bIns="0" rtlCol="0" anchor="ctr"/>
          <a:lstStyle/>
          <a:p>
            <a:pPr indent="0" marL="0">
              <a:buNone/>
            </a:pPr>
            <a:r>
              <a:rPr lang="en-US" sz="1100" i="1" dirty="0">
                <a:solidFill>
                  <a:srgbClr val="1A1A1A"/>
                </a:solidFill>
                <a:latin typeface="Calibri" pitchFamily="34" charset="0"/>
                <a:ea typeface="Calibri" pitchFamily="34" charset="-122"/>
                <a:cs typeface="Calibri" pitchFamily="34" charset="-120"/>
              </a:rPr>
              <a:t>Read one scenario and visualise it: past trajectories, lanes, agents, current frame.</a:t>
            </a:r>
            <a:endParaRPr lang="en-US" sz="1100" dirty="0"/>
          </a:p>
        </p:txBody>
      </p:sp>
      <p:sp>
        <p:nvSpPr>
          <p:cNvPr id="16" name="Shape 14"/>
          <p:cNvSpPr/>
          <p:nvPr/>
        </p:nvSpPr>
        <p:spPr>
          <a:xfrm>
            <a:off x="6255868" y="1325880"/>
            <a:ext cx="5387188" cy="44348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7" name="Shape 15"/>
          <p:cNvSpPr/>
          <p:nvPr/>
        </p:nvSpPr>
        <p:spPr>
          <a:xfrm>
            <a:off x="6255868" y="1325880"/>
            <a:ext cx="109728" cy="4434840"/>
          </a:xfrm>
          <a:prstGeom prst="rect">
            <a:avLst/>
          </a:prstGeom>
          <a:solidFill>
            <a:srgbClr val="500778"/>
          </a:solidFill>
          <a:ln/>
        </p:spPr>
      </p:sp>
      <p:sp>
        <p:nvSpPr>
          <p:cNvPr id="18" name="Shape 16"/>
          <p:cNvSpPr/>
          <p:nvPr/>
        </p:nvSpPr>
        <p:spPr>
          <a:xfrm>
            <a:off x="6484468" y="1554480"/>
            <a:ext cx="457200" cy="457200"/>
          </a:xfrm>
          <a:prstGeom prst="ellipse">
            <a:avLst/>
          </a:prstGeom>
          <a:solidFill>
            <a:srgbClr val="500778"/>
          </a:solidFill>
          <a:ln/>
        </p:spPr>
      </p:sp>
      <p:sp>
        <p:nvSpPr>
          <p:cNvPr id="19" name="Text 17"/>
          <p:cNvSpPr/>
          <p:nvPr/>
        </p:nvSpPr>
        <p:spPr>
          <a:xfrm>
            <a:off x="6484468"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Text 18"/>
          <p:cNvSpPr/>
          <p:nvPr/>
        </p:nvSpPr>
        <p:spPr>
          <a:xfrm>
            <a:off x="7033108" y="1572768"/>
            <a:ext cx="447278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Run the official Waymax tutorial → first valid submission</a:t>
            </a:r>
            <a:endParaRPr lang="en-US" sz="1500" dirty="0"/>
          </a:p>
        </p:txBody>
      </p:sp>
      <p:sp>
        <p:nvSpPr>
          <p:cNvPr id="21" name="Text 19"/>
          <p:cNvSpPr/>
          <p:nvPr/>
        </p:nvSpPr>
        <p:spPr>
          <a:xfrm>
            <a:off x="6575908" y="2194560"/>
            <a:ext cx="4929988" cy="27432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THE TUTORIAL HANDLES</a:t>
            </a:r>
            <a:endParaRPr lang="en-US" sz="900" dirty="0"/>
          </a:p>
        </p:txBody>
      </p:sp>
      <p:sp>
        <p:nvSpPr>
          <p:cNvPr id="22" name="Text 20"/>
          <p:cNvSpPr/>
          <p:nvPr/>
        </p:nvSpPr>
        <p:spPr>
          <a:xfrm>
            <a:off x="6667348" y="2468880"/>
            <a:ext cx="4884268" cy="11430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Scenario id and Waymax dataloader</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Proto format and binary sharding</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SimAgentsChallengeSubmission packaging</a:t>
            </a:r>
            <a:endParaRPr lang="en-US" sz="1200" dirty="0"/>
          </a:p>
        </p:txBody>
      </p:sp>
      <p:sp>
        <p:nvSpPr>
          <p:cNvPr id="23" name="Text 21"/>
          <p:cNvSpPr/>
          <p:nvPr/>
        </p:nvSpPr>
        <p:spPr>
          <a:xfrm>
            <a:off x="6575908" y="3657600"/>
            <a:ext cx="4929988" cy="27432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OUTPUT PER SCENARIO</a:t>
            </a:r>
            <a:endParaRPr lang="en-US" sz="900" dirty="0"/>
          </a:p>
        </p:txBody>
      </p:sp>
      <p:sp>
        <p:nvSpPr>
          <p:cNvPr id="24" name="Text 22"/>
          <p:cNvSpPr/>
          <p:nvPr/>
        </p:nvSpPr>
        <p:spPr>
          <a:xfrm>
            <a:off x="6667348" y="3931920"/>
            <a:ext cx="4884268" cy="8686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32 rollouts × 80 steps × all valid agents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(x, y, z, heading) per (agent, step)</a:t>
            </a:r>
            <a:endParaRPr lang="en-US" sz="1200" dirty="0"/>
          </a:p>
        </p:txBody>
      </p:sp>
      <p:sp>
        <p:nvSpPr>
          <p:cNvPr id="25" name="Shape 23"/>
          <p:cNvSpPr/>
          <p:nvPr/>
        </p:nvSpPr>
        <p:spPr>
          <a:xfrm>
            <a:off x="6575908" y="4846320"/>
            <a:ext cx="4884268" cy="731520"/>
          </a:xfrm>
          <a:prstGeom prst="rect">
            <a:avLst/>
          </a:prstGeom>
          <a:solidFill>
            <a:srgbClr val="500778"/>
          </a:solidFill>
          <a:ln/>
          <a:effectLst>
            <a:outerShdw sx="100000" sy="100000" kx="0" ky="0" algn="bl" rotWithShape="0" blurRad="101600" dist="25400" dir="5400000">
              <a:srgbClr val="000000">
                <a:alpha val="10000"/>
              </a:srgbClr>
            </a:outerShdw>
          </a:effectLst>
        </p:spPr>
      </p:sp>
      <p:sp>
        <p:nvSpPr>
          <p:cNvPr id="26" name="Text 24"/>
          <p:cNvSpPr/>
          <p:nvPr/>
        </p:nvSpPr>
        <p:spPr>
          <a:xfrm>
            <a:off x="6667348" y="4846320"/>
            <a:ext cx="4701388"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Final artefact:  150 protos  ·  .tar.gz  ·  legal submission</a:t>
            </a:r>
            <a:endParaRPr lang="en-US" sz="1200" dirty="0"/>
          </a:p>
        </p:txBody>
      </p:sp>
      <p:sp>
        <p:nvSpPr>
          <p:cNvPr id="27" name="Text 25"/>
          <p:cNvSpPr/>
          <p:nvPr/>
        </p:nvSpPr>
        <p:spPr>
          <a:xfrm>
            <a:off x="548640" y="5989320"/>
            <a:ext cx="1097280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Goal of Phase 1A — a working pipeline that produces a legal submission, not a high score.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Phase 1B · Steps 3–4: three baselines + first learned model</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325880"/>
            <a:ext cx="5387188" cy="44348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7" name="Shape 5"/>
          <p:cNvSpPr/>
          <p:nvPr/>
        </p:nvSpPr>
        <p:spPr>
          <a:xfrm>
            <a:off x="548640" y="1325880"/>
            <a:ext cx="109728" cy="4434840"/>
          </a:xfrm>
          <a:prstGeom prst="rect">
            <a:avLst/>
          </a:prstGeom>
          <a:solidFill>
            <a:srgbClr val="500778"/>
          </a:solidFill>
          <a:ln/>
        </p:spPr>
      </p:sp>
      <p:sp>
        <p:nvSpPr>
          <p:cNvPr id="8" name="Shape 6"/>
          <p:cNvSpPr/>
          <p:nvPr/>
        </p:nvSpPr>
        <p:spPr>
          <a:xfrm>
            <a:off x="777240" y="1554480"/>
            <a:ext cx="457200" cy="457200"/>
          </a:xfrm>
          <a:prstGeom prst="ellipse">
            <a:avLst/>
          </a:prstGeom>
          <a:solidFill>
            <a:srgbClr val="500778"/>
          </a:solidFill>
          <a:ln/>
        </p:spPr>
      </p:sp>
      <p:sp>
        <p:nvSpPr>
          <p:cNvPr id="9" name="Text 7"/>
          <p:cNvSpPr/>
          <p:nvPr/>
        </p:nvSpPr>
        <p:spPr>
          <a:xfrm>
            <a:off x="77724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0" name="Text 8"/>
          <p:cNvSpPr/>
          <p:nvPr/>
        </p:nvSpPr>
        <p:spPr>
          <a:xfrm>
            <a:off x="1325880" y="1572768"/>
            <a:ext cx="447278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Three simple baselines</a:t>
            </a:r>
            <a:endParaRPr lang="en-US" sz="1500" dirty="0"/>
          </a:p>
        </p:txBody>
      </p:sp>
      <p:sp>
        <p:nvSpPr>
          <p:cNvPr id="11" name="Shape 9"/>
          <p:cNvSpPr/>
          <p:nvPr/>
        </p:nvSpPr>
        <p:spPr>
          <a:xfrm>
            <a:off x="868680" y="2240280"/>
            <a:ext cx="274320" cy="274320"/>
          </a:xfrm>
          <a:prstGeom prst="ellipse">
            <a:avLst/>
          </a:prstGeom>
          <a:solidFill>
            <a:srgbClr val="F2EEF7"/>
          </a:solidFill>
          <a:ln/>
        </p:spPr>
      </p:sp>
      <p:sp>
        <p:nvSpPr>
          <p:cNvPr id="12" name="Text 10"/>
          <p:cNvSpPr/>
          <p:nvPr/>
        </p:nvSpPr>
        <p:spPr>
          <a:xfrm>
            <a:off x="868680" y="2240280"/>
            <a:ext cx="274320" cy="27432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A</a:t>
            </a:r>
            <a:endParaRPr lang="en-US" sz="1100" dirty="0"/>
          </a:p>
        </p:txBody>
      </p:sp>
      <p:sp>
        <p:nvSpPr>
          <p:cNvPr id="13" name="Text 11"/>
          <p:cNvSpPr/>
          <p:nvPr/>
        </p:nvSpPr>
        <p:spPr>
          <a:xfrm>
            <a:off x="1234440" y="2194560"/>
            <a:ext cx="4609948" cy="320040"/>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Log replay</a:t>
            </a:r>
            <a:endParaRPr lang="en-US" sz="1300" dirty="0"/>
          </a:p>
        </p:txBody>
      </p:sp>
      <p:sp>
        <p:nvSpPr>
          <p:cNvPr id="14" name="Text 12"/>
          <p:cNvSpPr/>
          <p:nvPr/>
        </p:nvSpPr>
        <p:spPr>
          <a:xfrm>
            <a:off x="1234440" y="2514600"/>
            <a:ext cx="4609948" cy="45720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Copy the recorded future. Sanity-checks pipeline; invalid for the test set.</a:t>
            </a:r>
            <a:endParaRPr lang="en-US" sz="1100" dirty="0"/>
          </a:p>
        </p:txBody>
      </p:sp>
      <p:sp>
        <p:nvSpPr>
          <p:cNvPr id="15" name="Shape 13"/>
          <p:cNvSpPr/>
          <p:nvPr/>
        </p:nvSpPr>
        <p:spPr>
          <a:xfrm>
            <a:off x="868680" y="3108960"/>
            <a:ext cx="274320" cy="274320"/>
          </a:xfrm>
          <a:prstGeom prst="ellipse">
            <a:avLst/>
          </a:prstGeom>
          <a:solidFill>
            <a:srgbClr val="F2EEF7"/>
          </a:solidFill>
          <a:ln/>
        </p:spPr>
      </p:sp>
      <p:sp>
        <p:nvSpPr>
          <p:cNvPr id="16" name="Text 14"/>
          <p:cNvSpPr/>
          <p:nvPr/>
        </p:nvSpPr>
        <p:spPr>
          <a:xfrm>
            <a:off x="868680" y="3108960"/>
            <a:ext cx="274320" cy="27432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B</a:t>
            </a:r>
            <a:endParaRPr lang="en-US" sz="1100" dirty="0"/>
          </a:p>
        </p:txBody>
      </p:sp>
      <p:sp>
        <p:nvSpPr>
          <p:cNvPr id="17" name="Text 15"/>
          <p:cNvSpPr/>
          <p:nvPr/>
        </p:nvSpPr>
        <p:spPr>
          <a:xfrm>
            <a:off x="1234440" y="3063240"/>
            <a:ext cx="4609948" cy="320040"/>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Constant velocity</a:t>
            </a:r>
            <a:endParaRPr lang="en-US" sz="1300" dirty="0"/>
          </a:p>
        </p:txBody>
      </p:sp>
      <p:sp>
        <p:nvSpPr>
          <p:cNvPr id="18" name="Text 16"/>
          <p:cNvSpPr/>
          <p:nvPr/>
        </p:nvSpPr>
        <p:spPr>
          <a:xfrm>
            <a:off x="1234440" y="3383280"/>
            <a:ext cx="4609948" cy="45720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Each agent extrapolates current speed in a straight line.</a:t>
            </a:r>
            <a:endParaRPr lang="en-US" sz="1100" dirty="0"/>
          </a:p>
        </p:txBody>
      </p:sp>
      <p:sp>
        <p:nvSpPr>
          <p:cNvPr id="19" name="Shape 17"/>
          <p:cNvSpPr/>
          <p:nvPr/>
        </p:nvSpPr>
        <p:spPr>
          <a:xfrm>
            <a:off x="868680" y="3977640"/>
            <a:ext cx="274320" cy="274320"/>
          </a:xfrm>
          <a:prstGeom prst="ellipse">
            <a:avLst/>
          </a:prstGeom>
          <a:solidFill>
            <a:srgbClr val="F2EEF7"/>
          </a:solidFill>
          <a:ln/>
        </p:spPr>
      </p:sp>
      <p:sp>
        <p:nvSpPr>
          <p:cNvPr id="20" name="Text 18"/>
          <p:cNvSpPr/>
          <p:nvPr/>
        </p:nvSpPr>
        <p:spPr>
          <a:xfrm>
            <a:off x="868680" y="3977640"/>
            <a:ext cx="274320" cy="27432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C</a:t>
            </a:r>
            <a:endParaRPr lang="en-US" sz="1100" dirty="0"/>
          </a:p>
        </p:txBody>
      </p:sp>
      <p:sp>
        <p:nvSpPr>
          <p:cNvPr id="21" name="Text 19"/>
          <p:cNvSpPr/>
          <p:nvPr/>
        </p:nvSpPr>
        <p:spPr>
          <a:xfrm>
            <a:off x="1234440" y="3931920"/>
            <a:ext cx="4609948" cy="320040"/>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Simple interaction rules</a:t>
            </a:r>
            <a:endParaRPr lang="en-US" sz="1300" dirty="0"/>
          </a:p>
        </p:txBody>
      </p:sp>
      <p:sp>
        <p:nvSpPr>
          <p:cNvPr id="22" name="Text 20"/>
          <p:cNvSpPr/>
          <p:nvPr/>
        </p:nvSpPr>
        <p:spPr>
          <a:xfrm>
            <a:off x="1234440" y="4251960"/>
            <a:ext cx="4609948" cy="45720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Lane-keep + brake on lead car; basic ped/cyclist motion.</a:t>
            </a:r>
            <a:endParaRPr lang="en-US" sz="1100" dirty="0"/>
          </a:p>
        </p:txBody>
      </p:sp>
      <p:sp>
        <p:nvSpPr>
          <p:cNvPr id="23" name="Shape 21"/>
          <p:cNvSpPr/>
          <p:nvPr/>
        </p:nvSpPr>
        <p:spPr>
          <a:xfrm>
            <a:off x="868680" y="4937760"/>
            <a:ext cx="4975708" cy="7315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24" name="Text 22"/>
          <p:cNvSpPr/>
          <p:nvPr/>
        </p:nvSpPr>
        <p:spPr>
          <a:xfrm>
            <a:off x="1005840" y="4937760"/>
            <a:ext cx="4701388" cy="731520"/>
          </a:xfrm>
          <a:prstGeom prst="rect">
            <a:avLst/>
          </a:prstGeom>
          <a:noFill/>
          <a:ln/>
        </p:spPr>
        <p:txBody>
          <a:bodyPr wrap="square" lIns="0" tIns="0" rIns="0" bIns="0" rtlCol="0" anchor="ctr"/>
          <a:lstStyle/>
          <a:p>
            <a:pPr indent="0" marL="0">
              <a:buNone/>
            </a:pPr>
            <a:r>
              <a:rPr lang="en-US" sz="1100" i="1" dirty="0">
                <a:solidFill>
                  <a:srgbClr val="1A1A1A"/>
                </a:solidFill>
                <a:latin typeface="Calibri" pitchFamily="34" charset="0"/>
                <a:ea typeface="Calibri" pitchFamily="34" charset="-122"/>
                <a:cs typeface="Calibri" pitchFamily="34" charset="-120"/>
              </a:rPr>
              <a:t>Purpose: not to win — to read the metric (e.g. const-vel is fine on motion, fails on off-road / red light).</a:t>
            </a:r>
            <a:endParaRPr lang="en-US" sz="1100" dirty="0"/>
          </a:p>
        </p:txBody>
      </p:sp>
      <p:sp>
        <p:nvSpPr>
          <p:cNvPr id="25" name="Shape 23"/>
          <p:cNvSpPr/>
          <p:nvPr/>
        </p:nvSpPr>
        <p:spPr>
          <a:xfrm>
            <a:off x="6255868" y="1325880"/>
            <a:ext cx="5387188" cy="443484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26" name="Shape 24"/>
          <p:cNvSpPr/>
          <p:nvPr/>
        </p:nvSpPr>
        <p:spPr>
          <a:xfrm>
            <a:off x="6255868" y="1325880"/>
            <a:ext cx="109728" cy="4434840"/>
          </a:xfrm>
          <a:prstGeom prst="rect">
            <a:avLst/>
          </a:prstGeom>
          <a:solidFill>
            <a:srgbClr val="500778"/>
          </a:solidFill>
          <a:ln/>
        </p:spPr>
      </p:sp>
      <p:sp>
        <p:nvSpPr>
          <p:cNvPr id="27" name="Shape 25"/>
          <p:cNvSpPr/>
          <p:nvPr/>
        </p:nvSpPr>
        <p:spPr>
          <a:xfrm>
            <a:off x="6484468" y="1554480"/>
            <a:ext cx="457200" cy="457200"/>
          </a:xfrm>
          <a:prstGeom prst="ellipse">
            <a:avLst/>
          </a:prstGeom>
          <a:solidFill>
            <a:srgbClr val="500778"/>
          </a:solidFill>
          <a:ln/>
        </p:spPr>
      </p:sp>
      <p:sp>
        <p:nvSpPr>
          <p:cNvPr id="28" name="Text 26"/>
          <p:cNvSpPr/>
          <p:nvPr/>
        </p:nvSpPr>
        <p:spPr>
          <a:xfrm>
            <a:off x="6484468"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7"/>
          <p:cNvSpPr/>
          <p:nvPr/>
        </p:nvSpPr>
        <p:spPr>
          <a:xfrm>
            <a:off x="7033108" y="1572768"/>
            <a:ext cx="4472788" cy="457200"/>
          </a:xfrm>
          <a:prstGeom prst="rect">
            <a:avLst/>
          </a:prstGeom>
          <a:noFill/>
          <a:ln/>
        </p:spPr>
        <p:txBody>
          <a:bodyPr wrap="square" lIns="0" tIns="0" rIns="0" bIns="0" rtlCol="0" anchor="ctr"/>
          <a:lstStyle/>
          <a:p>
            <a:pPr indent="0" marL="0">
              <a:buNone/>
            </a:pPr>
            <a:r>
              <a:rPr lang="en-US" sz="1500" b="1" dirty="0">
                <a:solidFill>
                  <a:srgbClr val="500778"/>
                </a:solidFill>
                <a:latin typeface="Calibri" pitchFamily="34" charset="0"/>
                <a:ea typeface="Calibri" pitchFamily="34" charset="-122"/>
                <a:cs typeface="Calibri" pitchFamily="34" charset="-120"/>
              </a:rPr>
              <a:t>First learned model</a:t>
            </a:r>
            <a:endParaRPr lang="en-US" sz="1500" dirty="0"/>
          </a:p>
        </p:txBody>
      </p:sp>
      <p:sp>
        <p:nvSpPr>
          <p:cNvPr id="30" name="Text 28"/>
          <p:cNvSpPr/>
          <p:nvPr/>
        </p:nvSpPr>
        <p:spPr>
          <a:xfrm>
            <a:off x="6575908" y="2194560"/>
            <a:ext cx="4929988" cy="27432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INPUT</a:t>
            </a:r>
            <a:endParaRPr lang="en-US" sz="900" dirty="0"/>
          </a:p>
        </p:txBody>
      </p:sp>
      <p:sp>
        <p:nvSpPr>
          <p:cNvPr id="31" name="Text 29"/>
          <p:cNvSpPr/>
          <p:nvPr/>
        </p:nvSpPr>
        <p:spPr>
          <a:xfrm>
            <a:off x="6667348" y="2423160"/>
            <a:ext cx="4884268" cy="141732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past 1 s agent states</a:t>
            </a:r>
            <a:endParaRPr lang="en-US" sz="1200" dirty="0"/>
          </a:p>
          <a:p>
            <a:pPr marL="342900" indent="-342900">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vector map features</a:t>
            </a:r>
            <a:endParaRPr lang="en-US" sz="1200" dirty="0"/>
          </a:p>
          <a:p>
            <a:pPr marL="342900" indent="-342900">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agent type + relative positions</a:t>
            </a:r>
            <a:endParaRPr lang="en-US" sz="1200" dirty="0"/>
          </a:p>
          <a:p>
            <a:pPr marL="342900" indent="-342900">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traffic-light state</a:t>
            </a:r>
            <a:endParaRPr lang="en-US" sz="1200" dirty="0"/>
          </a:p>
        </p:txBody>
      </p:sp>
      <p:sp>
        <p:nvSpPr>
          <p:cNvPr id="32" name="Text 30"/>
          <p:cNvSpPr/>
          <p:nvPr/>
        </p:nvSpPr>
        <p:spPr>
          <a:xfrm>
            <a:off x="6575908" y="3886200"/>
            <a:ext cx="4929988" cy="274320"/>
          </a:xfrm>
          <a:prstGeom prst="rect">
            <a:avLst/>
          </a:prstGeom>
          <a:noFill/>
          <a:ln/>
        </p:spPr>
        <p:txBody>
          <a:bodyPr wrap="square" lIns="0" tIns="0" rIns="0" bIns="0" rtlCol="0" anchor="ctr"/>
          <a:lstStyle/>
          <a:p>
            <a:pPr indent="0" marL="0">
              <a:buNone/>
            </a:pPr>
            <a:r>
              <a:rPr lang="en-US" sz="1100" b="1" dirty="0">
                <a:solidFill>
                  <a:srgbClr val="500778"/>
                </a:solidFill>
                <a:latin typeface="Calibri" pitchFamily="34" charset="0"/>
                <a:ea typeface="Calibri" pitchFamily="34" charset="-122"/>
                <a:cs typeface="Calibri" pitchFamily="34" charset="-120"/>
              </a:rPr>
              <a:t>OUTPUT  →  next-step Δx, Δy, Δheading</a:t>
            </a:r>
            <a:endParaRPr lang="en-US" sz="1100" dirty="0"/>
          </a:p>
        </p:txBody>
      </p:sp>
      <p:sp>
        <p:nvSpPr>
          <p:cNvPr id="33" name="Shape 31"/>
          <p:cNvSpPr/>
          <p:nvPr/>
        </p:nvSpPr>
        <p:spPr>
          <a:xfrm>
            <a:off x="6575908" y="4251960"/>
            <a:ext cx="4884268" cy="14173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34" name="Text 32"/>
          <p:cNvSpPr/>
          <p:nvPr/>
        </p:nvSpPr>
        <p:spPr>
          <a:xfrm>
            <a:off x="6713068" y="4343400"/>
            <a:ext cx="4609948" cy="228600"/>
          </a:xfrm>
          <a:prstGeom prst="rect">
            <a:avLst/>
          </a:prstGeom>
          <a:noFill/>
          <a:ln/>
        </p:spPr>
        <p:txBody>
          <a:bodyPr wrap="square" lIns="0" tIns="0" rIns="0" bIns="0" rtlCol="0" anchor="ctr"/>
          <a:lstStyle/>
          <a:p>
            <a:pPr indent="0" marL="0">
              <a:buNone/>
            </a:pPr>
            <a:r>
              <a:rPr lang="en-US" sz="900" b="1" dirty="0">
                <a:solidFill>
                  <a:srgbClr val="6B6B6B"/>
                </a:solidFill>
                <a:latin typeface="Calibri" pitchFamily="34" charset="0"/>
                <a:ea typeface="Calibri" pitchFamily="34" charset="-122"/>
                <a:cs typeface="Calibri" pitchFamily="34" charset="-120"/>
              </a:rPr>
              <a:t>ROLLOUT — REPEAT 80 TIMES</a:t>
            </a:r>
            <a:endParaRPr lang="en-US" sz="900" dirty="0"/>
          </a:p>
        </p:txBody>
      </p:sp>
      <p:sp>
        <p:nvSpPr>
          <p:cNvPr id="35" name="Text 33"/>
          <p:cNvSpPr/>
          <p:nvPr/>
        </p:nvSpPr>
        <p:spPr>
          <a:xfrm>
            <a:off x="6713068" y="4572000"/>
            <a:ext cx="4609948" cy="1005840"/>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observe simulated scene
</a:t>
            </a:r>
            <a:endParaRPr lang="en-US" sz="1000" dirty="0"/>
          </a:p>
          <a:p>
            <a:pPr indent="0" marL="0">
              <a:buNone/>
            </a:pPr>
            <a:r>
              <a:rPr lang="en-US" sz="1000" dirty="0">
                <a:solidFill>
                  <a:srgbClr val="500778"/>
                </a:solidFill>
                <a:latin typeface="Consolas" pitchFamily="34" charset="0"/>
                <a:ea typeface="Consolas" pitchFamily="34" charset="-122"/>
                <a:cs typeface="Consolas" pitchFamily="34" charset="-120"/>
              </a:rPr>
              <a:t>predict ADV next state         </a:t>
            </a:r>
            <a:pPr indent="0" marL="0">
              <a:buNone/>
            </a:pPr>
            <a:r>
              <a:rPr lang="en-US" sz="1000" i="1" dirty="0">
                <a:solidFill>
                  <a:srgbClr val="6B6B6B"/>
                </a:solidFill>
                <a:latin typeface="Consolas" pitchFamily="34" charset="0"/>
                <a:ea typeface="Consolas" pitchFamily="34" charset="-122"/>
                <a:cs typeface="Consolas" pitchFamily="34" charset="-120"/>
              </a:rPr>
              <a:t>(independent of world per
</a:t>
            </a:r>
            <a:endParaRPr lang="en-US" sz="1000" dirty="0"/>
          </a:p>
          <a:p>
            <a:pPr indent="0" marL="0">
              <a:buNone/>
            </a:pPr>
            <a:r>
              <a:rPr lang="en-US" sz="1000" dirty="0">
                <a:solidFill>
                  <a:srgbClr val="500778"/>
                </a:solidFill>
                <a:latin typeface="Consolas" pitchFamily="34" charset="0"/>
                <a:ea typeface="Consolas" pitchFamily="34" charset="-122"/>
                <a:cs typeface="Consolas" pitchFamily="34" charset="-120"/>
              </a:rPr>
              <a:t>predict world next state          </a:t>
            </a:r>
            <a:pPr indent="0" marL="0">
              <a:buNone/>
            </a:pPr>
            <a:r>
              <a:rPr lang="en-US" sz="1000" i="1" dirty="0">
                <a:solidFill>
                  <a:srgbClr val="6B6B6B"/>
                </a:solidFill>
                <a:latin typeface="Consolas" pitchFamily="34" charset="0"/>
                <a:ea typeface="Consolas" pitchFamily="34" charset="-122"/>
                <a:cs typeface="Consolas" pitchFamily="34" charset="-120"/>
              </a:rPr>
              <a:t>WOSAC factorisation rule)
</a:t>
            </a:r>
            <a:endParaRPr lang="en-US" sz="1000" dirty="0"/>
          </a:p>
          <a:p>
            <a:pPr indent="0" marL="0">
              <a:buNone/>
            </a:pPr>
            <a:r>
              <a:rPr lang="en-US" sz="1000" dirty="0">
                <a:solidFill>
                  <a:srgbClr val="1A1A1A"/>
                </a:solidFill>
                <a:latin typeface="Consolas" pitchFamily="34" charset="0"/>
                <a:ea typeface="Consolas" pitchFamily="34" charset="-122"/>
                <a:cs typeface="Consolas" pitchFamily="34" charset="-120"/>
              </a:rPr>
              <a:t>update scene</a:t>
            </a:r>
            <a:endParaRPr lang="en-US" sz="1000" dirty="0"/>
          </a:p>
        </p:txBody>
      </p:sp>
      <p:sp>
        <p:nvSpPr>
          <p:cNvPr id="36" name="Text 34"/>
          <p:cNvSpPr/>
          <p:nvPr/>
        </p:nvSpPr>
        <p:spPr>
          <a:xfrm>
            <a:off x="548640" y="5989320"/>
            <a:ext cx="1097280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By end of Phase 1: working pipeline · 3 baselines scored · 1 learned model trained · failure modes characterised.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Phase 2: from single-agent prediction to joint multi-agent simulation</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280160"/>
            <a:ext cx="11094415" cy="868680"/>
          </a:xfrm>
          <a:prstGeom prst="rect">
            <a:avLst/>
          </a:prstGeom>
          <a:solidFill>
            <a:srgbClr val="500778"/>
          </a:solidFill>
          <a:ln/>
          <a:effectLst>
            <a:outerShdw sx="100000" sy="100000" kx="0" ky="0" algn="bl" rotWithShape="0" blurRad="101600" dist="25400" dir="5400000">
              <a:srgbClr val="000000">
                <a:alpha val="10000"/>
              </a:srgbClr>
            </a:outerShdw>
          </a:effectLst>
        </p:spPr>
      </p:sp>
      <p:sp>
        <p:nvSpPr>
          <p:cNvPr id="7" name="Text 5"/>
          <p:cNvSpPr/>
          <p:nvPr/>
        </p:nvSpPr>
        <p:spPr>
          <a:xfrm>
            <a:off x="777240" y="1371600"/>
            <a:ext cx="10637215"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hard part is not predicting one car — it is making all agents jointly plausible.</a:t>
            </a:r>
            <a:endParaRPr lang="en-US" sz="1600" dirty="0"/>
          </a:p>
        </p:txBody>
      </p:sp>
      <p:sp>
        <p:nvSpPr>
          <p:cNvPr id="8" name="Shape 6"/>
          <p:cNvSpPr/>
          <p:nvPr/>
        </p:nvSpPr>
        <p:spPr>
          <a:xfrm>
            <a:off x="548640" y="2331720"/>
            <a:ext cx="1711909" cy="9601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9" name="Text 7"/>
          <p:cNvSpPr/>
          <p:nvPr/>
        </p:nvSpPr>
        <p:spPr>
          <a:xfrm>
            <a:off x="640080" y="2423160"/>
            <a:ext cx="1529029" cy="77724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Agent–agent</a:t>
            </a:r>
            <a:endParaRPr lang="en-US" sz="1100" dirty="0"/>
          </a:p>
          <a:p>
            <a:pPr algn="ctr" indent="0" marL="0">
              <a:buNone/>
            </a:pPr>
            <a:r>
              <a:rPr lang="en-US" sz="1100" b="1" dirty="0">
                <a:solidFill>
                  <a:srgbClr val="500778"/>
                </a:solidFill>
                <a:latin typeface="Calibri" pitchFamily="34" charset="0"/>
                <a:ea typeface="Calibri" pitchFamily="34" charset="-122"/>
                <a:cs typeface="Calibri" pitchFamily="34" charset="-120"/>
              </a:rPr>
              <a:t>interaction</a:t>
            </a:r>
            <a:endParaRPr lang="en-US" sz="1100" dirty="0"/>
          </a:p>
        </p:txBody>
      </p:sp>
      <p:sp>
        <p:nvSpPr>
          <p:cNvPr id="10" name="Shape 8"/>
          <p:cNvSpPr/>
          <p:nvPr/>
        </p:nvSpPr>
        <p:spPr>
          <a:xfrm>
            <a:off x="2425141" y="2331720"/>
            <a:ext cx="1711909" cy="9601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1" name="Text 9"/>
          <p:cNvSpPr/>
          <p:nvPr/>
        </p:nvSpPr>
        <p:spPr>
          <a:xfrm>
            <a:off x="2516581" y="2423160"/>
            <a:ext cx="1529029" cy="77724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Vehicle ↔ pedestrian</a:t>
            </a:r>
            <a:endParaRPr lang="en-US" sz="1100" dirty="0"/>
          </a:p>
          <a:p>
            <a:pPr algn="ctr" indent="0" marL="0">
              <a:buNone/>
            </a:pPr>
            <a:r>
              <a:rPr lang="en-US" sz="1100" b="1" dirty="0">
                <a:solidFill>
                  <a:srgbClr val="500778"/>
                </a:solidFill>
                <a:latin typeface="Calibri" pitchFamily="34" charset="0"/>
                <a:ea typeface="Calibri" pitchFamily="34" charset="-122"/>
                <a:cs typeface="Calibri" pitchFamily="34" charset="-120"/>
              </a:rPr>
              <a:t>yielding</a:t>
            </a:r>
            <a:endParaRPr lang="en-US" sz="1100" dirty="0"/>
          </a:p>
        </p:txBody>
      </p:sp>
      <p:sp>
        <p:nvSpPr>
          <p:cNvPr id="12" name="Shape 10"/>
          <p:cNvSpPr/>
          <p:nvPr/>
        </p:nvSpPr>
        <p:spPr>
          <a:xfrm>
            <a:off x="4301642" y="2331720"/>
            <a:ext cx="1711909" cy="9601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3" name="Text 11"/>
          <p:cNvSpPr/>
          <p:nvPr/>
        </p:nvSpPr>
        <p:spPr>
          <a:xfrm>
            <a:off x="4393082" y="2423160"/>
            <a:ext cx="1529029" cy="77724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Car following</a:t>
            </a:r>
            <a:endParaRPr lang="en-US" sz="1100" dirty="0"/>
          </a:p>
        </p:txBody>
      </p:sp>
      <p:sp>
        <p:nvSpPr>
          <p:cNvPr id="14" name="Shape 12"/>
          <p:cNvSpPr/>
          <p:nvPr/>
        </p:nvSpPr>
        <p:spPr>
          <a:xfrm>
            <a:off x="6178144" y="2331720"/>
            <a:ext cx="1711909" cy="9601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5" name="Text 13"/>
          <p:cNvSpPr/>
          <p:nvPr/>
        </p:nvSpPr>
        <p:spPr>
          <a:xfrm>
            <a:off x="6269584" y="2423160"/>
            <a:ext cx="1529029" cy="77724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Lane keeping</a:t>
            </a:r>
            <a:endParaRPr lang="en-US" sz="1100" dirty="0"/>
          </a:p>
        </p:txBody>
      </p:sp>
      <p:sp>
        <p:nvSpPr>
          <p:cNvPr id="16" name="Shape 14"/>
          <p:cNvSpPr/>
          <p:nvPr/>
        </p:nvSpPr>
        <p:spPr>
          <a:xfrm>
            <a:off x="8054645" y="2331720"/>
            <a:ext cx="1711909" cy="9601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7" name="Text 15"/>
          <p:cNvSpPr/>
          <p:nvPr/>
        </p:nvSpPr>
        <p:spPr>
          <a:xfrm>
            <a:off x="8146085" y="2423160"/>
            <a:ext cx="1529029" cy="77724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Traffic-light</a:t>
            </a:r>
            <a:endParaRPr lang="en-US" sz="1100" dirty="0"/>
          </a:p>
          <a:p>
            <a:pPr algn="ctr" indent="0" marL="0">
              <a:buNone/>
            </a:pPr>
            <a:r>
              <a:rPr lang="en-US" sz="1100" b="1" dirty="0">
                <a:solidFill>
                  <a:srgbClr val="500778"/>
                </a:solidFill>
                <a:latin typeface="Calibri" pitchFamily="34" charset="0"/>
                <a:ea typeface="Calibri" pitchFamily="34" charset="-122"/>
                <a:cs typeface="Calibri" pitchFamily="34" charset="-120"/>
              </a:rPr>
              <a:t>compliance</a:t>
            </a:r>
            <a:endParaRPr lang="en-US" sz="1100" dirty="0"/>
          </a:p>
        </p:txBody>
      </p:sp>
      <p:sp>
        <p:nvSpPr>
          <p:cNvPr id="18" name="Shape 16"/>
          <p:cNvSpPr/>
          <p:nvPr/>
        </p:nvSpPr>
        <p:spPr>
          <a:xfrm>
            <a:off x="9931146" y="2331720"/>
            <a:ext cx="1711909" cy="9601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9" name="Text 17"/>
          <p:cNvSpPr/>
          <p:nvPr/>
        </p:nvSpPr>
        <p:spPr>
          <a:xfrm>
            <a:off x="10022586" y="2423160"/>
            <a:ext cx="1529029" cy="777240"/>
          </a:xfrm>
          <a:prstGeom prst="rect">
            <a:avLst/>
          </a:prstGeom>
          <a:noFill/>
          <a:ln/>
        </p:spPr>
        <p:txBody>
          <a:bodyPr wrap="square" lIns="0" tIns="0" rIns="0" bIns="0" rtlCol="0" anchor="ctr"/>
          <a:lstStyle/>
          <a:p>
            <a:pPr algn="ctr" indent="0" marL="0">
              <a:buNone/>
            </a:pPr>
            <a:r>
              <a:rPr lang="en-US" sz="1100" b="1" dirty="0">
                <a:solidFill>
                  <a:srgbClr val="500778"/>
                </a:solidFill>
                <a:latin typeface="Calibri" pitchFamily="34" charset="0"/>
                <a:ea typeface="Calibri" pitchFamily="34" charset="-122"/>
                <a:cs typeface="Calibri" pitchFamily="34" charset="-120"/>
              </a:rPr>
              <a:t>Multimodal</a:t>
            </a:r>
            <a:endParaRPr lang="en-US" sz="1100" dirty="0"/>
          </a:p>
          <a:p>
            <a:pPr algn="ctr" indent="0" marL="0">
              <a:buNone/>
            </a:pPr>
            <a:r>
              <a:rPr lang="en-US" sz="1100" b="1" dirty="0">
                <a:solidFill>
                  <a:srgbClr val="500778"/>
                </a:solidFill>
                <a:latin typeface="Calibri" pitchFamily="34" charset="0"/>
                <a:ea typeface="Calibri" pitchFamily="34" charset="-122"/>
                <a:cs typeface="Calibri" pitchFamily="34" charset="-120"/>
              </a:rPr>
              <a:t>futures</a:t>
            </a:r>
            <a:endParaRPr lang="en-US" sz="1100" dirty="0"/>
          </a:p>
        </p:txBody>
      </p:sp>
      <p:sp>
        <p:nvSpPr>
          <p:cNvPr id="20" name="Shape 18"/>
          <p:cNvSpPr/>
          <p:nvPr/>
        </p:nvSpPr>
        <p:spPr>
          <a:xfrm>
            <a:off x="548640" y="3657600"/>
            <a:ext cx="1911645" cy="128016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21" name="Shape 19"/>
          <p:cNvSpPr/>
          <p:nvPr/>
        </p:nvSpPr>
        <p:spPr>
          <a:xfrm>
            <a:off x="548640" y="3657600"/>
            <a:ext cx="1911645" cy="91440"/>
          </a:xfrm>
          <a:prstGeom prst="rect">
            <a:avLst/>
          </a:prstGeom>
          <a:solidFill>
            <a:srgbClr val="500778"/>
          </a:solidFill>
          <a:ln/>
        </p:spPr>
      </p:sp>
      <p:sp>
        <p:nvSpPr>
          <p:cNvPr id="22" name="Text 20"/>
          <p:cNvSpPr/>
          <p:nvPr/>
        </p:nvSpPr>
        <p:spPr>
          <a:xfrm>
            <a:off x="640080" y="3840480"/>
            <a:ext cx="1728765" cy="1005840"/>
          </a:xfrm>
          <a:prstGeom prst="rect">
            <a:avLst/>
          </a:prstGeom>
          <a:noFill/>
          <a:ln/>
        </p:spPr>
        <p:txBody>
          <a:bodyPr wrap="square" lIns="0" tIns="0" rIns="0" bIns="0" rtlCol="0" anchor="ctr"/>
          <a:lstStyle/>
          <a:p>
            <a:pPr algn="ctr" indent="0" marL="0">
              <a:buNone/>
            </a:pPr>
            <a:r>
              <a:rPr lang="en-US" sz="1200" b="1" dirty="0">
                <a:solidFill>
                  <a:srgbClr val="500778"/>
                </a:solidFill>
                <a:latin typeface="Calibri" pitchFamily="34" charset="0"/>
                <a:ea typeface="Calibri" pitchFamily="34" charset="-122"/>
                <a:cs typeface="Calibri" pitchFamily="34" charset="-120"/>
              </a:rPr>
              <a:t>Vectorized</a:t>
            </a:r>
            <a:endParaRPr lang="en-US" sz="1200" dirty="0"/>
          </a:p>
          <a:p>
            <a:pPr algn="ctr" indent="0" marL="0">
              <a:buNone/>
            </a:pPr>
            <a:r>
              <a:rPr lang="en-US" sz="1200" b="1" dirty="0">
                <a:solidFill>
                  <a:srgbClr val="500778"/>
                </a:solidFill>
                <a:latin typeface="Calibri" pitchFamily="34" charset="0"/>
                <a:ea typeface="Calibri" pitchFamily="34" charset="-122"/>
                <a:cs typeface="Calibri" pitchFamily="34" charset="-120"/>
              </a:rPr>
              <a:t>map encoder</a:t>
            </a:r>
            <a:endParaRPr lang="en-US" sz="1200" dirty="0"/>
          </a:p>
        </p:txBody>
      </p:sp>
      <p:sp>
        <p:nvSpPr>
          <p:cNvPr id="23" name="Shape 21"/>
          <p:cNvSpPr/>
          <p:nvPr/>
        </p:nvSpPr>
        <p:spPr>
          <a:xfrm>
            <a:off x="2478573" y="4297680"/>
            <a:ext cx="237744" cy="0"/>
          </a:xfrm>
          <a:prstGeom prst="line">
            <a:avLst/>
          </a:prstGeom>
          <a:noFill/>
          <a:ln w="25400">
            <a:solidFill>
              <a:srgbClr val="500778"/>
            </a:solidFill>
            <a:prstDash val="solid"/>
            <a:tailEnd type="triangle"/>
          </a:ln>
        </p:spPr>
      </p:sp>
      <p:sp>
        <p:nvSpPr>
          <p:cNvPr id="24" name="Shape 22"/>
          <p:cNvSpPr/>
          <p:nvPr/>
        </p:nvSpPr>
        <p:spPr>
          <a:xfrm>
            <a:off x="2734605" y="3657600"/>
            <a:ext cx="1911645" cy="128016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25" name="Shape 23"/>
          <p:cNvSpPr/>
          <p:nvPr/>
        </p:nvSpPr>
        <p:spPr>
          <a:xfrm>
            <a:off x="2734605" y="3657600"/>
            <a:ext cx="1911645" cy="91440"/>
          </a:xfrm>
          <a:prstGeom prst="rect">
            <a:avLst/>
          </a:prstGeom>
          <a:solidFill>
            <a:srgbClr val="500778"/>
          </a:solidFill>
          <a:ln/>
        </p:spPr>
      </p:sp>
      <p:sp>
        <p:nvSpPr>
          <p:cNvPr id="26" name="Text 24"/>
          <p:cNvSpPr/>
          <p:nvPr/>
        </p:nvSpPr>
        <p:spPr>
          <a:xfrm>
            <a:off x="2826045" y="3840480"/>
            <a:ext cx="1728765" cy="1005840"/>
          </a:xfrm>
          <a:prstGeom prst="rect">
            <a:avLst/>
          </a:prstGeom>
          <a:noFill/>
          <a:ln/>
        </p:spPr>
        <p:txBody>
          <a:bodyPr wrap="square" lIns="0" tIns="0" rIns="0" bIns="0" rtlCol="0" anchor="ctr"/>
          <a:lstStyle/>
          <a:p>
            <a:pPr algn="ctr" indent="0" marL="0">
              <a:buNone/>
            </a:pPr>
            <a:r>
              <a:rPr lang="en-US" sz="1200" b="1" dirty="0">
                <a:solidFill>
                  <a:srgbClr val="500778"/>
                </a:solidFill>
                <a:latin typeface="Calibri" pitchFamily="34" charset="0"/>
                <a:ea typeface="Calibri" pitchFamily="34" charset="-122"/>
                <a:cs typeface="Calibri" pitchFamily="34" charset="-120"/>
              </a:rPr>
              <a:t>Agent history</a:t>
            </a:r>
            <a:endParaRPr lang="en-US" sz="1200" dirty="0"/>
          </a:p>
          <a:p>
            <a:pPr algn="ctr" indent="0" marL="0">
              <a:buNone/>
            </a:pPr>
            <a:r>
              <a:rPr lang="en-US" sz="1200" b="1" dirty="0">
                <a:solidFill>
                  <a:srgbClr val="500778"/>
                </a:solidFill>
                <a:latin typeface="Calibri" pitchFamily="34" charset="0"/>
                <a:ea typeface="Calibri" pitchFamily="34" charset="-122"/>
                <a:cs typeface="Calibri" pitchFamily="34" charset="-120"/>
              </a:rPr>
              <a:t>encoder</a:t>
            </a:r>
            <a:endParaRPr lang="en-US" sz="1200" dirty="0"/>
          </a:p>
        </p:txBody>
      </p:sp>
      <p:sp>
        <p:nvSpPr>
          <p:cNvPr id="27" name="Shape 25"/>
          <p:cNvSpPr/>
          <p:nvPr/>
        </p:nvSpPr>
        <p:spPr>
          <a:xfrm>
            <a:off x="4664537" y="4297680"/>
            <a:ext cx="237744" cy="0"/>
          </a:xfrm>
          <a:prstGeom prst="line">
            <a:avLst/>
          </a:prstGeom>
          <a:noFill/>
          <a:ln w="25400">
            <a:solidFill>
              <a:srgbClr val="500778"/>
            </a:solidFill>
            <a:prstDash val="solid"/>
            <a:tailEnd type="triangle"/>
          </a:ln>
        </p:spPr>
      </p:sp>
      <p:sp>
        <p:nvSpPr>
          <p:cNvPr id="28" name="Shape 26"/>
          <p:cNvSpPr/>
          <p:nvPr/>
        </p:nvSpPr>
        <p:spPr>
          <a:xfrm>
            <a:off x="4920569" y="3657600"/>
            <a:ext cx="1911645" cy="1280160"/>
          </a:xfrm>
          <a:prstGeom prst="rect">
            <a:avLst/>
          </a:prstGeom>
          <a:solidFill>
            <a:srgbClr val="500778"/>
          </a:solidFill>
          <a:ln/>
          <a:effectLst>
            <a:outerShdw sx="100000" sy="100000" kx="0" ky="0" algn="bl" rotWithShape="0" blurRad="101600" dist="25400" dir="5400000">
              <a:srgbClr val="000000">
                <a:alpha val="10000"/>
              </a:srgbClr>
            </a:outerShdw>
          </a:effectLst>
        </p:spPr>
      </p:sp>
      <p:sp>
        <p:nvSpPr>
          <p:cNvPr id="29" name="Text 27"/>
          <p:cNvSpPr/>
          <p:nvPr/>
        </p:nvSpPr>
        <p:spPr>
          <a:xfrm>
            <a:off x="5012009" y="3840480"/>
            <a:ext cx="1728765"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Agent–agent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attention / GNN</a:t>
            </a:r>
            <a:endParaRPr lang="en-US" sz="1200" dirty="0"/>
          </a:p>
        </p:txBody>
      </p:sp>
      <p:sp>
        <p:nvSpPr>
          <p:cNvPr id="30" name="Shape 28"/>
          <p:cNvSpPr/>
          <p:nvPr/>
        </p:nvSpPr>
        <p:spPr>
          <a:xfrm>
            <a:off x="6850502" y="4297680"/>
            <a:ext cx="237744" cy="0"/>
          </a:xfrm>
          <a:prstGeom prst="line">
            <a:avLst/>
          </a:prstGeom>
          <a:noFill/>
          <a:ln w="25400">
            <a:solidFill>
              <a:srgbClr val="500778"/>
            </a:solidFill>
            <a:prstDash val="solid"/>
            <a:tailEnd type="triangle"/>
          </a:ln>
        </p:spPr>
      </p:sp>
      <p:sp>
        <p:nvSpPr>
          <p:cNvPr id="31" name="Shape 29"/>
          <p:cNvSpPr/>
          <p:nvPr/>
        </p:nvSpPr>
        <p:spPr>
          <a:xfrm>
            <a:off x="7106534" y="3657600"/>
            <a:ext cx="1911645" cy="128016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2" name="Shape 30"/>
          <p:cNvSpPr/>
          <p:nvPr/>
        </p:nvSpPr>
        <p:spPr>
          <a:xfrm>
            <a:off x="7106534" y="3657600"/>
            <a:ext cx="1911645" cy="91440"/>
          </a:xfrm>
          <a:prstGeom prst="rect">
            <a:avLst/>
          </a:prstGeom>
          <a:solidFill>
            <a:srgbClr val="500778"/>
          </a:solidFill>
          <a:ln/>
        </p:spPr>
      </p:sp>
      <p:sp>
        <p:nvSpPr>
          <p:cNvPr id="33" name="Text 31"/>
          <p:cNvSpPr/>
          <p:nvPr/>
        </p:nvSpPr>
        <p:spPr>
          <a:xfrm>
            <a:off x="7197974" y="3840480"/>
            <a:ext cx="1728765" cy="1005840"/>
          </a:xfrm>
          <a:prstGeom prst="rect">
            <a:avLst/>
          </a:prstGeom>
          <a:noFill/>
          <a:ln/>
        </p:spPr>
        <p:txBody>
          <a:bodyPr wrap="square" lIns="0" tIns="0" rIns="0" bIns="0" rtlCol="0" anchor="ctr"/>
          <a:lstStyle/>
          <a:p>
            <a:pPr algn="ctr" indent="0" marL="0">
              <a:buNone/>
            </a:pPr>
            <a:r>
              <a:rPr lang="en-US" sz="1200" b="1" dirty="0">
                <a:solidFill>
                  <a:srgbClr val="500778"/>
                </a:solidFill>
                <a:latin typeface="Calibri" pitchFamily="34" charset="0"/>
                <a:ea typeface="Calibri" pitchFamily="34" charset="-122"/>
                <a:cs typeface="Calibri" pitchFamily="34" charset="-120"/>
              </a:rPr>
              <a:t>Stochastic</a:t>
            </a:r>
            <a:endParaRPr lang="en-US" sz="1200" dirty="0"/>
          </a:p>
          <a:p>
            <a:pPr algn="ctr" indent="0" marL="0">
              <a:buNone/>
            </a:pPr>
            <a:r>
              <a:rPr lang="en-US" sz="1200" b="1" dirty="0">
                <a:solidFill>
                  <a:srgbClr val="500778"/>
                </a:solidFill>
                <a:latin typeface="Calibri" pitchFamily="34" charset="0"/>
                <a:ea typeface="Calibri" pitchFamily="34" charset="-122"/>
                <a:cs typeface="Calibri" pitchFamily="34" charset="-120"/>
              </a:rPr>
              <a:t>decoder</a:t>
            </a:r>
            <a:endParaRPr lang="en-US" sz="1200" dirty="0"/>
          </a:p>
        </p:txBody>
      </p:sp>
      <p:sp>
        <p:nvSpPr>
          <p:cNvPr id="34" name="Shape 32"/>
          <p:cNvSpPr/>
          <p:nvPr/>
        </p:nvSpPr>
        <p:spPr>
          <a:xfrm>
            <a:off x="9036467" y="4297680"/>
            <a:ext cx="237744" cy="0"/>
          </a:xfrm>
          <a:prstGeom prst="line">
            <a:avLst/>
          </a:prstGeom>
          <a:noFill/>
          <a:ln w="25400">
            <a:solidFill>
              <a:srgbClr val="500778"/>
            </a:solidFill>
            <a:prstDash val="solid"/>
            <a:tailEnd type="triangle"/>
          </a:ln>
        </p:spPr>
      </p:sp>
      <p:sp>
        <p:nvSpPr>
          <p:cNvPr id="35" name="Shape 33"/>
          <p:cNvSpPr/>
          <p:nvPr/>
        </p:nvSpPr>
        <p:spPr>
          <a:xfrm>
            <a:off x="9292499" y="3657600"/>
            <a:ext cx="1911645" cy="128016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36" name="Shape 34"/>
          <p:cNvSpPr/>
          <p:nvPr/>
        </p:nvSpPr>
        <p:spPr>
          <a:xfrm>
            <a:off x="9292499" y="3657600"/>
            <a:ext cx="1911645" cy="91440"/>
          </a:xfrm>
          <a:prstGeom prst="rect">
            <a:avLst/>
          </a:prstGeom>
          <a:solidFill>
            <a:srgbClr val="500778"/>
          </a:solidFill>
          <a:ln/>
        </p:spPr>
      </p:sp>
      <p:sp>
        <p:nvSpPr>
          <p:cNvPr id="37" name="Text 35"/>
          <p:cNvSpPr/>
          <p:nvPr/>
        </p:nvSpPr>
        <p:spPr>
          <a:xfrm>
            <a:off x="9383939" y="3840480"/>
            <a:ext cx="1728765" cy="1005840"/>
          </a:xfrm>
          <a:prstGeom prst="rect">
            <a:avLst/>
          </a:prstGeom>
          <a:noFill/>
          <a:ln/>
        </p:spPr>
        <p:txBody>
          <a:bodyPr wrap="square" lIns="0" tIns="0" rIns="0" bIns="0" rtlCol="0" anchor="ctr"/>
          <a:lstStyle/>
          <a:p>
            <a:pPr algn="ctr" indent="0" marL="0">
              <a:buNone/>
            </a:pPr>
            <a:r>
              <a:rPr lang="en-US" sz="1200" b="1" dirty="0">
                <a:solidFill>
                  <a:srgbClr val="500778"/>
                </a:solidFill>
                <a:latin typeface="Calibri" pitchFamily="34" charset="0"/>
                <a:ea typeface="Calibri" pitchFamily="34" charset="-122"/>
                <a:cs typeface="Calibri" pitchFamily="34" charset="-120"/>
              </a:rPr>
              <a:t>Constraint-aware</a:t>
            </a:r>
            <a:endParaRPr lang="en-US" sz="1200" dirty="0"/>
          </a:p>
          <a:p>
            <a:pPr algn="ctr" indent="0" marL="0">
              <a:buNone/>
            </a:pPr>
            <a:r>
              <a:rPr lang="en-US" sz="1200" b="1" dirty="0">
                <a:solidFill>
                  <a:srgbClr val="500778"/>
                </a:solidFill>
                <a:latin typeface="Calibri" pitchFamily="34" charset="0"/>
                <a:ea typeface="Calibri" pitchFamily="34" charset="-122"/>
                <a:cs typeface="Calibri" pitchFamily="34" charset="-120"/>
              </a:rPr>
              <a:t>post-processing</a:t>
            </a:r>
            <a:endParaRPr lang="en-US" sz="1200" dirty="0"/>
          </a:p>
        </p:txBody>
      </p:sp>
      <p:sp>
        <p:nvSpPr>
          <p:cNvPr id="38" name="Text 36"/>
          <p:cNvSpPr/>
          <p:nvPr/>
        </p:nvSpPr>
        <p:spPr>
          <a:xfrm>
            <a:off x="548640" y="5029200"/>
            <a:ext cx="11094415" cy="32004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autoregressive loop  ·  repeat × 80 steps</a:t>
            </a:r>
            <a:endParaRPr lang="en-US" sz="1100" dirty="0"/>
          </a:p>
        </p:txBody>
      </p:sp>
      <p:sp>
        <p:nvSpPr>
          <p:cNvPr id="39" name="Shape 37"/>
          <p:cNvSpPr/>
          <p:nvPr/>
        </p:nvSpPr>
        <p:spPr>
          <a:xfrm>
            <a:off x="548640" y="5440680"/>
            <a:ext cx="11094415" cy="64008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40" name="Text 38"/>
          <p:cNvSpPr/>
          <p:nvPr/>
        </p:nvSpPr>
        <p:spPr>
          <a:xfrm>
            <a:off x="777240" y="5440680"/>
            <a:ext cx="10637215" cy="640080"/>
          </a:xfrm>
          <a:prstGeom prst="rect">
            <a:avLst/>
          </a:prstGeom>
          <a:noFill/>
          <a:ln/>
        </p:spPr>
        <p:txBody>
          <a:bodyPr wrap="square" lIns="0" tIns="0" rIns="0" bIns="0" rtlCol="0" anchor="ctr"/>
          <a:lstStyle/>
          <a:p>
            <a:pPr algn="ctr" indent="0" marL="0">
              <a:buNone/>
            </a:pPr>
            <a:r>
              <a:rPr lang="en-US" sz="1200" i="1" dirty="0">
                <a:solidFill>
                  <a:srgbClr val="1A1A1A"/>
                </a:solidFill>
                <a:latin typeface="Calibri" pitchFamily="34" charset="0"/>
                <a:ea typeface="Calibri" pitchFamily="34" charset="-122"/>
                <a:cs typeface="Calibri" pitchFamily="34" charset="-120"/>
              </a:rPr>
              <a:t>Independent per-agent prediction often produces collisions — the agent–agent module exists to fix this.</a:t>
            </a:r>
            <a:endParaRPr lang="en-US" sz="1200" dirty="0"/>
          </a:p>
        </p:txBody>
      </p:sp>
      <p:sp>
        <p:nvSpPr>
          <p:cNvPr id="41" name="Text 39"/>
          <p:cNvSpPr/>
          <p:nvPr/>
        </p:nvSpPr>
        <p:spPr>
          <a:xfrm>
            <a:off x="548640" y="6172200"/>
            <a:ext cx="10972800" cy="27432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Success = a clear improvement on one capability with interpretable gains, not a top leaderboard score.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Phase 3: evaluate the design, not only the score</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371600"/>
            <a:ext cx="3484778" cy="41148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7" name="Shape 5"/>
          <p:cNvSpPr/>
          <p:nvPr/>
        </p:nvSpPr>
        <p:spPr>
          <a:xfrm>
            <a:off x="548640" y="1371600"/>
            <a:ext cx="3484778" cy="548640"/>
          </a:xfrm>
          <a:prstGeom prst="rect">
            <a:avLst/>
          </a:prstGeom>
          <a:solidFill>
            <a:srgbClr val="500778"/>
          </a:solidFill>
          <a:ln/>
        </p:spPr>
      </p:sp>
      <p:sp>
        <p:nvSpPr>
          <p:cNvPr id="8" name="Text 6"/>
          <p:cNvSpPr/>
          <p:nvPr/>
        </p:nvSpPr>
        <p:spPr>
          <a:xfrm>
            <a:off x="777240" y="1371600"/>
            <a:ext cx="3027578" cy="5486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Baselines to compare</a:t>
            </a:r>
            <a:endParaRPr lang="en-US" sz="1400" dirty="0"/>
          </a:p>
        </p:txBody>
      </p:sp>
      <p:sp>
        <p:nvSpPr>
          <p:cNvPr id="9" name="Text 7"/>
          <p:cNvSpPr/>
          <p:nvPr/>
        </p:nvSpPr>
        <p:spPr>
          <a:xfrm>
            <a:off x="822960" y="2148840"/>
            <a:ext cx="2936138" cy="32004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Constant-velocity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Simple rule-based</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Initial learned baseline</a:t>
            </a:r>
            <a:endParaRPr lang="en-US" sz="1300" dirty="0"/>
          </a:p>
        </p:txBody>
      </p:sp>
      <p:sp>
        <p:nvSpPr>
          <p:cNvPr id="10" name="Shape 8"/>
          <p:cNvSpPr/>
          <p:nvPr/>
        </p:nvSpPr>
        <p:spPr>
          <a:xfrm>
            <a:off x="4353458" y="1371600"/>
            <a:ext cx="3484778" cy="41148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1" name="Shape 9"/>
          <p:cNvSpPr/>
          <p:nvPr/>
        </p:nvSpPr>
        <p:spPr>
          <a:xfrm>
            <a:off x="4353458" y="1371600"/>
            <a:ext cx="3484778" cy="548640"/>
          </a:xfrm>
          <a:prstGeom prst="rect">
            <a:avLst/>
          </a:prstGeom>
          <a:solidFill>
            <a:srgbClr val="500778"/>
          </a:solidFill>
          <a:ln/>
        </p:spPr>
      </p:sp>
      <p:sp>
        <p:nvSpPr>
          <p:cNvPr id="12" name="Text 10"/>
          <p:cNvSpPr/>
          <p:nvPr/>
        </p:nvSpPr>
        <p:spPr>
          <a:xfrm>
            <a:off x="4582058" y="1371600"/>
            <a:ext cx="3027578" cy="5486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Dimensions to analyse</a:t>
            </a:r>
            <a:endParaRPr lang="en-US" sz="1400" dirty="0"/>
          </a:p>
        </p:txBody>
      </p:sp>
      <p:sp>
        <p:nvSpPr>
          <p:cNvPr id="13" name="Text 11"/>
          <p:cNvSpPr/>
          <p:nvPr/>
        </p:nvSpPr>
        <p:spPr>
          <a:xfrm>
            <a:off x="4627778" y="2148840"/>
            <a:ext cx="2936138" cy="32004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Motion realism</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Interaction realism</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Map adherence</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Closed-loop stability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Diversity across 32 rollouts</a:t>
            </a:r>
            <a:endParaRPr lang="en-US" sz="1300" dirty="0"/>
          </a:p>
        </p:txBody>
      </p:sp>
      <p:sp>
        <p:nvSpPr>
          <p:cNvPr id="14" name="Shape 12"/>
          <p:cNvSpPr/>
          <p:nvPr/>
        </p:nvSpPr>
        <p:spPr>
          <a:xfrm>
            <a:off x="8158277" y="1371600"/>
            <a:ext cx="3484778" cy="41148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5" name="Shape 13"/>
          <p:cNvSpPr/>
          <p:nvPr/>
        </p:nvSpPr>
        <p:spPr>
          <a:xfrm>
            <a:off x="8158277" y="1371600"/>
            <a:ext cx="3484778" cy="548640"/>
          </a:xfrm>
          <a:prstGeom prst="rect">
            <a:avLst/>
          </a:prstGeom>
          <a:solidFill>
            <a:srgbClr val="500778"/>
          </a:solidFill>
          <a:ln/>
        </p:spPr>
      </p:sp>
      <p:sp>
        <p:nvSpPr>
          <p:cNvPr id="16" name="Text 14"/>
          <p:cNvSpPr/>
          <p:nvPr/>
        </p:nvSpPr>
        <p:spPr>
          <a:xfrm>
            <a:off x="8386877" y="1371600"/>
            <a:ext cx="3027578" cy="5486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Key research question</a:t>
            </a:r>
            <a:endParaRPr lang="en-US" sz="1400" dirty="0"/>
          </a:p>
        </p:txBody>
      </p:sp>
      <p:sp>
        <p:nvSpPr>
          <p:cNvPr id="17" name="Text 15"/>
          <p:cNvSpPr/>
          <p:nvPr/>
        </p:nvSpPr>
        <p:spPr>
          <a:xfrm>
            <a:off x="8432597" y="2148840"/>
            <a:ext cx="2936138" cy="32004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Which failure mode does the design reduce most clearly?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Does the gain hold across scenario types?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Where does it still fail?</a:t>
            </a:r>
            <a:endParaRPr lang="en-US" sz="1300" dirty="0"/>
          </a:p>
        </p:txBody>
      </p:sp>
      <p:sp>
        <p:nvSpPr>
          <p:cNvPr id="18" name="Shape 16"/>
          <p:cNvSpPr/>
          <p:nvPr/>
        </p:nvSpPr>
        <p:spPr>
          <a:xfrm>
            <a:off x="548640" y="5486400"/>
            <a:ext cx="11094415" cy="731520"/>
          </a:xfrm>
          <a:prstGeom prst="rect">
            <a:avLst/>
          </a:prstGeom>
          <a:solidFill>
            <a:srgbClr val="F2EEF7"/>
          </a:solidFill>
          <a:ln/>
          <a:effectLst>
            <a:outerShdw sx="100000" sy="100000" kx="0" ky="0" algn="bl" rotWithShape="0" blurRad="101600" dist="25400" dir="5400000">
              <a:srgbClr val="000000">
                <a:alpha val="10000"/>
              </a:srgbClr>
            </a:outerShdw>
          </a:effectLst>
        </p:spPr>
      </p:sp>
      <p:sp>
        <p:nvSpPr>
          <p:cNvPr id="19" name="Text 17"/>
          <p:cNvSpPr/>
          <p:nvPr/>
        </p:nvSpPr>
        <p:spPr>
          <a:xfrm>
            <a:off x="777240" y="5532120"/>
            <a:ext cx="10637215" cy="640080"/>
          </a:xfrm>
          <a:prstGeom prst="rect">
            <a:avLst/>
          </a:prstGeom>
          <a:noFill/>
          <a:ln/>
        </p:spPr>
        <p:txBody>
          <a:bodyPr wrap="square" lIns="0" tIns="0" rIns="0" bIns="0" rtlCol="0" anchor="ctr"/>
          <a:lstStyle/>
          <a:p>
            <a:pPr algn="ctr" indent="0" marL="0">
              <a:buNone/>
            </a:pPr>
            <a:r>
              <a:rPr lang="en-US" sz="1400" b="1" i="1" dirty="0">
                <a:solidFill>
                  <a:srgbClr val="500778"/>
                </a:solidFill>
                <a:latin typeface="Calibri" pitchFamily="34" charset="0"/>
                <a:ea typeface="Calibri" pitchFamily="34" charset="-122"/>
                <a:cs typeface="Calibri" pitchFamily="34" charset="-120"/>
              </a:rPr>
              <a:t>The final result should explain why the model works, where it improves, and where it still fails.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Discussion questions</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325880"/>
            <a:ext cx="11094415" cy="713232"/>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7" name="Shape 5"/>
          <p:cNvSpPr/>
          <p:nvPr/>
        </p:nvSpPr>
        <p:spPr>
          <a:xfrm>
            <a:off x="548640" y="1325880"/>
            <a:ext cx="109728" cy="713232"/>
          </a:xfrm>
          <a:prstGeom prst="rect">
            <a:avLst/>
          </a:prstGeom>
          <a:solidFill>
            <a:srgbClr val="500778"/>
          </a:solidFill>
          <a:ln/>
        </p:spPr>
      </p:sp>
      <p:sp>
        <p:nvSpPr>
          <p:cNvPr id="8" name="Text 6"/>
          <p:cNvSpPr/>
          <p:nvPr/>
        </p:nvSpPr>
        <p:spPr>
          <a:xfrm>
            <a:off x="777240" y="1325880"/>
            <a:ext cx="502920" cy="713232"/>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Q1</a:t>
            </a:r>
            <a:endParaRPr lang="en-US" sz="1300" dirty="0"/>
          </a:p>
        </p:txBody>
      </p:sp>
      <p:sp>
        <p:nvSpPr>
          <p:cNvPr id="9" name="Text 7"/>
          <p:cNvSpPr/>
          <p:nvPr/>
        </p:nvSpPr>
        <p:spPr>
          <a:xfrm>
            <a:off x="1280160" y="1325880"/>
            <a:ext cx="10317175" cy="7132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Is this a suitable benchmark for building autonomous-driving research foundations?</a:t>
            </a:r>
            <a:endParaRPr lang="en-US" sz="1300" dirty="0"/>
          </a:p>
        </p:txBody>
      </p:sp>
      <p:sp>
        <p:nvSpPr>
          <p:cNvPr id="10" name="Shape 8"/>
          <p:cNvSpPr/>
          <p:nvPr/>
        </p:nvSpPr>
        <p:spPr>
          <a:xfrm>
            <a:off x="548640" y="2148840"/>
            <a:ext cx="11094415" cy="713232"/>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1" name="Shape 9"/>
          <p:cNvSpPr/>
          <p:nvPr/>
        </p:nvSpPr>
        <p:spPr>
          <a:xfrm>
            <a:off x="548640" y="2148840"/>
            <a:ext cx="109728" cy="713232"/>
          </a:xfrm>
          <a:prstGeom prst="rect">
            <a:avLst/>
          </a:prstGeom>
          <a:solidFill>
            <a:srgbClr val="500778"/>
          </a:solidFill>
          <a:ln/>
        </p:spPr>
      </p:sp>
      <p:sp>
        <p:nvSpPr>
          <p:cNvPr id="12" name="Text 10"/>
          <p:cNvSpPr/>
          <p:nvPr/>
        </p:nvSpPr>
        <p:spPr>
          <a:xfrm>
            <a:off x="777240" y="2148840"/>
            <a:ext cx="502920" cy="713232"/>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Q2</a:t>
            </a:r>
            <a:endParaRPr lang="en-US" sz="1300" dirty="0"/>
          </a:p>
        </p:txBody>
      </p:sp>
      <p:sp>
        <p:nvSpPr>
          <p:cNvPr id="13" name="Text 11"/>
          <p:cNvSpPr/>
          <p:nvPr/>
        </p:nvSpPr>
        <p:spPr>
          <a:xfrm>
            <a:off x="1280160" y="2148840"/>
            <a:ext cx="10317175" cy="7132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Which research focus is most valuable: closed-loop stability, interaction realism, map adherence, or multimodal generation?</a:t>
            </a:r>
            <a:endParaRPr lang="en-US" sz="1300" dirty="0"/>
          </a:p>
        </p:txBody>
      </p:sp>
      <p:sp>
        <p:nvSpPr>
          <p:cNvPr id="14" name="Shape 12"/>
          <p:cNvSpPr/>
          <p:nvPr/>
        </p:nvSpPr>
        <p:spPr>
          <a:xfrm>
            <a:off x="548640" y="2971800"/>
            <a:ext cx="11094415" cy="713232"/>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5" name="Shape 13"/>
          <p:cNvSpPr/>
          <p:nvPr/>
        </p:nvSpPr>
        <p:spPr>
          <a:xfrm>
            <a:off x="548640" y="2971800"/>
            <a:ext cx="109728" cy="713232"/>
          </a:xfrm>
          <a:prstGeom prst="rect">
            <a:avLst/>
          </a:prstGeom>
          <a:solidFill>
            <a:srgbClr val="500778"/>
          </a:solidFill>
          <a:ln/>
        </p:spPr>
      </p:sp>
      <p:sp>
        <p:nvSpPr>
          <p:cNvPr id="16" name="Text 14"/>
          <p:cNvSpPr/>
          <p:nvPr/>
        </p:nvSpPr>
        <p:spPr>
          <a:xfrm>
            <a:off x="777240" y="2971800"/>
            <a:ext cx="502920" cy="713232"/>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Q3</a:t>
            </a:r>
            <a:endParaRPr lang="en-US" sz="1300" dirty="0"/>
          </a:p>
        </p:txBody>
      </p:sp>
      <p:sp>
        <p:nvSpPr>
          <p:cNvPr id="17" name="Text 15"/>
          <p:cNvSpPr/>
          <p:nvPr/>
        </p:nvSpPr>
        <p:spPr>
          <a:xfrm>
            <a:off x="1280160" y="2971800"/>
            <a:ext cx="10317175" cy="7132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Should I start with rule-based diagnosis or a small learned baseline?</a:t>
            </a:r>
            <a:endParaRPr lang="en-US" sz="1300" dirty="0"/>
          </a:p>
        </p:txBody>
      </p:sp>
      <p:sp>
        <p:nvSpPr>
          <p:cNvPr id="18" name="Shape 16"/>
          <p:cNvSpPr/>
          <p:nvPr/>
        </p:nvSpPr>
        <p:spPr>
          <a:xfrm>
            <a:off x="548640" y="3794760"/>
            <a:ext cx="11094415" cy="713232"/>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9" name="Shape 17"/>
          <p:cNvSpPr/>
          <p:nvPr/>
        </p:nvSpPr>
        <p:spPr>
          <a:xfrm>
            <a:off x="548640" y="3794760"/>
            <a:ext cx="109728" cy="713232"/>
          </a:xfrm>
          <a:prstGeom prst="rect">
            <a:avLst/>
          </a:prstGeom>
          <a:solidFill>
            <a:srgbClr val="500778"/>
          </a:solidFill>
          <a:ln/>
        </p:spPr>
      </p:sp>
      <p:sp>
        <p:nvSpPr>
          <p:cNvPr id="20" name="Text 18"/>
          <p:cNvSpPr/>
          <p:nvPr/>
        </p:nvSpPr>
        <p:spPr>
          <a:xfrm>
            <a:off x="777240" y="3794760"/>
            <a:ext cx="502920" cy="713232"/>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Q4</a:t>
            </a:r>
            <a:endParaRPr lang="en-US" sz="1300" dirty="0"/>
          </a:p>
        </p:txBody>
      </p:sp>
      <p:sp>
        <p:nvSpPr>
          <p:cNvPr id="21" name="Text 19"/>
          <p:cNvSpPr/>
          <p:nvPr/>
        </p:nvSpPr>
        <p:spPr>
          <a:xfrm>
            <a:off x="1280160" y="3794760"/>
            <a:ext cx="10317175" cy="7132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What would a convincing 4–6 week milestone look like?</a:t>
            </a:r>
            <a:endParaRPr lang="en-US" sz="1300" dirty="0"/>
          </a:p>
        </p:txBody>
      </p:sp>
      <p:sp>
        <p:nvSpPr>
          <p:cNvPr id="22" name="Shape 20"/>
          <p:cNvSpPr/>
          <p:nvPr/>
        </p:nvSpPr>
        <p:spPr>
          <a:xfrm>
            <a:off x="548640" y="4617720"/>
            <a:ext cx="11094415" cy="713232"/>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23" name="Shape 21"/>
          <p:cNvSpPr/>
          <p:nvPr/>
        </p:nvSpPr>
        <p:spPr>
          <a:xfrm>
            <a:off x="548640" y="4617720"/>
            <a:ext cx="109728" cy="713232"/>
          </a:xfrm>
          <a:prstGeom prst="rect">
            <a:avLst/>
          </a:prstGeom>
          <a:solidFill>
            <a:srgbClr val="500778"/>
          </a:solidFill>
          <a:ln/>
        </p:spPr>
      </p:sp>
      <p:sp>
        <p:nvSpPr>
          <p:cNvPr id="24" name="Text 22"/>
          <p:cNvSpPr/>
          <p:nvPr/>
        </p:nvSpPr>
        <p:spPr>
          <a:xfrm>
            <a:off x="777240" y="4617720"/>
            <a:ext cx="502920" cy="713232"/>
          </a:xfrm>
          <a:prstGeom prst="rect">
            <a:avLst/>
          </a:prstGeom>
          <a:noFill/>
          <a:ln/>
        </p:spPr>
        <p:txBody>
          <a:bodyPr wrap="square" lIns="0" tIns="0" rIns="0" bIns="0" rtlCol="0" anchor="ctr"/>
          <a:lstStyle/>
          <a:p>
            <a:pPr indent="0" marL="0">
              <a:buNone/>
            </a:pPr>
            <a:r>
              <a:rPr lang="en-US" sz="1300" b="1" dirty="0">
                <a:solidFill>
                  <a:srgbClr val="500778"/>
                </a:solidFill>
                <a:latin typeface="Calibri" pitchFamily="34" charset="0"/>
                <a:ea typeface="Calibri" pitchFamily="34" charset="-122"/>
                <a:cs typeface="Calibri" pitchFamily="34" charset="-120"/>
              </a:rPr>
              <a:t>Q5</a:t>
            </a:r>
            <a:endParaRPr lang="en-US" sz="1300" dirty="0"/>
          </a:p>
        </p:txBody>
      </p:sp>
      <p:sp>
        <p:nvSpPr>
          <p:cNvPr id="25" name="Text 23"/>
          <p:cNvSpPr/>
          <p:nvPr/>
        </p:nvSpPr>
        <p:spPr>
          <a:xfrm>
            <a:off x="1280160" y="4617720"/>
            <a:ext cx="10317175" cy="7132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What kind of final output would be most useful — pipeline, model, failure-mode analysis, technical report?</a:t>
            </a:r>
            <a:endParaRPr lang="en-US" sz="1300" dirty="0"/>
          </a:p>
        </p:txBody>
      </p:sp>
      <p:sp>
        <p:nvSpPr>
          <p:cNvPr id="26" name="Text 24"/>
          <p:cNvSpPr/>
          <p:nvPr/>
        </p:nvSpPr>
        <p:spPr>
          <a:xfrm>
            <a:off x="548640" y="5897880"/>
            <a:ext cx="1097280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Goal of this meeting — align on scope, focus, and the first milestone.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sp>
      <p:sp>
        <p:nvSpPr>
          <p:cNvPr id="3" name="Text 1"/>
          <p:cNvSpPr/>
          <p:nvPr/>
        </p:nvSpPr>
        <p:spPr>
          <a:xfrm>
            <a:off x="548640" y="411480"/>
            <a:ext cx="11094415" cy="685800"/>
          </a:xfrm>
          <a:prstGeom prst="rect">
            <a:avLst/>
          </a:prstGeom>
          <a:noFill/>
          <a:ln/>
        </p:spPr>
        <p:txBody>
          <a:bodyPr wrap="square" lIns="0" tIns="0" rIns="0" bIns="0" rtlCol="0" anchor="ctr"/>
          <a:lstStyle/>
          <a:p>
            <a:pPr algn="l" indent="0" marL="0">
              <a:buNone/>
            </a:pPr>
            <a:r>
              <a:rPr lang="en-US" sz="3000" b="1" dirty="0">
                <a:solidFill>
                  <a:srgbClr val="500778"/>
                </a:solidFill>
                <a:latin typeface="Calibri" pitchFamily="34" charset="0"/>
                <a:ea typeface="Calibri" pitchFamily="34" charset="-122"/>
                <a:cs typeface="Calibri" pitchFamily="34" charset="-120"/>
              </a:rPr>
              <a:t>References</a:t>
            </a:r>
            <a:endParaRPr lang="en-US" sz="3000" dirty="0"/>
          </a:p>
        </p:txBody>
      </p:sp>
      <p:sp>
        <p:nvSpPr>
          <p:cNvPr id="4" name="Text 2"/>
          <p:cNvSpPr/>
          <p:nvPr/>
        </p:nvSpPr>
        <p:spPr>
          <a:xfrm>
            <a:off x="548640" y="6492240"/>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WOSAC · Research Plan</a:t>
            </a:r>
            <a:endParaRPr lang="en-US" sz="9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algn="r" indent="0" marL="0">
              <a:buNone/>
            </a:pPr>
            <a:r>
              <a:rPr lang="en-US" sz="1000" b="1" dirty="0">
                <a:solidFill>
                  <a:srgbClr val="500778"/>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444752"/>
            <a:ext cx="320040" cy="320040"/>
          </a:xfrm>
          <a:prstGeom prst="ellipse">
            <a:avLst/>
          </a:prstGeom>
          <a:solidFill>
            <a:srgbClr val="500778"/>
          </a:solidFill>
          <a:ln/>
        </p:spPr>
      </p:sp>
      <p:sp>
        <p:nvSpPr>
          <p:cNvPr id="7" name="Text 5"/>
          <p:cNvSpPr/>
          <p:nvPr/>
        </p:nvSpPr>
        <p:spPr>
          <a:xfrm>
            <a:off x="548640" y="144475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05840" y="1371600"/>
            <a:ext cx="10637215"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Montali et al. — The Waymo Open Sim Agents Challenge.</a:t>
            </a:r>
            <a:endParaRPr lang="en-US" sz="1300" dirty="0"/>
          </a:p>
        </p:txBody>
      </p:sp>
      <p:sp>
        <p:nvSpPr>
          <p:cNvPr id="9" name="Shape 7"/>
          <p:cNvSpPr/>
          <p:nvPr/>
        </p:nvSpPr>
        <p:spPr>
          <a:xfrm>
            <a:off x="548640" y="1947672"/>
            <a:ext cx="320040" cy="320040"/>
          </a:xfrm>
          <a:prstGeom prst="ellipse">
            <a:avLst/>
          </a:prstGeom>
          <a:solidFill>
            <a:srgbClr val="500778"/>
          </a:solidFill>
          <a:ln/>
        </p:spPr>
      </p:sp>
      <p:sp>
        <p:nvSpPr>
          <p:cNvPr id="10" name="Text 8"/>
          <p:cNvSpPr/>
          <p:nvPr/>
        </p:nvSpPr>
        <p:spPr>
          <a:xfrm>
            <a:off x="548640" y="194767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005840" y="1874520"/>
            <a:ext cx="10637215"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Gulino et al. — Waymax: An Accelerated, Data-Driven Simulator for Large-Scale Autonomous Driving Research.</a:t>
            </a:r>
            <a:endParaRPr lang="en-US" sz="1300" dirty="0"/>
          </a:p>
        </p:txBody>
      </p:sp>
      <p:sp>
        <p:nvSpPr>
          <p:cNvPr id="12" name="Shape 10"/>
          <p:cNvSpPr/>
          <p:nvPr/>
        </p:nvSpPr>
        <p:spPr>
          <a:xfrm>
            <a:off x="548640" y="2450592"/>
            <a:ext cx="320040" cy="320040"/>
          </a:xfrm>
          <a:prstGeom prst="ellipse">
            <a:avLst/>
          </a:prstGeom>
          <a:solidFill>
            <a:srgbClr val="500778"/>
          </a:solidFill>
          <a:ln/>
        </p:spPr>
      </p:sp>
      <p:sp>
        <p:nvSpPr>
          <p:cNvPr id="13" name="Text 11"/>
          <p:cNvSpPr/>
          <p:nvPr/>
        </p:nvSpPr>
        <p:spPr>
          <a:xfrm>
            <a:off x="548640" y="245059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1005840" y="2377440"/>
            <a:ext cx="10637215"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Waymo Open Dataset 2025 Sim Agents Challenge — waymo.com/open/challenges/2025/sim-agents/</a:t>
            </a:r>
            <a:endParaRPr lang="en-US" sz="1300" dirty="0"/>
          </a:p>
        </p:txBody>
      </p:sp>
      <p:sp>
        <p:nvSpPr>
          <p:cNvPr id="15" name="Shape 13"/>
          <p:cNvSpPr/>
          <p:nvPr/>
        </p:nvSpPr>
        <p:spPr>
          <a:xfrm>
            <a:off x="548640" y="2953512"/>
            <a:ext cx="320040" cy="320040"/>
          </a:xfrm>
          <a:prstGeom prst="ellipse">
            <a:avLst/>
          </a:prstGeom>
          <a:solidFill>
            <a:srgbClr val="500778"/>
          </a:solidFill>
          <a:ln/>
        </p:spPr>
      </p:sp>
      <p:sp>
        <p:nvSpPr>
          <p:cNvPr id="16" name="Text 14"/>
          <p:cNvSpPr/>
          <p:nvPr/>
        </p:nvSpPr>
        <p:spPr>
          <a:xfrm>
            <a:off x="548640" y="295351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1005840" y="2880360"/>
            <a:ext cx="10637215"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Waymax WOSAC submission tutorial (official GitHub).</a:t>
            </a:r>
            <a:endParaRPr lang="en-US" sz="1300" dirty="0"/>
          </a:p>
        </p:txBody>
      </p:sp>
      <p:sp>
        <p:nvSpPr>
          <p:cNvPr id="18" name="Shape 16"/>
          <p:cNvSpPr/>
          <p:nvPr/>
        </p:nvSpPr>
        <p:spPr>
          <a:xfrm>
            <a:off x="548640" y="3456432"/>
            <a:ext cx="320040" cy="320040"/>
          </a:xfrm>
          <a:prstGeom prst="ellipse">
            <a:avLst/>
          </a:prstGeom>
          <a:solidFill>
            <a:srgbClr val="500778"/>
          </a:solidFill>
          <a:ln/>
        </p:spPr>
      </p:sp>
      <p:sp>
        <p:nvSpPr>
          <p:cNvPr id="19" name="Text 17"/>
          <p:cNvSpPr/>
          <p:nvPr/>
        </p:nvSpPr>
        <p:spPr>
          <a:xfrm>
            <a:off x="548640" y="345643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1005840" y="3383280"/>
            <a:ext cx="10637215"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Waymo Open Dataset Sim Agents tutorial.</a:t>
            </a:r>
            <a:endParaRPr lang="en-US" sz="1300" dirty="0"/>
          </a:p>
        </p:txBody>
      </p:sp>
      <p:sp>
        <p:nvSpPr>
          <p:cNvPr id="21" name="Shape 19"/>
          <p:cNvSpPr/>
          <p:nvPr/>
        </p:nvSpPr>
        <p:spPr>
          <a:xfrm>
            <a:off x="548640" y="3959352"/>
            <a:ext cx="320040" cy="320040"/>
          </a:xfrm>
          <a:prstGeom prst="ellipse">
            <a:avLst/>
          </a:prstGeom>
          <a:solidFill>
            <a:srgbClr val="500778"/>
          </a:solidFill>
          <a:ln/>
        </p:spPr>
      </p:sp>
      <p:sp>
        <p:nvSpPr>
          <p:cNvPr id="22" name="Text 20"/>
          <p:cNvSpPr/>
          <p:nvPr/>
        </p:nvSpPr>
        <p:spPr>
          <a:xfrm>
            <a:off x="548640" y="395935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p:nvPr/>
        </p:nvSpPr>
        <p:spPr>
          <a:xfrm>
            <a:off x="1005840" y="3886200"/>
            <a:ext cx="10637215"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Recent WOSAC 2024–2025 technical reports.</a:t>
            </a:r>
            <a:endParaRPr lang="en-US" sz="1300" dirty="0"/>
          </a:p>
        </p:txBody>
      </p:sp>
      <p:sp>
        <p:nvSpPr>
          <p:cNvPr id="24" name="Text 22"/>
          <p:cNvSpPr/>
          <p:nvPr/>
        </p:nvSpPr>
        <p:spPr>
          <a:xfrm>
            <a:off x="548640" y="4754880"/>
            <a:ext cx="1097280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These are the materials I will read and reproduce; their content is folded into the earlier slides.</a:t>
            </a:r>
            <a:endParaRPr lang="en-US" sz="1200" dirty="0"/>
          </a:p>
        </p:txBody>
      </p:sp>
      <p:pic>
        <p:nvPicPr>
          <p:cNvPr id="25" name="Image 0" descr="/home/uceems7/SimAgents/slides/assets/processed/waymo-logo-purple.png">    </p:cNvPr>
          <p:cNvPicPr>
            <a:picLocks noChangeAspect="1"/>
          </p:cNvPicPr>
          <p:nvPr/>
        </p:nvPicPr>
        <p:blipFill>
          <a:blip r:embed="rId1"/>
          <a:srcRect l="0" r="0" t="0" b="0"/>
          <a:stretch/>
        </p:blipFill>
        <p:spPr>
          <a:xfrm>
            <a:off x="9722815" y="5760720"/>
            <a:ext cx="1737360"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UCL · The Bartlett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Waymo Open Sim Agents Challenge — Research Plan</dc:title>
  <dc:subject>PptxGenJS Presentation</dc:subject>
  <dc:creator>WOSAC Research Plan</dc:creator>
  <cp:lastModifiedBy>WOSAC Research Plan</cp:lastModifiedBy>
  <cp:revision>1</cp:revision>
  <dcterms:created xsi:type="dcterms:W3CDTF">2026-04-28T05:59:02Z</dcterms:created>
  <dcterms:modified xsi:type="dcterms:W3CDTF">2026-04-28T05:59:02Z</dcterms:modified>
</cp:coreProperties>
</file>